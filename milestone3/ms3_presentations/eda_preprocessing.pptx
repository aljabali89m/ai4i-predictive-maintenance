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embeddedFontLst>
    <p:embeddedFont>
      <p:font typeface="Inter" panose="02000503000000020004" pitchFamily="34" charset="0"/>
      <p:regular r:id="rId23"/>
      <p:bold r:id="rId24"/>
      <p:italic r:id="rId25"/>
      <p:boldItalic r:id="rId26"/>
    </p:embeddedFont>
    <p:embeddedFont>
      <p:font typeface="JetBrains Mono" panose="02000009000000000000" pitchFamily="49"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font" Target="fonts/font3.fntdata"/><Relationship Id="rId26" Type="http://schemas.openxmlformats.org/officeDocument/2006/relationships/font" Target="fonts/font4.fntdata"/><Relationship Id="rId27" Type="http://schemas.openxmlformats.org/officeDocument/2006/relationships/font" Target="fonts/font5.fntdata"/><Relationship Id="rId28"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 1 is the exploratory analysis, Part 2 the preprocessing pipeline, Part 3 the final verified datasets. Every step is shown with what we did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defense point: one file only, to avoid duplicated rows leaking across the train/test split. Shape (12500, 14), 0 nulls, 0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mean alone can mislead. Comparing mean, median and skew shows symmetric vs skewed distributions, and the variance gap justifies standardization.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must know where 22.71% comes from so we do not misinterpret it. Conditional probabilities turn chart patterns into thresholds the plant can act on. They are computed on the adjusted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chart without a takeaway is not an insight, so each chart carries its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Bins use include_lowest=True and edges up to 275 so wear 0 and 251-253 are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document states r = 0.88 for air vs process temperature but on our file it is about 0.63. Never say torque causes failure: say high torque is associated with higher failure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insight is specific, quantified and actionable, not just a chart without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Feature Engineering, Feature Selection, Encoding, Train/Test Split, Scaling (fit on train only), Final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Features added without an explanation are a risky decision. Each of these three has a stated physical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Crosstab: UDI at most 10,000 gives 9,661 normal and 339 failures; UDI above 10,000 gives 0 normal and 2,500 failures. Product ID counts: H35323 115, L50791 94, M17925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Scaled columns: air temp, process temp, speed, torque, tool wear, Temp_Diff, Mechanical_Power_W, Strain_Index. The scaler is saved as scaler_milestone3.joblib.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Skipping a final readiness check is a common mistake. Issues caught here are far cheaper than issues caught in Module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Columns: 14 before, 10 after (9 features plus target). Train and test files include the target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this is a documented limitation, not a hidden flaw. A team that can defend every decision under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on feature engineering and the leak-free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80808"/>
        </a:solidFill>
      </p:bgPr>
    </p:bg>
    <p:spTree>
      <p:nvGrpSpPr>
        <p:cNvPr id="1" name=""/>
        <p:cNvGrpSpPr/>
        <p:nvPr/>
      </p:nvGrpSpPr>
      <p:grpSpPr>
        <a:xfrm>
          <a:off x="0" y="0"/>
          <a:ext cx="0" cy="0"/>
          <a:chOff x="0" y="0"/>
          <a:chExt cx="0" cy="0"/>
        </a:xfrm>
      </p:grpSpPr>
      <p:sp>
        <p:nvSpPr>
          <p:cNvPr id="2" name="Title Placeholder 1"/>
          <p:cNvSpPr/>
          <p:nvPr>
            <p:ph type="title"/>
          </p:nvPr>
        </p:nvSpPr>
        <p:spPr>
          <a:xfrm>
            <a:off x="2457400" y="734020"/>
            <a:ext cx="7277199" cy="365125"/>
          </a:xfrm>
          <a:prstGeom prst="rect">
            <a:avLst/>
          </a:prstGeom>
          <a:noFill/>
          <a:ln/>
        </p:spPr>
        <p:txBody>
          <a:bodyPr wrap="square" lIns="0" tIns="0" rIns="0" bIns="0" rtlCol="0" anchor="t"/>
          <a:lstStyle>
            <a:lvl1pPr algn="l" indent="0" marL="0">
              <a:lnSpc>
                <a:spcPct val="115000"/>
              </a:lnSpc>
              <a:buNone/>
              <a:defRPr lang="en-US" sz="2500" dirty="0">
                <a:solidFill>
                  <a:srgbClr val="F5F5F5"/>
                </a:solidFill>
                <a:latin typeface="Inter" pitchFamily="34" charset="0"/>
                <a:ea typeface="Inter" pitchFamily="34" charset="-122"/>
                <a:cs typeface="Inter" pitchFamily="34" charset="-120"/>
              </a:defRPr>
            </a:lvl1pPr>
          </a:lstStyle>
          <a:p>
            <a:pPr algn="l" indent="0" marL="0">
              <a:lnSpc>
                <a:spcPct val="115000"/>
              </a:lnSpc>
              <a:buNone/>
            </a:pPr>
            <a:endParaRPr lang="en-US" sz="2500" dirty="0"/>
          </a:p>
        </p:txBody>
      </p:sp>
      <p:sp>
        <p:nvSpPr>
          <p:cNvPr id="3" name="Text Placeholder 2"/>
          <p:cNvSpPr/>
          <p:nvPr>
            <p:ph idx="101" type="body"/>
          </p:nvPr>
        </p:nvSpPr>
        <p:spPr>
          <a:xfrm>
            <a:off x="2457400" y="1403945"/>
            <a:ext cx="8921800" cy="4641255"/>
          </a:xfrm>
          <a:prstGeom prst="rect">
            <a:avLst/>
          </a:prstGeom>
          <a:noFill/>
          <a:ln/>
        </p:spPr>
        <p:txBody>
          <a:bodyPr wrap="square" lIns="0" tIns="0" rIns="0" bIns="0" rtlCol="0" anchor="t"/>
          <a:lstStyle>
            <a:lvl1pPr algn="l" indent="0" marL="0">
              <a:lnSpc>
                <a:spcPct val="140000"/>
              </a:lnSpc>
              <a:buNone/>
              <a:defRPr lang="en-US" sz="1600" dirty="0">
                <a:solidFill>
                  <a:srgbClr val="F5F5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80808"/>
        </a:solidFill>
      </p:bgPr>
    </p:bg>
    <p:spTree>
      <p:nvGrpSpPr>
        <p:cNvPr id="1" name=""/>
        <p:cNvGrpSpPr/>
        <p:nvPr/>
      </p:nvGrpSpPr>
      <p:grpSpPr>
        <a:xfrm>
          <a:off x="0" y="0"/>
          <a:ext cx="0" cy="0"/>
          <a:chOff x="0" y="0"/>
          <a:chExt cx="0" cy="0"/>
        </a:xfrm>
      </p:grpSpPr>
      <p:sp>
        <p:nvSpPr>
          <p:cNvPr id="2" name="Title Placeholder 1"/>
          <p:cNvSpPr/>
          <p:nvPr>
            <p:ph type="title"/>
          </p:nvPr>
        </p:nvSpPr>
        <p:spPr>
          <a:xfrm>
            <a:off x="2457400" y="734020"/>
            <a:ext cx="7277199" cy="365125"/>
          </a:xfrm>
          <a:prstGeom prst="rect">
            <a:avLst/>
          </a:prstGeom>
          <a:noFill/>
          <a:ln/>
        </p:spPr>
        <p:txBody>
          <a:bodyPr wrap="square" lIns="0" tIns="0" rIns="0" bIns="0" rtlCol="0" anchor="t"/>
          <a:lstStyle>
            <a:lvl1pPr algn="l" indent="0" marL="0">
              <a:lnSpc>
                <a:spcPct val="115000"/>
              </a:lnSpc>
              <a:buNone/>
              <a:defRPr lang="en-US" sz="2500" dirty="0">
                <a:solidFill>
                  <a:srgbClr val="F5F5F5"/>
                </a:solidFill>
                <a:latin typeface="Inter" pitchFamily="34" charset="0"/>
                <a:ea typeface="Inter" pitchFamily="34" charset="-122"/>
                <a:cs typeface="Inter" pitchFamily="34" charset="-120"/>
              </a:defRPr>
            </a:lvl1pPr>
          </a:lstStyle>
          <a:p>
            <a:pPr algn="l" indent="0" marL="0">
              <a:lnSpc>
                <a:spcPct val="115000"/>
              </a:lnSpc>
              <a:buNone/>
            </a:pPr>
            <a:endParaRPr lang="en-US" sz="2500" dirty="0"/>
          </a:p>
        </p:txBody>
      </p:sp>
      <p:sp>
        <p:nvSpPr>
          <p:cNvPr id="3" name="Text Placeholder 2"/>
          <p:cNvSpPr/>
          <p:nvPr>
            <p:ph idx="101" type="body"/>
          </p:nvPr>
        </p:nvSpPr>
        <p:spPr>
          <a:xfrm>
            <a:off x="2457400" y="1403945"/>
            <a:ext cx="8921800" cy="4641255"/>
          </a:xfrm>
          <a:prstGeom prst="rect">
            <a:avLst/>
          </a:prstGeom>
          <a:noFill/>
          <a:ln/>
        </p:spPr>
        <p:txBody>
          <a:bodyPr wrap="square" lIns="0" tIns="0" rIns="0" bIns="0" rtlCol="0" anchor="t"/>
          <a:lstStyle>
            <a:lvl1pPr algn="l" indent="0" marL="0">
              <a:lnSpc>
                <a:spcPct val="140000"/>
              </a:lnSpc>
              <a:buNone/>
              <a:defRPr lang="en-US" sz="1600" dirty="0">
                <a:solidFill>
                  <a:srgbClr val="F5F5F5"/>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p:bgPr>
    </p:bg>
    <p:spTree>
      <p:nvGrpSpPr>
        <p:cNvPr id="1" name=""/>
        <p:cNvGrpSpPr/>
        <p:nvPr/>
      </p:nvGrpSpPr>
      <p:grpSpPr>
        <a:xfrm>
          <a:off x="0" y="0"/>
          <a:ext cx="0" cy="0"/>
          <a:chOff x="0" y="0"/>
          <a:chExt cx="0" cy="0"/>
        </a:xfrm>
      </p:grpSpPr>
      <p:pic>
        <p:nvPicPr>
          <p:cNvPr id="2" name="Image 0" descr="Industrial factory floor with machinery and a digital grid overlay">    </p:cNvPr>
          <p:cNvPicPr>
            <a:picLocks noChangeAspect="1"/>
          </p:cNvPicPr>
          <p:nvPr/>
        </p:nvPicPr>
        <p:blipFill>
          <a:blip r:embed="rId1">
            <a:alphaModFix amt="90000"/>
          </a:blip>
          <a:srcRect l="0" r="0" t="0" b="0"/>
          <a:stretch/>
        </p:blipFill>
        <p:spPr>
          <a:xfrm>
            <a:off x="7067550" y="0"/>
            <a:ext cx="5124450" cy="6858000"/>
          </a:xfrm>
          <a:prstGeom prst="rect">
            <a:avLst/>
          </a:prstGeom>
        </p:spPr>
      </p:pic>
      <p:pic>
        <p:nvPicPr>
          <p:cNvPr id="3" name="Image 1" descr="ellipse">    </p:cNvPr>
          <p:cNvPicPr>
            <a:picLocks noChangeAspect="1"/>
          </p:cNvPicPr>
          <p:nvPr/>
        </p:nvPicPr>
        <p:blipFill>
          <a:blip r:embed="rId2"/>
          <a:srcRect l="0" r="0" t="0" b="0"/>
          <a:stretch/>
        </p:blipFill>
        <p:spPr>
          <a:xfrm>
            <a:off x="406400" y="406400"/>
            <a:ext cx="88900" cy="88900"/>
          </a:xfrm>
          <a:prstGeom prst="rect">
            <a:avLst/>
          </a:prstGeom>
        </p:spPr>
      </p:pic>
      <p:sp>
        <p:nvSpPr>
          <p:cNvPr id="4" name="Text 0"/>
          <p:cNvSpPr/>
          <p:nvPr/>
        </p:nvSpPr>
        <p:spPr>
          <a:xfrm>
            <a:off x="711200" y="609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UNIVERSITY ML PROJECT • MILESTONE 3</a:t>
            </a:r>
            <a:endParaRPr lang="en-US" sz="1200" dirty="0"/>
          </a:p>
        </p:txBody>
      </p:sp>
      <p:sp>
        <p:nvSpPr>
          <p:cNvPr id="5" name="Text 1"/>
          <p:cNvSpPr/>
          <p:nvPr>
            <p:ph type="title"/>
          </p:nvPr>
        </p:nvSpPr>
        <p:spPr>
          <a:xfrm>
            <a:off x="711200" y="1827709"/>
            <a:ext cx="6278880" cy="108704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5F5F5"/>
                </a:solidFill>
                <a:latin typeface="Inter" pitchFamily="34" charset="0"/>
                <a:ea typeface="Inter" pitchFamily="34" charset="-122"/>
                <a:cs typeface="Inter" pitchFamily="34" charset="-120"/>
              </a:rPr>
              <a:t>AI4I Predictive</a:t>
            </a:r>
            <a:endParaRPr lang="en-US" sz="3800" dirty="0"/>
          </a:p>
          <a:p>
            <a:pPr algn="l" indent="0" marL="0">
              <a:lnSpc>
                <a:spcPts val="4180"/>
              </a:lnSpc>
              <a:buNone/>
            </a:pPr>
            <a:r>
              <a:rPr lang="en-US" sz="3800" b="1" i="0" dirty="0">
                <a:solidFill>
                  <a:srgbClr val="00E5CC"/>
                </a:solidFill>
                <a:latin typeface="Inter" pitchFamily="34" charset="0"/>
                <a:ea typeface="Inter" pitchFamily="34" charset="-122"/>
                <a:cs typeface="Inter" pitchFamily="34" charset="-120"/>
              </a:rPr>
              <a:t>Maintenance</a:t>
            </a:r>
            <a:r>
              <a:rPr lang="en-US" sz="3800" b="1" i="0" dirty="0">
                <a:solidFill>
                  <a:srgbClr val="F5F5F5"/>
                </a:solidFill>
                <a:latin typeface="Inter" pitchFamily="34" charset="0"/>
                <a:ea typeface="Inter" pitchFamily="34" charset="-122"/>
                <a:cs typeface="Inter" pitchFamily="34" charset="-120"/>
              </a:rPr>
              <a:t> ML Project</a:t>
            </a:r>
            <a:endParaRPr lang="en-US" sz="3800" dirty="0"/>
          </a:p>
        </p:txBody>
      </p:sp>
      <p:sp>
        <p:nvSpPr>
          <p:cNvPr id="6" name="Text 2"/>
          <p:cNvSpPr/>
          <p:nvPr/>
        </p:nvSpPr>
        <p:spPr>
          <a:xfrm>
            <a:off x="711200" y="3067149"/>
            <a:ext cx="575564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B8B8"/>
                </a:solidFill>
                <a:latin typeface="Inter" pitchFamily="34" charset="0"/>
                <a:ea typeface="Inter" pitchFamily="34" charset="-122"/>
                <a:cs typeface="Inter" pitchFamily="34" charset="-120"/>
              </a:rPr>
              <a:t>Exploratory Data Analysis &amp; Advanced Data Preprocessing Pipeline</a:t>
            </a:r>
            <a:endParaRPr lang="en-US" sz="1600" dirty="0"/>
          </a:p>
        </p:txBody>
      </p:sp>
      <p:sp>
        <p:nvSpPr>
          <p:cNvPr id="7" name="Shape 3"/>
          <p:cNvSpPr/>
          <p:nvPr/>
        </p:nvSpPr>
        <p:spPr>
          <a:xfrm>
            <a:off x="714375" y="4644033"/>
            <a:ext cx="5708650" cy="1601192"/>
          </a:xfrm>
          <a:prstGeom prst="roundRect">
            <a:avLst>
              <a:gd name="adj" fmla="val 3768"/>
            </a:avLst>
          </a:prstGeom>
          <a:solidFill>
            <a:srgbClr val="111111"/>
          </a:solidFill>
          <a:ln w="6350">
            <a:solidFill>
              <a:srgbClr val="222222"/>
            </a:solidFill>
            <a:prstDash val="solid"/>
          </a:ln>
        </p:spPr>
      </p:sp>
      <p:sp>
        <p:nvSpPr>
          <p:cNvPr id="8" name="Text 4"/>
          <p:cNvSpPr/>
          <p:nvPr/>
        </p:nvSpPr>
        <p:spPr>
          <a:xfrm>
            <a:off x="946150" y="4825008"/>
            <a:ext cx="540245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PROJECT TEAM MEMBERS</a:t>
            </a:r>
            <a:endParaRPr lang="en-US" sz="1200" dirty="0"/>
          </a:p>
        </p:txBody>
      </p:sp>
      <p:sp>
        <p:nvSpPr>
          <p:cNvPr id="9" name="Text 5"/>
          <p:cNvSpPr/>
          <p:nvPr/>
        </p:nvSpPr>
        <p:spPr>
          <a:xfrm>
            <a:off x="946150" y="5139928"/>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Aiham Bawaneh</a:t>
            </a:r>
            <a:endParaRPr lang="en-US" sz="1400" dirty="0"/>
          </a:p>
        </p:txBody>
      </p:sp>
      <p:sp>
        <p:nvSpPr>
          <p:cNvPr id="10" name="Text 6"/>
          <p:cNvSpPr/>
          <p:nvPr/>
        </p:nvSpPr>
        <p:spPr>
          <a:xfrm>
            <a:off x="3644900" y="5139928"/>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Mohammad Aljabali</a:t>
            </a:r>
            <a:endParaRPr lang="en-US" sz="1400" dirty="0"/>
          </a:p>
        </p:txBody>
      </p:sp>
      <p:sp>
        <p:nvSpPr>
          <p:cNvPr id="11" name="Text 7"/>
          <p:cNvSpPr/>
          <p:nvPr/>
        </p:nvSpPr>
        <p:spPr>
          <a:xfrm>
            <a:off x="946150" y="547766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Mahmoud Bani-Hani</a:t>
            </a:r>
            <a:endParaRPr lang="en-US" sz="1400" dirty="0"/>
          </a:p>
        </p:txBody>
      </p:sp>
      <p:sp>
        <p:nvSpPr>
          <p:cNvPr id="12" name="Text 8"/>
          <p:cNvSpPr/>
          <p:nvPr/>
        </p:nvSpPr>
        <p:spPr>
          <a:xfrm>
            <a:off x="3644900" y="547766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Reem Aldelki</a:t>
            </a:r>
            <a:endParaRPr lang="en-US" sz="1400" dirty="0"/>
          </a:p>
        </p:txBody>
      </p:sp>
      <p:sp>
        <p:nvSpPr>
          <p:cNvPr id="13" name="Text 9"/>
          <p:cNvSpPr/>
          <p:nvPr/>
        </p:nvSpPr>
        <p:spPr>
          <a:xfrm>
            <a:off x="946150" y="581540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Shahd Alkwaga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813582" y="457200"/>
            <a:ext cx="4564737"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DATA ASSET &amp; INTEGRITY AUDIT · STEP 0</a:t>
            </a:r>
            <a:endParaRPr lang="en-US" sz="1200" dirty="0"/>
          </a:p>
        </p:txBody>
      </p:sp>
      <p:sp>
        <p:nvSpPr>
          <p:cNvPr id="4" name="Text 1"/>
          <p:cNvSpPr/>
          <p:nvPr>
            <p:ph type="title"/>
          </p:nvPr>
        </p:nvSpPr>
        <p:spPr>
          <a:xfrm>
            <a:off x="1283375" y="734020"/>
            <a:ext cx="9625251"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One File, 12,500 Rows, Verified Before Any Analysis</a:t>
            </a:r>
            <a:endParaRPr lang="en-US" sz="2500" dirty="0"/>
          </a:p>
        </p:txBody>
      </p:sp>
      <p:sp>
        <p:nvSpPr>
          <p:cNvPr id="5" name="Shape 2"/>
          <p:cNvSpPr/>
          <p:nvPr/>
        </p:nvSpPr>
        <p:spPr>
          <a:xfrm>
            <a:off x="714375" y="1305520"/>
            <a:ext cx="2571750" cy="1118791"/>
          </a:xfrm>
          <a:prstGeom prst="roundRect">
            <a:avLst>
              <a:gd name="adj" fmla="val 5392"/>
            </a:avLst>
          </a:prstGeom>
          <a:solidFill>
            <a:srgbClr val="111111"/>
          </a:solidFill>
          <a:ln w="6350">
            <a:solidFill>
              <a:srgbClr val="222222"/>
            </a:solidFill>
            <a:prstDash val="solid"/>
          </a:ln>
        </p:spPr>
      </p:sp>
      <p:sp>
        <p:nvSpPr>
          <p:cNvPr id="6" name="Shape 3"/>
          <p:cNvSpPr/>
          <p:nvPr/>
        </p:nvSpPr>
        <p:spPr>
          <a:xfrm>
            <a:off x="717550" y="1308695"/>
            <a:ext cx="2565400" cy="25400"/>
          </a:xfrm>
          <a:custGeom>
            <a:avLst/>
            <a:gdLst/>
            <a:ahLst/>
            <a:cxnLst/>
            <a:rect l="l" t="t" r="r" b="b"/>
            <a:pathLst>
              <a:path w="2565400" h="25400">
                <a:moveTo>
                  <a:pt x="9631" y="25400"/>
                </a:moveTo>
                <a:arcTo hR="57150" wR="57150" stAng="12824939" swAng="3375061"/>
                <a:lnTo>
                  <a:pt x="2508250" y="0"/>
                </a:lnTo>
                <a:arcTo hR="57150" wR="57150" stAng="16200000" swAng="3375061"/>
                <a:close/>
              </a:path>
            </a:pathLst>
          </a:custGeom>
          <a:solidFill>
            <a:srgbClr val="00E5CC"/>
          </a:solidFill>
          <a:ln/>
        </p:spPr>
      </p:sp>
      <p:sp>
        <p:nvSpPr>
          <p:cNvPr id="7" name="Text 4"/>
          <p:cNvSpPr/>
          <p:nvPr/>
        </p:nvSpPr>
        <p:spPr>
          <a:xfrm>
            <a:off x="1078706" y="1511895"/>
            <a:ext cx="1843088" cy="50542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00E5CC"/>
                </a:solidFill>
                <a:latin typeface="Inter" pitchFamily="34" charset="0"/>
                <a:ea typeface="Inter" pitchFamily="34" charset="-122"/>
                <a:cs typeface="Inter" pitchFamily="34" charset="-120"/>
              </a:rPr>
              <a:t>12,500</a:t>
            </a:r>
            <a:endParaRPr lang="en-US" sz="3600" dirty="0"/>
          </a:p>
        </p:txBody>
      </p:sp>
      <p:sp>
        <p:nvSpPr>
          <p:cNvPr id="8" name="Text 5"/>
          <p:cNvSpPr/>
          <p:nvPr/>
        </p:nvSpPr>
        <p:spPr>
          <a:xfrm>
            <a:off x="923221" y="2030016"/>
            <a:ext cx="215396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5F5F5"/>
                </a:solidFill>
                <a:latin typeface="Inter" pitchFamily="34" charset="0"/>
                <a:ea typeface="Inter" pitchFamily="34" charset="-122"/>
                <a:cs typeface="Inter" pitchFamily="34" charset="-120"/>
              </a:rPr>
              <a:t>ANALYZED RECORDS</a:t>
            </a:r>
            <a:endParaRPr lang="en-US" sz="1200" dirty="0"/>
          </a:p>
        </p:txBody>
      </p:sp>
      <p:sp>
        <p:nvSpPr>
          <p:cNvPr id="9" name="Shape 6"/>
          <p:cNvSpPr/>
          <p:nvPr/>
        </p:nvSpPr>
        <p:spPr>
          <a:xfrm>
            <a:off x="3444875" y="1305520"/>
            <a:ext cx="2571750" cy="1118791"/>
          </a:xfrm>
          <a:prstGeom prst="roundRect">
            <a:avLst>
              <a:gd name="adj" fmla="val 5392"/>
            </a:avLst>
          </a:prstGeom>
          <a:solidFill>
            <a:srgbClr val="111111"/>
          </a:solidFill>
          <a:ln w="6350">
            <a:solidFill>
              <a:srgbClr val="222222"/>
            </a:solidFill>
            <a:prstDash val="solid"/>
          </a:ln>
        </p:spPr>
      </p:sp>
      <p:sp>
        <p:nvSpPr>
          <p:cNvPr id="10" name="Shape 7"/>
          <p:cNvSpPr/>
          <p:nvPr/>
        </p:nvSpPr>
        <p:spPr>
          <a:xfrm>
            <a:off x="3448050" y="1308695"/>
            <a:ext cx="2565400" cy="25400"/>
          </a:xfrm>
          <a:custGeom>
            <a:avLst/>
            <a:gdLst/>
            <a:ahLst/>
            <a:cxnLst/>
            <a:rect l="l" t="t" r="r" b="b"/>
            <a:pathLst>
              <a:path w="2565400" h="25400">
                <a:moveTo>
                  <a:pt x="9631" y="25400"/>
                </a:moveTo>
                <a:arcTo hR="57150" wR="57150" stAng="12824939" swAng="3375061"/>
                <a:lnTo>
                  <a:pt x="2508250" y="0"/>
                </a:lnTo>
                <a:arcTo hR="57150" wR="57150" stAng="16200000" swAng="3375061"/>
                <a:close/>
              </a:path>
            </a:pathLst>
          </a:custGeom>
          <a:solidFill>
            <a:srgbClr val="3D7EFF"/>
          </a:solidFill>
          <a:ln/>
        </p:spPr>
      </p:sp>
      <p:sp>
        <p:nvSpPr>
          <p:cNvPr id="11" name="Text 8"/>
          <p:cNvSpPr/>
          <p:nvPr/>
        </p:nvSpPr>
        <p:spPr>
          <a:xfrm>
            <a:off x="4426912" y="1511895"/>
            <a:ext cx="607576" cy="50542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3D7EFF"/>
                </a:solidFill>
                <a:latin typeface="Inter" pitchFamily="34" charset="0"/>
                <a:ea typeface="Inter" pitchFamily="34" charset="-122"/>
                <a:cs typeface="Inter" pitchFamily="34" charset="-120"/>
              </a:rPr>
              <a:t>14</a:t>
            </a:r>
            <a:endParaRPr lang="en-US" sz="3600" dirty="0"/>
          </a:p>
        </p:txBody>
      </p:sp>
      <p:sp>
        <p:nvSpPr>
          <p:cNvPr id="12" name="Text 9"/>
          <p:cNvSpPr/>
          <p:nvPr/>
        </p:nvSpPr>
        <p:spPr>
          <a:xfrm>
            <a:off x="3679190" y="2030016"/>
            <a:ext cx="2103120"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5F5F5"/>
                </a:solidFill>
                <a:latin typeface="Inter" pitchFamily="34" charset="0"/>
                <a:ea typeface="Inter" pitchFamily="34" charset="-122"/>
                <a:cs typeface="Inter" pitchFamily="34" charset="-120"/>
              </a:rPr>
              <a:t>ORIGINAL COLUMNS</a:t>
            </a:r>
            <a:endParaRPr lang="en-US" sz="1200" dirty="0"/>
          </a:p>
        </p:txBody>
      </p:sp>
      <p:sp>
        <p:nvSpPr>
          <p:cNvPr id="13" name="Shape 10"/>
          <p:cNvSpPr/>
          <p:nvPr/>
        </p:nvSpPr>
        <p:spPr>
          <a:xfrm>
            <a:off x="6175375" y="1305520"/>
            <a:ext cx="2571750" cy="1118791"/>
          </a:xfrm>
          <a:prstGeom prst="roundRect">
            <a:avLst>
              <a:gd name="adj" fmla="val 5392"/>
            </a:avLst>
          </a:prstGeom>
          <a:solidFill>
            <a:srgbClr val="111111"/>
          </a:solidFill>
          <a:ln w="6350">
            <a:solidFill>
              <a:srgbClr val="222222"/>
            </a:solidFill>
            <a:prstDash val="solid"/>
          </a:ln>
        </p:spPr>
      </p:sp>
      <p:sp>
        <p:nvSpPr>
          <p:cNvPr id="14" name="Shape 11"/>
          <p:cNvSpPr/>
          <p:nvPr/>
        </p:nvSpPr>
        <p:spPr>
          <a:xfrm>
            <a:off x="6178550" y="1308695"/>
            <a:ext cx="2565400" cy="25400"/>
          </a:xfrm>
          <a:custGeom>
            <a:avLst/>
            <a:gdLst/>
            <a:ahLst/>
            <a:cxnLst/>
            <a:rect l="l" t="t" r="r" b="b"/>
            <a:pathLst>
              <a:path w="2565400" h="25400">
                <a:moveTo>
                  <a:pt x="9631" y="25400"/>
                </a:moveTo>
                <a:arcTo hR="57150" wR="57150" stAng="12824939" swAng="3375061"/>
                <a:lnTo>
                  <a:pt x="2508250" y="0"/>
                </a:lnTo>
                <a:arcTo hR="57150" wR="57150" stAng="16200000" swAng="3375061"/>
                <a:close/>
              </a:path>
            </a:pathLst>
          </a:custGeom>
          <a:solidFill>
            <a:srgbClr val="00E5CC"/>
          </a:solidFill>
          <a:ln/>
        </p:spPr>
      </p:sp>
      <p:sp>
        <p:nvSpPr>
          <p:cNvPr id="15" name="Text 12"/>
          <p:cNvSpPr/>
          <p:nvPr/>
        </p:nvSpPr>
        <p:spPr>
          <a:xfrm>
            <a:off x="7276227" y="1511895"/>
            <a:ext cx="370046" cy="50542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00E5CC"/>
                </a:solidFill>
                <a:latin typeface="Inter" pitchFamily="34" charset="0"/>
                <a:ea typeface="Inter" pitchFamily="34" charset="-122"/>
                <a:cs typeface="Inter" pitchFamily="34" charset="-120"/>
              </a:rPr>
              <a:t>0</a:t>
            </a:r>
            <a:endParaRPr lang="en-US" sz="3600" dirty="0"/>
          </a:p>
        </p:txBody>
      </p:sp>
      <p:sp>
        <p:nvSpPr>
          <p:cNvPr id="16" name="Text 13"/>
          <p:cNvSpPr/>
          <p:nvPr/>
        </p:nvSpPr>
        <p:spPr>
          <a:xfrm>
            <a:off x="6579711" y="2030016"/>
            <a:ext cx="1763077"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5F5F5"/>
                </a:solidFill>
                <a:latin typeface="Inter" pitchFamily="34" charset="0"/>
                <a:ea typeface="Inter" pitchFamily="34" charset="-122"/>
                <a:cs typeface="Inter" pitchFamily="34" charset="-120"/>
              </a:rPr>
              <a:t>MISSING VALUES</a:t>
            </a:r>
            <a:endParaRPr lang="en-US" sz="1200" dirty="0"/>
          </a:p>
        </p:txBody>
      </p:sp>
      <p:sp>
        <p:nvSpPr>
          <p:cNvPr id="17" name="Shape 14"/>
          <p:cNvSpPr/>
          <p:nvPr/>
        </p:nvSpPr>
        <p:spPr>
          <a:xfrm>
            <a:off x="8905875" y="1305520"/>
            <a:ext cx="2571750" cy="1118791"/>
          </a:xfrm>
          <a:prstGeom prst="roundRect">
            <a:avLst>
              <a:gd name="adj" fmla="val 5392"/>
            </a:avLst>
          </a:prstGeom>
          <a:solidFill>
            <a:srgbClr val="111111"/>
          </a:solidFill>
          <a:ln w="6350">
            <a:solidFill>
              <a:srgbClr val="222222"/>
            </a:solidFill>
            <a:prstDash val="solid"/>
          </a:ln>
        </p:spPr>
      </p:sp>
      <p:sp>
        <p:nvSpPr>
          <p:cNvPr id="18" name="Shape 15"/>
          <p:cNvSpPr/>
          <p:nvPr/>
        </p:nvSpPr>
        <p:spPr>
          <a:xfrm>
            <a:off x="8909050" y="1308695"/>
            <a:ext cx="2565400" cy="25400"/>
          </a:xfrm>
          <a:custGeom>
            <a:avLst/>
            <a:gdLst/>
            <a:ahLst/>
            <a:cxnLst/>
            <a:rect l="l" t="t" r="r" b="b"/>
            <a:pathLst>
              <a:path w="2565400" h="25400">
                <a:moveTo>
                  <a:pt x="9631" y="25400"/>
                </a:moveTo>
                <a:arcTo hR="57150" wR="57150" stAng="12824939" swAng="3375061"/>
                <a:lnTo>
                  <a:pt x="2508250" y="0"/>
                </a:lnTo>
                <a:arcTo hR="57150" wR="57150" stAng="16200000" swAng="3375061"/>
                <a:close/>
              </a:path>
            </a:pathLst>
          </a:custGeom>
          <a:solidFill>
            <a:srgbClr val="3D7EFF"/>
          </a:solidFill>
          <a:ln/>
        </p:spPr>
      </p:sp>
      <p:sp>
        <p:nvSpPr>
          <p:cNvPr id="19" name="Text 16"/>
          <p:cNvSpPr/>
          <p:nvPr/>
        </p:nvSpPr>
        <p:spPr>
          <a:xfrm>
            <a:off x="10006727" y="1511895"/>
            <a:ext cx="370046" cy="505420"/>
          </a:xfrm>
          <a:prstGeom prst="rect">
            <a:avLst/>
          </a:prstGeom>
          <a:noFill/>
          <a:ln/>
        </p:spPr>
        <p:txBody>
          <a:bodyPr wrap="square" lIns="0" tIns="0" rIns="0" bIns="0" rtlCol="0" anchor="t">
            <a:normAutofit/>
          </a:bodyPr>
          <a:lstStyle/>
          <a:p>
            <a:pPr algn="ctr" indent="0" marL="0">
              <a:lnSpc>
                <a:spcPts val="3780"/>
              </a:lnSpc>
              <a:buNone/>
            </a:pPr>
            <a:r>
              <a:rPr lang="en-US" sz="3600" b="1" dirty="0">
                <a:solidFill>
                  <a:srgbClr val="3D7EFF"/>
                </a:solidFill>
                <a:latin typeface="Inter" pitchFamily="34" charset="0"/>
                <a:ea typeface="Inter" pitchFamily="34" charset="-122"/>
                <a:cs typeface="Inter" pitchFamily="34" charset="-120"/>
              </a:rPr>
              <a:t>0</a:t>
            </a:r>
            <a:endParaRPr lang="en-US" sz="3600" dirty="0"/>
          </a:p>
        </p:txBody>
      </p:sp>
      <p:sp>
        <p:nvSpPr>
          <p:cNvPr id="20" name="Text 17"/>
          <p:cNvSpPr/>
          <p:nvPr/>
        </p:nvSpPr>
        <p:spPr>
          <a:xfrm>
            <a:off x="9272478" y="2030016"/>
            <a:ext cx="1838444" cy="238720"/>
          </a:xfrm>
          <a:prstGeom prst="rect">
            <a:avLst/>
          </a:prstGeom>
          <a:noFill/>
          <a:ln/>
        </p:spPr>
        <p:txBody>
          <a:bodyPr wrap="square" lIns="0" tIns="0" rIns="0" bIns="0" rtlCol="0" anchor="t">
            <a:normAutofit/>
          </a:bodyPr>
          <a:lstStyle/>
          <a:p>
            <a:pPr algn="ctr" indent="0" marL="0">
              <a:lnSpc>
                <a:spcPts val="1680"/>
              </a:lnSpc>
              <a:buNone/>
            </a:pPr>
            <a:r>
              <a:rPr lang="en-US" sz="1200" b="1" spc="100" kern="0" dirty="0">
                <a:solidFill>
                  <a:srgbClr val="F5F5F5"/>
                </a:solidFill>
                <a:latin typeface="Inter" pitchFamily="34" charset="0"/>
                <a:ea typeface="Inter" pitchFamily="34" charset="-122"/>
                <a:cs typeface="Inter" pitchFamily="34" charset="-120"/>
              </a:rPr>
              <a:t>DUPLICATE ROWS</a:t>
            </a:r>
            <a:endParaRPr lang="en-US" sz="1200" dirty="0"/>
          </a:p>
        </p:txBody>
      </p:sp>
      <p:sp>
        <p:nvSpPr>
          <p:cNvPr id="21" name="Shape 18"/>
          <p:cNvSpPr/>
          <p:nvPr/>
        </p:nvSpPr>
        <p:spPr>
          <a:xfrm>
            <a:off x="714375" y="2633861"/>
            <a:ext cx="5302250" cy="2005013"/>
          </a:xfrm>
          <a:prstGeom prst="roundRect">
            <a:avLst>
              <a:gd name="adj" fmla="val 3009"/>
            </a:avLst>
          </a:prstGeom>
          <a:solidFill>
            <a:srgbClr val="111111"/>
          </a:solidFill>
          <a:ln w="6350">
            <a:solidFill>
              <a:srgbClr val="222222"/>
            </a:solidFill>
            <a:prstDash val="solid"/>
          </a:ln>
        </p:spPr>
      </p:sp>
      <p:sp>
        <p:nvSpPr>
          <p:cNvPr id="22" name="Shape 19"/>
          <p:cNvSpPr/>
          <p:nvPr/>
        </p:nvSpPr>
        <p:spPr>
          <a:xfrm>
            <a:off x="717550" y="2637036"/>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23" name="Text 20"/>
          <p:cNvSpPr/>
          <p:nvPr/>
        </p:nvSpPr>
        <p:spPr>
          <a:xfrm>
            <a:off x="920750" y="2840236"/>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WHAT WE DID</a:t>
            </a:r>
            <a:endParaRPr lang="en-US" sz="1200" dirty="0"/>
          </a:p>
        </p:txBody>
      </p:sp>
      <p:sp>
        <p:nvSpPr>
          <p:cNvPr id="24" name="Text 21"/>
          <p:cNvSpPr/>
          <p:nvPr/>
        </p:nvSpPr>
        <p:spPr>
          <a:xfrm>
            <a:off x="920750" y="3129756"/>
            <a:ext cx="503618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5F5F5"/>
                </a:solidFill>
                <a:latin typeface="Inter" pitchFamily="34" charset="0"/>
                <a:ea typeface="Inter" pitchFamily="34" charset="-122"/>
                <a:cs typeface="Inter" pitchFamily="34" charset="-120"/>
              </a:rPr>
              <a:t>We use only the Milestone 2 output, AI4I_with_synthetic_data_cleaned_data.csv. We do not use the 15,000-row file and we do not merge the two files.</a:t>
            </a:r>
            <a:endParaRPr lang="en-US" sz="1400" dirty="0"/>
          </a:p>
        </p:txBody>
      </p:sp>
      <p:sp>
        <p:nvSpPr>
          <p:cNvPr id="25" name="Text 22"/>
          <p:cNvSpPr/>
          <p:nvPr/>
        </p:nvSpPr>
        <p:spPr>
          <a:xfrm>
            <a:off x="920750" y="3979267"/>
            <a:ext cx="5036185"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Sanity check: shape (12,500 × 14), 12 numeric and 2 text columns (Product ID, Type) to encode or drop.</a:t>
            </a:r>
            <a:endParaRPr lang="en-US" sz="1300" dirty="0"/>
          </a:p>
        </p:txBody>
      </p:sp>
      <p:sp>
        <p:nvSpPr>
          <p:cNvPr id="26" name="Shape 23"/>
          <p:cNvSpPr/>
          <p:nvPr/>
        </p:nvSpPr>
        <p:spPr>
          <a:xfrm>
            <a:off x="6175375" y="2633861"/>
            <a:ext cx="5302250" cy="2005013"/>
          </a:xfrm>
          <a:prstGeom prst="roundRect">
            <a:avLst>
              <a:gd name="adj" fmla="val 3009"/>
            </a:avLst>
          </a:prstGeom>
          <a:solidFill>
            <a:srgbClr val="111111"/>
          </a:solidFill>
          <a:ln w="6350">
            <a:solidFill>
              <a:srgbClr val="222222"/>
            </a:solidFill>
            <a:prstDash val="solid"/>
          </a:ln>
        </p:spPr>
      </p:sp>
      <p:sp>
        <p:nvSpPr>
          <p:cNvPr id="27" name="Shape 24"/>
          <p:cNvSpPr/>
          <p:nvPr/>
        </p:nvSpPr>
        <p:spPr>
          <a:xfrm>
            <a:off x="6178550" y="2637036"/>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3D7EFF"/>
          </a:solidFill>
          <a:ln/>
        </p:spPr>
      </p:sp>
      <p:sp>
        <p:nvSpPr>
          <p:cNvPr id="28" name="Text 25"/>
          <p:cNvSpPr/>
          <p:nvPr/>
        </p:nvSpPr>
        <p:spPr>
          <a:xfrm>
            <a:off x="6381750" y="2840236"/>
            <a:ext cx="503618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7EFF"/>
                </a:solidFill>
                <a:latin typeface="Inter" pitchFamily="34" charset="0"/>
                <a:ea typeface="Inter" pitchFamily="34" charset="-122"/>
                <a:cs typeface="Inter" pitchFamily="34" charset="-120"/>
              </a:rPr>
              <a:t>WHY</a:t>
            </a:r>
            <a:endParaRPr lang="en-US" sz="1200" dirty="0"/>
          </a:p>
        </p:txBody>
      </p:sp>
      <p:sp>
        <p:nvSpPr>
          <p:cNvPr id="29" name="Text 26"/>
          <p:cNvSpPr/>
          <p:nvPr/>
        </p:nvSpPr>
        <p:spPr>
          <a:xfrm>
            <a:off x="6381750" y="3129756"/>
            <a:ext cx="5036185"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5F5F5"/>
                </a:solidFill>
                <a:latin typeface="Inter" pitchFamily="34" charset="0"/>
                <a:ea typeface="Inter" pitchFamily="34" charset="-122"/>
                <a:cs typeface="Inter" pitchFamily="34" charset="-120"/>
              </a:rPr>
              <a:t>The first 10,000 rows are shared by both files. Merging repeats them, so one copy of a row can land in training and another in testing: data leakage.</a:t>
            </a:r>
            <a:endParaRPr lang="en-US" sz="1400" dirty="0"/>
          </a:p>
        </p:txBody>
      </p:sp>
      <p:sp>
        <p:nvSpPr>
          <p:cNvPr id="30" name="Text 27"/>
          <p:cNvSpPr/>
          <p:nvPr/>
        </p:nvSpPr>
        <p:spPr>
          <a:xfrm>
            <a:off x="6381750" y="3979267"/>
            <a:ext cx="5036185"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We verify the right file with no nulls and no duplicates before analyzing anything.</a:t>
            </a:r>
            <a:endParaRPr lang="en-US" sz="1300" dirty="0"/>
          </a:p>
        </p:txBody>
      </p:sp>
      <p:sp>
        <p:nvSpPr>
          <p:cNvPr id="31" name="Text 28"/>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2" name="Text 29"/>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221490" y="457200"/>
            <a:ext cx="3748921"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STEP 1 · DESCRIPTIVE STATISTICS</a:t>
            </a:r>
            <a:endParaRPr lang="en-US" sz="1200" dirty="0"/>
          </a:p>
        </p:txBody>
      </p:sp>
      <p:sp>
        <p:nvSpPr>
          <p:cNvPr id="4" name="Text 1"/>
          <p:cNvSpPr/>
          <p:nvPr>
            <p:ph type="title"/>
          </p:nvPr>
        </p:nvSpPr>
        <p:spPr>
          <a:xfrm>
            <a:off x="2141696" y="734020"/>
            <a:ext cx="7908608"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What the Numbers Say About Each Sensor</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23900" y="1289645"/>
          <a:ext cx="10756900" cy="1995487"/>
        </p:xfrm>
        <a:graphic>
          <a:graphicData uri="http://schemas.openxmlformats.org/drawingml/2006/table">
            <a:tbl>
              <a:tblPr/>
              <a:tblGrid>
                <a:gridCol w="2043811"/>
                <a:gridCol w="968121"/>
                <a:gridCol w="968121"/>
                <a:gridCol w="968121"/>
                <a:gridCol w="1183259"/>
                <a:gridCol w="968121"/>
                <a:gridCol w="968121"/>
                <a:gridCol w="968121"/>
                <a:gridCol w="860552"/>
                <a:gridCol w="860552"/>
              </a:tblGrid>
              <a:tr h="332581">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Feature</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Mean</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Median</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Mode</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Variance</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Std</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Q1</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Q3</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P90</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Skew</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Air temp [K]</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300.18</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300.20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300.70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4.40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2.10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298.4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301.9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303.0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Process temp [K]</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310.10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310.20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310.60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2.56</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1.60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308.8</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311.3</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312.2</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-0.08</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Speed [rpm]</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1520.99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1496.0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1953.00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30918.35</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175.84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1398</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1620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1761</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0.63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Torque [Nm]</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41.44</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40.9</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72.55</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158.83</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12.60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32.8</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48.7</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57.8</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0.35</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Tool wear [min]</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115.14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116.0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2.00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4547.27</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67.43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57</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176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203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bl>
          </a:graphicData>
        </a:graphic>
      </p:graphicFrame>
      <p:sp>
        <p:nvSpPr>
          <p:cNvPr id="6" name="Shape 2"/>
          <p:cNvSpPr/>
          <p:nvPr/>
        </p:nvSpPr>
        <p:spPr>
          <a:xfrm>
            <a:off x="714375" y="3466108"/>
            <a:ext cx="3481884" cy="1753691"/>
          </a:xfrm>
          <a:prstGeom prst="roundRect">
            <a:avLst>
              <a:gd name="adj" fmla="val 3440"/>
            </a:avLst>
          </a:prstGeom>
          <a:solidFill>
            <a:srgbClr val="111111"/>
          </a:solidFill>
          <a:ln w="6350">
            <a:solidFill>
              <a:srgbClr val="222222"/>
            </a:solidFill>
            <a:prstDash val="solid"/>
          </a:ln>
        </p:spPr>
      </p:sp>
      <p:sp>
        <p:nvSpPr>
          <p:cNvPr id="7" name="Shape 3"/>
          <p:cNvSpPr/>
          <p:nvPr/>
        </p:nvSpPr>
        <p:spPr>
          <a:xfrm>
            <a:off x="717550" y="3469283"/>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8" name="Text 4"/>
          <p:cNvSpPr/>
          <p:nvPr/>
        </p:nvSpPr>
        <p:spPr>
          <a:xfrm>
            <a:off x="895350" y="3647083"/>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Distribution shape</a:t>
            </a:r>
            <a:endParaRPr lang="en-US" sz="1400" dirty="0"/>
          </a:p>
        </p:txBody>
      </p:sp>
      <p:sp>
        <p:nvSpPr>
          <p:cNvPr id="9" name="Text 5"/>
          <p:cNvSpPr/>
          <p:nvPr/>
        </p:nvSpPr>
        <p:spPr>
          <a:xfrm>
            <a:off x="895350" y="3959423"/>
            <a:ext cx="3213532"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Temperatures are symmetric (skew ≈ 0). Torque is near normal. Speed is right-skewed (0.63); its mode 1953 is the IQR cap (536 rows). Tool wear is close to uniform.</a:t>
            </a:r>
            <a:endParaRPr lang="en-US" sz="1200" dirty="0"/>
          </a:p>
        </p:txBody>
      </p:sp>
      <p:sp>
        <p:nvSpPr>
          <p:cNvPr id="10" name="Shape 6"/>
          <p:cNvSpPr/>
          <p:nvPr/>
        </p:nvSpPr>
        <p:spPr>
          <a:xfrm>
            <a:off x="4355009" y="3466108"/>
            <a:ext cx="3481983" cy="1753691"/>
          </a:xfrm>
          <a:prstGeom prst="roundRect">
            <a:avLst>
              <a:gd name="adj" fmla="val 3440"/>
            </a:avLst>
          </a:prstGeom>
          <a:solidFill>
            <a:srgbClr val="111111"/>
          </a:solidFill>
          <a:ln w="6350">
            <a:solidFill>
              <a:srgbClr val="222222"/>
            </a:solidFill>
            <a:prstDash val="solid"/>
          </a:ln>
        </p:spPr>
      </p:sp>
      <p:sp>
        <p:nvSpPr>
          <p:cNvPr id="11" name="Shape 7"/>
          <p:cNvSpPr/>
          <p:nvPr/>
        </p:nvSpPr>
        <p:spPr>
          <a:xfrm>
            <a:off x="4358184" y="3469283"/>
            <a:ext cx="3475633" cy="25400"/>
          </a:xfrm>
          <a:custGeom>
            <a:avLst/>
            <a:gdLst/>
            <a:ahLst/>
            <a:cxnLst/>
            <a:rect l="l" t="t" r="r" b="b"/>
            <a:pathLst>
              <a:path w="3475633" h="25400">
                <a:moveTo>
                  <a:pt x="9631" y="25400"/>
                </a:moveTo>
                <a:arcTo hR="57150" wR="57150" stAng="12824939" swAng="3375061"/>
                <a:lnTo>
                  <a:pt x="3418483" y="0"/>
                </a:lnTo>
                <a:arcTo hR="57150" wR="57150" stAng="16200000" swAng="3375061"/>
                <a:close/>
              </a:path>
            </a:pathLst>
          </a:custGeom>
          <a:solidFill>
            <a:srgbClr val="3D7EFF"/>
          </a:solidFill>
          <a:ln/>
        </p:spPr>
      </p:sp>
      <p:sp>
        <p:nvSpPr>
          <p:cNvPr id="12" name="Text 8"/>
          <p:cNvSpPr/>
          <p:nvPr/>
        </p:nvSpPr>
        <p:spPr>
          <a:xfrm>
            <a:off x="4535984" y="3647083"/>
            <a:ext cx="321363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Why standardize</a:t>
            </a:r>
            <a:endParaRPr lang="en-US" sz="1400" dirty="0"/>
          </a:p>
        </p:txBody>
      </p:sp>
      <p:sp>
        <p:nvSpPr>
          <p:cNvPr id="13" name="Text 9"/>
          <p:cNvSpPr/>
          <p:nvPr/>
        </p:nvSpPr>
        <p:spPr>
          <a:xfrm>
            <a:off x="4535984" y="3959423"/>
            <a:ext cx="3213634" cy="1130201"/>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Variance is 30,918 for speed and 4,547 for wear against 2.56 for process temperature. Without scaling, large-scale columns dominate distance- and weight-based models.</a:t>
            </a:r>
            <a:endParaRPr lang="en-US" sz="1200" dirty="0"/>
          </a:p>
        </p:txBody>
      </p:sp>
      <p:sp>
        <p:nvSpPr>
          <p:cNvPr id="14" name="Shape 10"/>
          <p:cNvSpPr/>
          <p:nvPr/>
        </p:nvSpPr>
        <p:spPr>
          <a:xfrm>
            <a:off x="7995741" y="3466108"/>
            <a:ext cx="3481884" cy="1753691"/>
          </a:xfrm>
          <a:prstGeom prst="roundRect">
            <a:avLst>
              <a:gd name="adj" fmla="val 3440"/>
            </a:avLst>
          </a:prstGeom>
          <a:solidFill>
            <a:srgbClr val="111111"/>
          </a:solidFill>
          <a:ln w="6350">
            <a:solidFill>
              <a:srgbClr val="222222"/>
            </a:solidFill>
            <a:prstDash val="solid"/>
          </a:ln>
        </p:spPr>
      </p:sp>
      <p:sp>
        <p:nvSpPr>
          <p:cNvPr id="15" name="Shape 11"/>
          <p:cNvSpPr/>
          <p:nvPr/>
        </p:nvSpPr>
        <p:spPr>
          <a:xfrm>
            <a:off x="7998916" y="3469283"/>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16" name="Text 12"/>
          <p:cNvSpPr/>
          <p:nvPr/>
        </p:nvSpPr>
        <p:spPr>
          <a:xfrm>
            <a:off x="8176716" y="3647083"/>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Risk thresholds</a:t>
            </a:r>
            <a:endParaRPr lang="en-US" sz="1400" dirty="0"/>
          </a:p>
        </p:txBody>
      </p:sp>
      <p:sp>
        <p:nvSpPr>
          <p:cNvPr id="17" name="Text 13"/>
          <p:cNvSpPr/>
          <p:nvPr/>
        </p:nvSpPr>
        <p:spPr>
          <a:xfrm>
            <a:off x="8176716" y="3959423"/>
            <a:ext cx="321353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Half of all runs have torque between 32.8 and 48.7 Nm. P90 is 57.8 Nm for torque and 203 min for tool wear.</a:t>
            </a:r>
            <a:endParaRPr lang="en-US" sz="1200" dirty="0"/>
          </a:p>
        </p:txBody>
      </p:sp>
      <p:sp>
        <p:nvSpPr>
          <p:cNvPr id="18" name="Text 14"/>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19" name="Text 15"/>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717965" y="457200"/>
            <a:ext cx="4756071"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STEP 2 · TARGET ANALYSIS &amp; PROBABILITY</a:t>
            </a:r>
            <a:endParaRPr lang="en-US" sz="1200" dirty="0"/>
          </a:p>
        </p:txBody>
      </p:sp>
      <p:sp>
        <p:nvSpPr>
          <p:cNvPr id="4" name="Text 1"/>
          <p:cNvSpPr/>
          <p:nvPr>
            <p:ph type="title"/>
          </p:nvPr>
        </p:nvSpPr>
        <p:spPr>
          <a:xfrm>
            <a:off x="1154906" y="734020"/>
            <a:ext cx="9882188"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Where 22.71% Comes From and What Raises the Risk</a:t>
            </a:r>
            <a:endParaRPr lang="en-US" sz="2500" dirty="0"/>
          </a:p>
        </p:txBody>
      </p:sp>
      <p:sp>
        <p:nvSpPr>
          <p:cNvPr id="5" name="Text 2"/>
          <p:cNvSpPr/>
          <p:nvPr/>
        </p:nvSpPr>
        <p:spPr>
          <a:xfrm>
            <a:off x="711200" y="1276945"/>
            <a:ext cx="54678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CLASS IMBALANCE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23900" y="1579166"/>
          <a:ext cx="5295900" cy="1330325"/>
        </p:xfrm>
        <a:graphic>
          <a:graphicData uri="http://schemas.openxmlformats.org/drawingml/2006/table">
            <a:tbl>
              <a:tblPr/>
              <a:tblGrid>
                <a:gridCol w="2118360"/>
                <a:gridCol w="1059180"/>
                <a:gridCol w="1059180"/>
                <a:gridCol w="1059180"/>
              </a:tblGrid>
              <a:tr h="332581">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Subset</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Rows</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Failures</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Rate</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Original (UDI ≤ 10k)</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10,000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339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3D7EFF"/>
                          </a:solidFill>
                          <a:latin typeface="Inter" pitchFamily="34" charset="0"/>
                          <a:ea typeface="Inter" pitchFamily="34" charset="-122"/>
                          <a:cs typeface="Inter" pitchFamily="34" charset="-120"/>
                        </a:rPr>
                        <a:t>3.39%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Synthetic (UDI &gt; 10k)</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2,500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2,500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3D7EFF"/>
                          </a:solidFill>
                          <a:latin typeface="Inter" pitchFamily="34" charset="0"/>
                          <a:ea typeface="Inter" pitchFamily="34" charset="-122"/>
                          <a:cs typeface="Inter" pitchFamily="34" charset="-120"/>
                        </a:rPr>
                        <a:t>100%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Whole file</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12,500</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2,839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00E5CC"/>
                          </a:solidFill>
                          <a:latin typeface="Inter" pitchFamily="34" charset="0"/>
                          <a:ea typeface="Inter" pitchFamily="34" charset="-122"/>
                          <a:cs typeface="Inter" pitchFamily="34" charset="-120"/>
                        </a:rPr>
                        <a:t>22.71%</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bl>
          </a:graphicData>
        </a:graphic>
      </p:graphicFrame>
      <p:sp>
        <p:nvSpPr>
          <p:cNvPr id="7" name="Text 3"/>
          <p:cNvSpPr/>
          <p:nvPr/>
        </p:nvSpPr>
        <p:spPr>
          <a:xfrm>
            <a:off x="6172200" y="1276945"/>
            <a:ext cx="546785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CONDITIONAL PROBABILITY</a:t>
            </a:r>
            <a:endParaRPr lang="en-US" sz="1200" dirty="0"/>
          </a:p>
        </p:txBody>
      </p:sp>
      <p:graphicFrame>
        <p:nvGraphicFramePr>
          <p:cNvPr id="8" name="Table 1"/>
          <p:cNvGraphicFramePr>
            <a:graphicFrameLocks noGrp="1"/>
          </p:cNvGraphicFramePr>
          <p:nvPr>
            <p:extLst>
              <p:ext uri="{D42A27DB-BD31-4B8C-83A1-F6EECF244321}">
                <p14:modId xmlns:p14="http://schemas.microsoft.com/office/powerpoint/2010/main" val="1579011935"/>
              </p:ext>
            </p:extLst>
          </p:nvPr>
        </p:nvGraphicFramePr>
        <p:xfrm>
          <a:off x="6184900" y="1579166"/>
          <a:ext cx="5295900" cy="1330325"/>
        </p:xfrm>
        <a:graphic>
          <a:graphicData uri="http://schemas.openxmlformats.org/drawingml/2006/table">
            <a:tbl>
              <a:tblPr/>
              <a:tblGrid>
                <a:gridCol w="1800606"/>
                <a:gridCol w="1165098"/>
                <a:gridCol w="1165098"/>
                <a:gridCol w="1165098"/>
              </a:tblGrid>
              <a:tr h="332581">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Condition</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P(F | yes)</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P(F | no)</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00E5CC"/>
                          </a:solidFill>
                          <a:latin typeface="Inter" pitchFamily="34" charset="0"/>
                          <a:ea typeface="Inter" pitchFamily="34" charset="-122"/>
                          <a:cs typeface="Inter" pitchFamily="34" charset="-120"/>
                        </a:rPr>
                        <a:t>Risk</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Torque &gt; 50 Nm</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51.16%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14.79%</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00E5CC"/>
                          </a:solidFill>
                          <a:latin typeface="Inter" pitchFamily="34" charset="0"/>
                          <a:ea typeface="Inter" pitchFamily="34" charset="-122"/>
                          <a:cs typeface="Inter" pitchFamily="34" charset="-120"/>
                        </a:rPr>
                        <a:t>× 3.46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Wear &gt; 200 min</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56.55%</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18.16%</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00E5CC"/>
                          </a:solidFill>
                          <a:latin typeface="Inter" pitchFamily="34" charset="0"/>
                          <a:ea typeface="Inter" pitchFamily="34" charset="-122"/>
                          <a:cs typeface="Inter" pitchFamily="34" charset="-120"/>
                        </a:rPr>
                        <a:t>× 3.11</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Speed &lt; Q1</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49.53%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13.84%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00E5CC"/>
                          </a:solidFill>
                          <a:latin typeface="Inter" pitchFamily="34" charset="0"/>
                          <a:ea typeface="Inter" pitchFamily="34" charset="-122"/>
                          <a:cs typeface="Inter" pitchFamily="34" charset="-120"/>
                        </a:rPr>
                        <a:t>× 3.58</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bl>
          </a:graphicData>
        </a:graphic>
      </p:graphicFrame>
      <p:sp>
        <p:nvSpPr>
          <p:cNvPr id="9" name="Shape 4"/>
          <p:cNvSpPr/>
          <p:nvPr/>
        </p:nvSpPr>
        <p:spPr>
          <a:xfrm>
            <a:off x="714375" y="3090466"/>
            <a:ext cx="5302250" cy="1392238"/>
          </a:xfrm>
          <a:prstGeom prst="roundRect">
            <a:avLst>
              <a:gd name="adj" fmla="val 4333"/>
            </a:avLst>
          </a:prstGeom>
          <a:solidFill>
            <a:srgbClr val="111111"/>
          </a:solidFill>
          <a:ln w="6350">
            <a:solidFill>
              <a:srgbClr val="222222"/>
            </a:solidFill>
            <a:prstDash val="solid"/>
          </a:ln>
        </p:spPr>
      </p:sp>
      <p:sp>
        <p:nvSpPr>
          <p:cNvPr id="10" name="Shape 5"/>
          <p:cNvSpPr/>
          <p:nvPr/>
        </p:nvSpPr>
        <p:spPr>
          <a:xfrm>
            <a:off x="717550" y="3093641"/>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3D7EFF"/>
          </a:solidFill>
          <a:ln/>
        </p:spPr>
      </p:sp>
      <p:sp>
        <p:nvSpPr>
          <p:cNvPr id="11" name="Text 6"/>
          <p:cNvSpPr/>
          <p:nvPr/>
        </p:nvSpPr>
        <p:spPr>
          <a:xfrm>
            <a:off x="908050" y="3284141"/>
            <a:ext cx="50623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Reading the imbalance</a:t>
            </a:r>
            <a:endParaRPr lang="en-US" sz="1400" dirty="0"/>
          </a:p>
        </p:txBody>
      </p:sp>
      <p:sp>
        <p:nvSpPr>
          <p:cNvPr id="12" name="Text 7"/>
          <p:cNvSpPr/>
          <p:nvPr/>
        </p:nvSpPr>
        <p:spPr>
          <a:xfrm>
            <a:off x="908050" y="3596481"/>
            <a:ext cx="5062347"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The original data has only 3.39% failures. Over-sampling added 2,500 all-failure rows, so 22.71% is an artificial rate. Quote the relative risk, not the absolute probability.</a:t>
            </a:r>
            <a:endParaRPr lang="en-US" sz="1300" dirty="0"/>
          </a:p>
        </p:txBody>
      </p:sp>
      <p:sp>
        <p:nvSpPr>
          <p:cNvPr id="13" name="Shape 8"/>
          <p:cNvSpPr/>
          <p:nvPr/>
        </p:nvSpPr>
        <p:spPr>
          <a:xfrm>
            <a:off x="6175375" y="3090466"/>
            <a:ext cx="5302250" cy="1392238"/>
          </a:xfrm>
          <a:prstGeom prst="roundRect">
            <a:avLst>
              <a:gd name="adj" fmla="val 4333"/>
            </a:avLst>
          </a:prstGeom>
          <a:solidFill>
            <a:srgbClr val="111111"/>
          </a:solidFill>
          <a:ln w="6350">
            <a:solidFill>
              <a:srgbClr val="222222"/>
            </a:solidFill>
            <a:prstDash val="solid"/>
          </a:ln>
        </p:spPr>
      </p:sp>
      <p:sp>
        <p:nvSpPr>
          <p:cNvPr id="14" name="Shape 9"/>
          <p:cNvSpPr/>
          <p:nvPr/>
        </p:nvSpPr>
        <p:spPr>
          <a:xfrm>
            <a:off x="6178550" y="3093641"/>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15" name="Text 10"/>
          <p:cNvSpPr/>
          <p:nvPr/>
        </p:nvSpPr>
        <p:spPr>
          <a:xfrm>
            <a:off x="6369050" y="3284141"/>
            <a:ext cx="50623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Actionable thresholds</a:t>
            </a:r>
            <a:endParaRPr lang="en-US" sz="1400" dirty="0"/>
          </a:p>
        </p:txBody>
      </p:sp>
      <p:sp>
        <p:nvSpPr>
          <p:cNvPr id="16" name="Text 11"/>
          <p:cNvSpPr/>
          <p:nvPr/>
        </p:nvSpPr>
        <p:spPr>
          <a:xfrm>
            <a:off x="6369050" y="3596481"/>
            <a:ext cx="5062347"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Above 50 Nm of torque, failure is 3.46 times more likely: set an early warning. After 200 minutes of tool wear it is 3.11 times more likely: replace the tool before minute 200.</a:t>
            </a:r>
            <a:endParaRPr lang="en-US" sz="1300" dirty="0"/>
          </a:p>
        </p:txBody>
      </p:sp>
      <p:sp>
        <p:nvSpPr>
          <p:cNvPr id="17" name="Text 12"/>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18" name="Text 13"/>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936216" y="457200"/>
            <a:ext cx="4319468"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STEP 3 · VISUAL EXPLORATION (1 OF 2)</a:t>
            </a:r>
            <a:endParaRPr lang="en-US" sz="1200" dirty="0"/>
          </a:p>
        </p:txBody>
      </p:sp>
      <p:sp>
        <p:nvSpPr>
          <p:cNvPr id="4" name="Text 1"/>
          <p:cNvSpPr/>
          <p:nvPr>
            <p:ph type="title"/>
          </p:nvPr>
        </p:nvSpPr>
        <p:spPr>
          <a:xfrm>
            <a:off x="1523296" y="734020"/>
            <a:ext cx="9145310"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Product Type Mix and Sensor Values by Outcome</a:t>
            </a:r>
            <a:endParaRPr lang="en-US" sz="2500" dirty="0"/>
          </a:p>
        </p:txBody>
      </p:sp>
      <p:sp>
        <p:nvSpPr>
          <p:cNvPr id="5" name="Shape 2"/>
          <p:cNvSpPr/>
          <p:nvPr/>
        </p:nvSpPr>
        <p:spPr>
          <a:xfrm>
            <a:off x="714375" y="1280120"/>
            <a:ext cx="2228850" cy="3173611"/>
          </a:xfrm>
          <a:prstGeom prst="roundRect">
            <a:avLst>
              <a:gd name="adj" fmla="val 2707"/>
            </a:avLst>
          </a:prstGeom>
          <a:solidFill>
            <a:srgbClr val="111111"/>
          </a:solidFill>
          <a:ln w="6350">
            <a:solidFill>
              <a:srgbClr val="222222"/>
            </a:solidFill>
            <a:prstDash val="solid"/>
          </a:ln>
        </p:spPr>
      </p:sp>
      <p:sp>
        <p:nvSpPr>
          <p:cNvPr id="6" name="Shape 3"/>
          <p:cNvSpPr/>
          <p:nvPr/>
        </p:nvSpPr>
        <p:spPr>
          <a:xfrm>
            <a:off x="717550" y="1283295"/>
            <a:ext cx="2222500" cy="25400"/>
          </a:xfrm>
          <a:custGeom>
            <a:avLst/>
            <a:gdLst/>
            <a:ahLst/>
            <a:cxnLst/>
            <a:rect l="l" t="t" r="r" b="b"/>
            <a:pathLst>
              <a:path w="2222500" h="25400">
                <a:moveTo>
                  <a:pt x="9631" y="25400"/>
                </a:moveTo>
                <a:arcTo hR="57150" wR="57150" stAng="12824939" swAng="3375061"/>
                <a:lnTo>
                  <a:pt x="2165350" y="0"/>
                </a:lnTo>
                <a:arcTo hR="57150" wR="57150" stAng="16200000" swAng="3375061"/>
                <a:close/>
              </a:path>
            </a:pathLst>
          </a:custGeom>
          <a:solidFill>
            <a:srgbClr val="00E5CC"/>
          </a:solidFill>
          <a:ln/>
        </p:spPr>
      </p:sp>
      <p:sp>
        <p:nvSpPr>
          <p:cNvPr id="7" name="Text 4"/>
          <p:cNvSpPr/>
          <p:nvPr/>
        </p:nvSpPr>
        <p:spPr>
          <a:xfrm>
            <a:off x="844550" y="1435695"/>
            <a:ext cx="20275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1 · Pie: product type</a:t>
            </a:r>
            <a:endParaRPr lang="en-US" sz="1200" dirty="0"/>
          </a:p>
        </p:txBody>
      </p:sp>
      <p:sp>
        <p:nvSpPr>
          <p:cNvPr id="8" name="Shape 5"/>
          <p:cNvSpPr/>
          <p:nvPr/>
        </p:nvSpPr>
        <p:spPr>
          <a:xfrm>
            <a:off x="844550" y="1725216"/>
            <a:ext cx="1981200" cy="2095500"/>
          </a:xfrm>
          <a:prstGeom prst="roundRect">
            <a:avLst>
              <a:gd name="adj" fmla="val 1923"/>
            </a:avLst>
          </a:prstGeom>
          <a:solidFill>
            <a:srgbClr val="FFFFFF"/>
          </a:solidFill>
          <a:ln/>
        </p:spPr>
      </p:sp>
      <p:pic>
        <p:nvPicPr>
          <p:cNvPr id="9" name="Image 1" descr="Pie chart of product quality types L, M and H">    </p:cNvPr>
          <p:cNvPicPr>
            <a:picLocks noChangeAspect="1"/>
          </p:cNvPicPr>
          <p:nvPr/>
        </p:nvPicPr>
        <p:blipFill>
          <a:blip r:embed="rId2"/>
          <a:srcRect l="0" r="0" t="-36" b="-36"/>
          <a:stretch/>
        </p:blipFill>
        <p:spPr>
          <a:xfrm>
            <a:off x="844550" y="1725216"/>
            <a:ext cx="1981200" cy="2095500"/>
          </a:xfrm>
          <a:prstGeom prst="roundRect">
            <a:avLst>
              <a:gd name="adj" fmla="val 1923"/>
            </a:avLst>
          </a:prstGeom>
        </p:spPr>
      </p:pic>
      <p:sp>
        <p:nvSpPr>
          <p:cNvPr id="10" name="Text 6"/>
          <p:cNvSpPr/>
          <p:nvPr/>
        </p:nvSpPr>
        <p:spPr>
          <a:xfrm>
            <a:off x="844550" y="3896916"/>
            <a:ext cx="202755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61% of machines are Low quality (L).</a:t>
            </a:r>
            <a:endParaRPr lang="en-US" sz="1200" dirty="0"/>
          </a:p>
        </p:txBody>
      </p:sp>
      <p:sp>
        <p:nvSpPr>
          <p:cNvPr id="11" name="Shape 7"/>
          <p:cNvSpPr/>
          <p:nvPr/>
        </p:nvSpPr>
        <p:spPr>
          <a:xfrm>
            <a:off x="3101975" y="1280120"/>
            <a:ext cx="3079750" cy="3173611"/>
          </a:xfrm>
          <a:prstGeom prst="roundRect">
            <a:avLst>
              <a:gd name="adj" fmla="val 1959"/>
            </a:avLst>
          </a:prstGeom>
          <a:solidFill>
            <a:srgbClr val="111111"/>
          </a:solidFill>
          <a:ln w="6350">
            <a:solidFill>
              <a:srgbClr val="222222"/>
            </a:solidFill>
            <a:prstDash val="solid"/>
          </a:ln>
        </p:spPr>
      </p:sp>
      <p:sp>
        <p:nvSpPr>
          <p:cNvPr id="12" name="Shape 8"/>
          <p:cNvSpPr/>
          <p:nvPr/>
        </p:nvSpPr>
        <p:spPr>
          <a:xfrm>
            <a:off x="3105150" y="1283295"/>
            <a:ext cx="3073400" cy="25400"/>
          </a:xfrm>
          <a:custGeom>
            <a:avLst/>
            <a:gdLst/>
            <a:ahLst/>
            <a:cxnLst/>
            <a:rect l="l" t="t" r="r" b="b"/>
            <a:pathLst>
              <a:path w="3073400" h="25400">
                <a:moveTo>
                  <a:pt x="9631" y="25400"/>
                </a:moveTo>
                <a:arcTo hR="57150" wR="57150" stAng="12824939" swAng="3375061"/>
                <a:lnTo>
                  <a:pt x="3016250" y="0"/>
                </a:lnTo>
                <a:arcTo hR="57150" wR="57150" stAng="16200000" swAng="3375061"/>
                <a:close/>
              </a:path>
            </a:pathLst>
          </a:custGeom>
          <a:solidFill>
            <a:srgbClr val="3D7EFF"/>
          </a:solidFill>
          <a:ln/>
        </p:spPr>
      </p:sp>
      <p:sp>
        <p:nvSpPr>
          <p:cNvPr id="13" name="Text 9"/>
          <p:cNvSpPr/>
          <p:nvPr/>
        </p:nvSpPr>
        <p:spPr>
          <a:xfrm>
            <a:off x="3232150" y="1435695"/>
            <a:ext cx="29039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2 · Bar: failure rate by type</a:t>
            </a:r>
            <a:endParaRPr lang="en-US" sz="1200" dirty="0"/>
          </a:p>
        </p:txBody>
      </p:sp>
      <p:sp>
        <p:nvSpPr>
          <p:cNvPr id="14" name="Shape 10"/>
          <p:cNvSpPr/>
          <p:nvPr/>
        </p:nvSpPr>
        <p:spPr>
          <a:xfrm>
            <a:off x="3232150" y="1725216"/>
            <a:ext cx="2832100" cy="2095500"/>
          </a:xfrm>
          <a:prstGeom prst="roundRect">
            <a:avLst>
              <a:gd name="adj" fmla="val 1818"/>
            </a:avLst>
          </a:prstGeom>
          <a:solidFill>
            <a:srgbClr val="FFFFFF"/>
          </a:solidFill>
          <a:ln/>
        </p:spPr>
      </p:sp>
      <p:pic>
        <p:nvPicPr>
          <p:cNvPr id="15" name="Image 2" descr="Bar chart of failure rate by product type">    </p:cNvPr>
          <p:cNvPicPr>
            <a:picLocks noChangeAspect="1"/>
          </p:cNvPicPr>
          <p:nvPr/>
        </p:nvPicPr>
        <p:blipFill>
          <a:blip r:embed="rId3"/>
          <a:srcRect l="-14" r="-14" t="0" b="0"/>
          <a:stretch/>
        </p:blipFill>
        <p:spPr>
          <a:xfrm>
            <a:off x="3232150" y="1725216"/>
            <a:ext cx="2832100" cy="2095500"/>
          </a:xfrm>
          <a:prstGeom prst="roundRect">
            <a:avLst>
              <a:gd name="adj" fmla="val 1818"/>
            </a:avLst>
          </a:prstGeom>
        </p:spPr>
      </p:pic>
      <p:sp>
        <p:nvSpPr>
          <p:cNvPr id="16" name="Text 11"/>
          <p:cNvSpPr/>
          <p:nvPr/>
        </p:nvSpPr>
        <p:spPr>
          <a:xfrm>
            <a:off x="3232150" y="3896916"/>
            <a:ext cx="290398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Rates are close across L, M and H: type alone is a weak predictor.</a:t>
            </a:r>
            <a:endParaRPr lang="en-US" sz="1200" dirty="0"/>
          </a:p>
        </p:txBody>
      </p:sp>
      <p:sp>
        <p:nvSpPr>
          <p:cNvPr id="17" name="Shape 12"/>
          <p:cNvSpPr/>
          <p:nvPr/>
        </p:nvSpPr>
        <p:spPr>
          <a:xfrm>
            <a:off x="6340475" y="1280120"/>
            <a:ext cx="4902200" cy="3173611"/>
          </a:xfrm>
          <a:prstGeom prst="roundRect">
            <a:avLst>
              <a:gd name="adj" fmla="val 1901"/>
            </a:avLst>
          </a:prstGeom>
          <a:solidFill>
            <a:srgbClr val="111111"/>
          </a:solidFill>
          <a:ln w="6350">
            <a:solidFill>
              <a:srgbClr val="222222"/>
            </a:solidFill>
            <a:prstDash val="solid"/>
          </a:ln>
        </p:spPr>
      </p:sp>
      <p:sp>
        <p:nvSpPr>
          <p:cNvPr id="18" name="Shape 13"/>
          <p:cNvSpPr/>
          <p:nvPr/>
        </p:nvSpPr>
        <p:spPr>
          <a:xfrm>
            <a:off x="6343650" y="1283295"/>
            <a:ext cx="4895850" cy="25400"/>
          </a:xfrm>
          <a:custGeom>
            <a:avLst/>
            <a:gdLst/>
            <a:ahLst/>
            <a:cxnLst/>
            <a:rect l="l" t="t" r="r" b="b"/>
            <a:pathLst>
              <a:path w="4895850" h="25400">
                <a:moveTo>
                  <a:pt x="9631" y="25400"/>
                </a:moveTo>
                <a:arcTo hR="57150" wR="57150" stAng="12824939" swAng="3375061"/>
                <a:lnTo>
                  <a:pt x="4838700" y="0"/>
                </a:lnTo>
                <a:arcTo hR="57150" wR="57150" stAng="16200000" swAng="3375061"/>
                <a:close/>
              </a:path>
            </a:pathLst>
          </a:custGeom>
          <a:solidFill>
            <a:srgbClr val="00E5CC"/>
          </a:solidFill>
          <a:ln/>
        </p:spPr>
      </p:sp>
      <p:sp>
        <p:nvSpPr>
          <p:cNvPr id="19" name="Text 14"/>
          <p:cNvSpPr/>
          <p:nvPr/>
        </p:nvSpPr>
        <p:spPr>
          <a:xfrm>
            <a:off x="6470650" y="1435695"/>
            <a:ext cx="47811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4 · Box: torque and tool wear by failure</a:t>
            </a:r>
            <a:endParaRPr lang="en-US" sz="1200" dirty="0"/>
          </a:p>
        </p:txBody>
      </p:sp>
      <p:sp>
        <p:nvSpPr>
          <p:cNvPr id="20" name="Shape 15"/>
          <p:cNvSpPr/>
          <p:nvPr/>
        </p:nvSpPr>
        <p:spPr>
          <a:xfrm>
            <a:off x="6470650" y="1725216"/>
            <a:ext cx="4654550" cy="2095500"/>
          </a:xfrm>
          <a:prstGeom prst="roundRect">
            <a:avLst>
              <a:gd name="adj" fmla="val 1818"/>
            </a:avLst>
          </a:prstGeom>
          <a:solidFill>
            <a:srgbClr val="FFFFFF"/>
          </a:solidFill>
          <a:ln/>
        </p:spPr>
      </p:sp>
      <p:pic>
        <p:nvPicPr>
          <p:cNvPr id="21" name="Image 3" descr="Box plots of torque and tool wear for machines with and without failure">    </p:cNvPr>
          <p:cNvPicPr>
            <a:picLocks noChangeAspect="1"/>
          </p:cNvPicPr>
          <p:nvPr/>
        </p:nvPicPr>
        <p:blipFill>
          <a:blip r:embed="rId4"/>
          <a:srcRect l="0" r="0" t="-28" b="-28"/>
          <a:stretch/>
        </p:blipFill>
        <p:spPr>
          <a:xfrm>
            <a:off x="6470650" y="1725216"/>
            <a:ext cx="4654550" cy="2095500"/>
          </a:xfrm>
          <a:prstGeom prst="roundRect">
            <a:avLst>
              <a:gd name="adj" fmla="val 1818"/>
            </a:avLst>
          </a:prstGeom>
        </p:spPr>
      </p:pic>
      <p:sp>
        <p:nvSpPr>
          <p:cNvPr id="22" name="Text 16"/>
          <p:cNvSpPr/>
          <p:nvPr/>
        </p:nvSpPr>
        <p:spPr>
          <a:xfrm>
            <a:off x="6470650" y="3896916"/>
            <a:ext cx="47811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Failed machines run at higher torque and wear. No dots beyond the whiskers: the IQR capping worked.</a:t>
            </a:r>
            <a:endParaRPr lang="en-US" sz="1200" dirty="0"/>
          </a:p>
        </p:txBody>
      </p:sp>
      <p:sp>
        <p:nvSpPr>
          <p:cNvPr id="23" name="Shape 17"/>
          <p:cNvSpPr/>
          <p:nvPr/>
        </p:nvSpPr>
        <p:spPr>
          <a:xfrm>
            <a:off x="714375" y="4637881"/>
            <a:ext cx="10763250" cy="948531"/>
          </a:xfrm>
          <a:prstGeom prst="roundRect">
            <a:avLst>
              <a:gd name="adj" fmla="val 6360"/>
            </a:avLst>
          </a:prstGeom>
          <a:solidFill>
            <a:srgbClr val="111111"/>
          </a:solidFill>
          <a:ln w="6350">
            <a:solidFill>
              <a:srgbClr val="222222"/>
            </a:solidFill>
            <a:prstDash val="solid"/>
          </a:ln>
        </p:spPr>
      </p:sp>
      <p:sp>
        <p:nvSpPr>
          <p:cNvPr id="24" name="Text 18"/>
          <p:cNvSpPr/>
          <p:nvPr/>
        </p:nvSpPr>
        <p:spPr>
          <a:xfrm>
            <a:off x="895350" y="4755356"/>
            <a:ext cx="107133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WHY THESE CHARTS</a:t>
            </a:r>
            <a:endParaRPr lang="en-US" sz="1200" dirty="0"/>
          </a:p>
        </p:txBody>
      </p:sp>
      <p:sp>
        <p:nvSpPr>
          <p:cNvPr id="25" name="Text 19"/>
          <p:cNvSpPr/>
          <p:nvPr/>
        </p:nvSpPr>
        <p:spPr>
          <a:xfrm>
            <a:off x="895350" y="5006777"/>
            <a:ext cx="1071333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5F5"/>
                </a:solidFill>
                <a:latin typeface="Inter" pitchFamily="34" charset="0"/>
                <a:ea typeface="Inter" pitchFamily="34" charset="-122"/>
                <a:cs typeface="Inter" pitchFamily="34" charset="-120"/>
              </a:rPr>
              <a:t>The pie shows the category mix, the bar tests whether it explains failures, and the box plots compare each sensor across outcomes and confirm outliers were handled.</a:t>
            </a:r>
            <a:endParaRPr lang="en-US" sz="1300" dirty="0"/>
          </a:p>
        </p:txBody>
      </p:sp>
      <p:sp>
        <p:nvSpPr>
          <p:cNvPr id="26" name="Text 20"/>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27" name="Text 21"/>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917990" y="457200"/>
            <a:ext cx="4356021"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STEP 3 · VISUAL EXPLORATION (2 OF 2)</a:t>
            </a:r>
            <a:endParaRPr lang="en-US" sz="1200" dirty="0"/>
          </a:p>
        </p:txBody>
      </p:sp>
      <p:sp>
        <p:nvSpPr>
          <p:cNvPr id="4" name="Text 1"/>
          <p:cNvSpPr/>
          <p:nvPr>
            <p:ph type="title"/>
          </p:nvPr>
        </p:nvSpPr>
        <p:spPr>
          <a:xfrm>
            <a:off x="1720215" y="734020"/>
            <a:ext cx="8751570"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Distributions, Speed vs Torque and Wear Trend</a:t>
            </a:r>
            <a:endParaRPr lang="en-US" sz="2500" dirty="0"/>
          </a:p>
        </p:txBody>
      </p:sp>
      <p:sp>
        <p:nvSpPr>
          <p:cNvPr id="5" name="Shape 2"/>
          <p:cNvSpPr/>
          <p:nvPr/>
        </p:nvSpPr>
        <p:spPr>
          <a:xfrm>
            <a:off x="714375" y="1280120"/>
            <a:ext cx="4083050" cy="3323431"/>
          </a:xfrm>
          <a:prstGeom prst="roundRect">
            <a:avLst>
              <a:gd name="adj" fmla="val 1815"/>
            </a:avLst>
          </a:prstGeom>
          <a:solidFill>
            <a:srgbClr val="111111"/>
          </a:solidFill>
          <a:ln w="6350">
            <a:solidFill>
              <a:srgbClr val="222222"/>
            </a:solidFill>
            <a:prstDash val="solid"/>
          </a:ln>
        </p:spPr>
      </p:sp>
      <p:sp>
        <p:nvSpPr>
          <p:cNvPr id="6" name="Shape 3"/>
          <p:cNvSpPr/>
          <p:nvPr/>
        </p:nvSpPr>
        <p:spPr>
          <a:xfrm>
            <a:off x="717550" y="1283295"/>
            <a:ext cx="4076700" cy="25400"/>
          </a:xfrm>
          <a:custGeom>
            <a:avLst/>
            <a:gdLst/>
            <a:ahLst/>
            <a:cxnLst/>
            <a:rect l="l" t="t" r="r" b="b"/>
            <a:pathLst>
              <a:path w="4076700" h="25400">
                <a:moveTo>
                  <a:pt x="9631" y="25400"/>
                </a:moveTo>
                <a:arcTo hR="57150" wR="57150" stAng="12824939" swAng="3375061"/>
                <a:lnTo>
                  <a:pt x="4019550" y="0"/>
                </a:lnTo>
                <a:arcTo hR="57150" wR="57150" stAng="16200000" swAng="3375061"/>
                <a:close/>
              </a:path>
            </a:pathLst>
          </a:custGeom>
          <a:solidFill>
            <a:srgbClr val="00E5CC"/>
          </a:solidFill>
          <a:ln/>
        </p:spPr>
      </p:sp>
      <p:sp>
        <p:nvSpPr>
          <p:cNvPr id="7" name="Text 4"/>
          <p:cNvSpPr/>
          <p:nvPr/>
        </p:nvSpPr>
        <p:spPr>
          <a:xfrm>
            <a:off x="844550" y="1435695"/>
            <a:ext cx="393738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3 · Histograms: five variables</a:t>
            </a:r>
            <a:endParaRPr lang="en-US" sz="1200" dirty="0"/>
          </a:p>
        </p:txBody>
      </p:sp>
      <p:sp>
        <p:nvSpPr>
          <p:cNvPr id="8" name="Shape 5"/>
          <p:cNvSpPr/>
          <p:nvPr/>
        </p:nvSpPr>
        <p:spPr>
          <a:xfrm>
            <a:off x="844550" y="1725216"/>
            <a:ext cx="3835400" cy="2032000"/>
          </a:xfrm>
          <a:prstGeom prst="roundRect">
            <a:avLst>
              <a:gd name="adj" fmla="val 1875"/>
            </a:avLst>
          </a:prstGeom>
          <a:solidFill>
            <a:srgbClr val="FFFFFF"/>
          </a:solidFill>
          <a:ln/>
        </p:spPr>
      </p:sp>
      <p:pic>
        <p:nvPicPr>
          <p:cNvPr id="9" name="Image 1" descr="Histograms of the five numeric variables with mean and median lines">    </p:cNvPr>
          <p:cNvPicPr>
            <a:picLocks noChangeAspect="1"/>
          </p:cNvPicPr>
          <p:nvPr/>
        </p:nvPicPr>
        <p:blipFill>
          <a:blip r:embed="rId2"/>
          <a:srcRect l="-8" r="-8" t="0" b="0"/>
          <a:stretch/>
        </p:blipFill>
        <p:spPr>
          <a:xfrm>
            <a:off x="844550" y="1725216"/>
            <a:ext cx="3835400" cy="2032000"/>
          </a:xfrm>
          <a:prstGeom prst="roundRect">
            <a:avLst>
              <a:gd name="adj" fmla="val 1875"/>
            </a:avLst>
          </a:prstGeom>
        </p:spPr>
      </p:pic>
      <p:sp>
        <p:nvSpPr>
          <p:cNvPr id="10" name="Text 6"/>
          <p:cNvSpPr/>
          <p:nvPr/>
        </p:nvSpPr>
        <p:spPr>
          <a:xfrm>
            <a:off x="844550" y="3833416"/>
            <a:ext cx="3937381"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Temperatures are bell-shaped, speed is right-skewed with a spike at 1953 (the IQR cap), tool wear is near uniform.</a:t>
            </a:r>
            <a:endParaRPr lang="en-US" sz="1200" dirty="0"/>
          </a:p>
        </p:txBody>
      </p:sp>
      <p:sp>
        <p:nvSpPr>
          <p:cNvPr id="11" name="Shape 7"/>
          <p:cNvSpPr/>
          <p:nvPr/>
        </p:nvSpPr>
        <p:spPr>
          <a:xfrm>
            <a:off x="4956175" y="1280120"/>
            <a:ext cx="2882900" cy="3323431"/>
          </a:xfrm>
          <a:prstGeom prst="roundRect">
            <a:avLst>
              <a:gd name="adj" fmla="val 2093"/>
            </a:avLst>
          </a:prstGeom>
          <a:solidFill>
            <a:srgbClr val="111111"/>
          </a:solidFill>
          <a:ln w="6350">
            <a:solidFill>
              <a:srgbClr val="222222"/>
            </a:solidFill>
            <a:prstDash val="solid"/>
          </a:ln>
        </p:spPr>
      </p:sp>
      <p:sp>
        <p:nvSpPr>
          <p:cNvPr id="12" name="Shape 8"/>
          <p:cNvSpPr/>
          <p:nvPr/>
        </p:nvSpPr>
        <p:spPr>
          <a:xfrm>
            <a:off x="4959350" y="1283295"/>
            <a:ext cx="2876550" cy="25400"/>
          </a:xfrm>
          <a:custGeom>
            <a:avLst/>
            <a:gdLst/>
            <a:ahLst/>
            <a:cxnLst/>
            <a:rect l="l" t="t" r="r" b="b"/>
            <a:pathLst>
              <a:path w="2876550" h="25400">
                <a:moveTo>
                  <a:pt x="9631" y="25400"/>
                </a:moveTo>
                <a:arcTo hR="57150" wR="57150" stAng="12824939" swAng="3375061"/>
                <a:lnTo>
                  <a:pt x="2819400" y="0"/>
                </a:lnTo>
                <a:arcTo hR="57150" wR="57150" stAng="16200000" swAng="3375061"/>
                <a:close/>
              </a:path>
            </a:pathLst>
          </a:custGeom>
          <a:solidFill>
            <a:srgbClr val="3D7EFF"/>
          </a:solidFill>
          <a:ln/>
        </p:spPr>
      </p:sp>
      <p:sp>
        <p:nvSpPr>
          <p:cNvPr id="13" name="Text 9"/>
          <p:cNvSpPr/>
          <p:nvPr/>
        </p:nvSpPr>
        <p:spPr>
          <a:xfrm>
            <a:off x="5086350" y="1435695"/>
            <a:ext cx="270122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5 · Scatter: speed vs torque</a:t>
            </a:r>
            <a:endParaRPr lang="en-US" sz="1200" dirty="0"/>
          </a:p>
        </p:txBody>
      </p:sp>
      <p:sp>
        <p:nvSpPr>
          <p:cNvPr id="14" name="Shape 10"/>
          <p:cNvSpPr/>
          <p:nvPr/>
        </p:nvSpPr>
        <p:spPr>
          <a:xfrm>
            <a:off x="5086350" y="1725216"/>
            <a:ext cx="2635250" cy="2032000"/>
          </a:xfrm>
          <a:prstGeom prst="roundRect">
            <a:avLst>
              <a:gd name="adj" fmla="val 1875"/>
            </a:avLst>
          </a:prstGeom>
          <a:solidFill>
            <a:srgbClr val="FFFFFF"/>
          </a:solidFill>
          <a:ln/>
        </p:spPr>
      </p:sp>
      <p:pic>
        <p:nvPicPr>
          <p:cNvPr id="15" name="Image 2" descr="Scatter plot of rotational speed against torque coloured by failure">    </p:cNvPr>
          <p:cNvPicPr>
            <a:picLocks noChangeAspect="1"/>
          </p:cNvPicPr>
          <p:nvPr/>
        </p:nvPicPr>
        <p:blipFill>
          <a:blip r:embed="rId3"/>
          <a:srcRect l="-44" r="-44" t="0" b="0"/>
          <a:stretch/>
        </p:blipFill>
        <p:spPr>
          <a:xfrm>
            <a:off x="5086350" y="1725216"/>
            <a:ext cx="2635250" cy="2032000"/>
          </a:xfrm>
          <a:prstGeom prst="roundRect">
            <a:avLst>
              <a:gd name="adj" fmla="val 1875"/>
            </a:avLst>
          </a:prstGeom>
        </p:spPr>
      </p:pic>
      <p:sp>
        <p:nvSpPr>
          <p:cNvPr id="16" name="Text 11"/>
          <p:cNvSpPr/>
          <p:nvPr/>
        </p:nvSpPr>
        <p:spPr>
          <a:xfrm>
            <a:off x="5086350" y="3833416"/>
            <a:ext cx="2701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Inverse relation (r = −0.72). Failures cluster at low speed and high torque.</a:t>
            </a:r>
            <a:endParaRPr lang="en-US" sz="1200" dirty="0"/>
          </a:p>
        </p:txBody>
      </p:sp>
      <p:sp>
        <p:nvSpPr>
          <p:cNvPr id="17" name="Shape 12"/>
          <p:cNvSpPr/>
          <p:nvPr/>
        </p:nvSpPr>
        <p:spPr>
          <a:xfrm>
            <a:off x="7997825" y="1280120"/>
            <a:ext cx="3155950" cy="3323431"/>
          </a:xfrm>
          <a:prstGeom prst="roundRect">
            <a:avLst>
              <a:gd name="adj" fmla="val 1911"/>
            </a:avLst>
          </a:prstGeom>
          <a:solidFill>
            <a:srgbClr val="111111"/>
          </a:solidFill>
          <a:ln w="6350">
            <a:solidFill>
              <a:srgbClr val="222222"/>
            </a:solidFill>
            <a:prstDash val="solid"/>
          </a:ln>
        </p:spPr>
      </p:sp>
      <p:sp>
        <p:nvSpPr>
          <p:cNvPr id="18" name="Shape 13"/>
          <p:cNvSpPr/>
          <p:nvPr/>
        </p:nvSpPr>
        <p:spPr>
          <a:xfrm>
            <a:off x="8001000" y="1283295"/>
            <a:ext cx="3149600" cy="25400"/>
          </a:xfrm>
          <a:custGeom>
            <a:avLst/>
            <a:gdLst/>
            <a:ahLst/>
            <a:cxnLst/>
            <a:rect l="l" t="t" r="r" b="b"/>
            <a:pathLst>
              <a:path w="3149600" h="25400">
                <a:moveTo>
                  <a:pt x="9631" y="25400"/>
                </a:moveTo>
                <a:arcTo hR="57150" wR="57150" stAng="12824939" swAng="3375061"/>
                <a:lnTo>
                  <a:pt x="3092450" y="0"/>
                </a:lnTo>
                <a:arcTo hR="57150" wR="57150" stAng="16200000" swAng="3375061"/>
                <a:close/>
              </a:path>
            </a:pathLst>
          </a:custGeom>
          <a:solidFill>
            <a:srgbClr val="00E5CC"/>
          </a:solidFill>
          <a:ln/>
        </p:spPr>
      </p:sp>
      <p:sp>
        <p:nvSpPr>
          <p:cNvPr id="19" name="Text 14"/>
          <p:cNvSpPr/>
          <p:nvPr/>
        </p:nvSpPr>
        <p:spPr>
          <a:xfrm>
            <a:off x="8128000" y="1435695"/>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6 · Line: failure vs tool wear</a:t>
            </a:r>
            <a:endParaRPr lang="en-US" sz="1200" dirty="0"/>
          </a:p>
        </p:txBody>
      </p:sp>
      <p:sp>
        <p:nvSpPr>
          <p:cNvPr id="20" name="Shape 15"/>
          <p:cNvSpPr/>
          <p:nvPr/>
        </p:nvSpPr>
        <p:spPr>
          <a:xfrm>
            <a:off x="8128000" y="1725216"/>
            <a:ext cx="2908300" cy="2032000"/>
          </a:xfrm>
          <a:prstGeom prst="roundRect">
            <a:avLst>
              <a:gd name="adj" fmla="val 1875"/>
            </a:avLst>
          </a:prstGeom>
          <a:solidFill>
            <a:srgbClr val="FFFFFF"/>
          </a:solidFill>
          <a:ln/>
        </p:spPr>
      </p:sp>
      <p:pic>
        <p:nvPicPr>
          <p:cNvPr id="21" name="Image 3" descr="Line chart of failure probability across tool wear bins">    </p:cNvPr>
          <p:cNvPicPr>
            <a:picLocks noChangeAspect="1"/>
          </p:cNvPicPr>
          <p:nvPr/>
        </p:nvPicPr>
        <p:blipFill>
          <a:blip r:embed="rId4"/>
          <a:srcRect l="-24" r="-24" t="0" b="0"/>
          <a:stretch/>
        </p:blipFill>
        <p:spPr>
          <a:xfrm>
            <a:off x="8128000" y="1725216"/>
            <a:ext cx="2908300" cy="2032000"/>
          </a:xfrm>
          <a:prstGeom prst="roundRect">
            <a:avLst>
              <a:gd name="adj" fmla="val 1875"/>
            </a:avLst>
          </a:prstGeom>
        </p:spPr>
      </p:pic>
      <p:sp>
        <p:nvSpPr>
          <p:cNvPr id="22" name="Text 16"/>
          <p:cNvSpPr/>
          <p:nvPr/>
        </p:nvSpPr>
        <p:spPr>
          <a:xfrm>
            <a:off x="8128000" y="3833416"/>
            <a:ext cx="298246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About 12–20% up to 175 min, then 33%, 52%, 79%. The last bin has few rows, so its 100% is not quoted.</a:t>
            </a:r>
            <a:endParaRPr lang="en-US" sz="1200" dirty="0"/>
          </a:p>
        </p:txBody>
      </p:sp>
      <p:sp>
        <p:nvSpPr>
          <p:cNvPr id="23" name="Shape 17"/>
          <p:cNvSpPr/>
          <p:nvPr/>
        </p:nvSpPr>
        <p:spPr>
          <a:xfrm>
            <a:off x="714375" y="4787702"/>
            <a:ext cx="10763250" cy="948531"/>
          </a:xfrm>
          <a:prstGeom prst="roundRect">
            <a:avLst>
              <a:gd name="adj" fmla="val 6360"/>
            </a:avLst>
          </a:prstGeom>
          <a:solidFill>
            <a:srgbClr val="111111"/>
          </a:solidFill>
          <a:ln w="6350">
            <a:solidFill>
              <a:srgbClr val="222222"/>
            </a:solidFill>
            <a:prstDash val="solid"/>
          </a:ln>
        </p:spPr>
      </p:sp>
      <p:sp>
        <p:nvSpPr>
          <p:cNvPr id="24" name="Text 18"/>
          <p:cNvSpPr/>
          <p:nvPr/>
        </p:nvSpPr>
        <p:spPr>
          <a:xfrm>
            <a:off x="895350" y="4905177"/>
            <a:ext cx="107133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D7EFF"/>
                </a:solidFill>
                <a:latin typeface="Inter" pitchFamily="34" charset="0"/>
                <a:ea typeface="Inter" pitchFamily="34" charset="-122"/>
                <a:cs typeface="Inter" pitchFamily="34" charset="-120"/>
              </a:rPr>
              <a:t>WHY THESE CHARTS</a:t>
            </a:r>
            <a:endParaRPr lang="en-US" sz="1200" dirty="0"/>
          </a:p>
        </p:txBody>
      </p:sp>
      <p:sp>
        <p:nvSpPr>
          <p:cNvPr id="25" name="Text 19"/>
          <p:cNvSpPr/>
          <p:nvPr/>
        </p:nvSpPr>
        <p:spPr>
          <a:xfrm>
            <a:off x="895350" y="5156597"/>
            <a:ext cx="1071333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5F5"/>
                </a:solidFill>
                <a:latin typeface="Inter" pitchFamily="34" charset="0"/>
                <a:ea typeface="Inter" pitchFamily="34" charset="-122"/>
                <a:cs typeface="Inter" pitchFamily="34" charset="-120"/>
              </a:rPr>
              <a:t>Histograms check normality before scaling, the scatter shows how two sensors move together, and the trend line shows where risk starts to climb: before about 200 minutes.</a:t>
            </a:r>
            <a:endParaRPr lang="en-US" sz="1300" dirty="0"/>
          </a:p>
        </p:txBody>
      </p:sp>
      <p:sp>
        <p:nvSpPr>
          <p:cNvPr id="26" name="Text 20"/>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27" name="Text 21"/>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028837" y="457200"/>
            <a:ext cx="4134326"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STEP 4 · STATISTICAL ASSOCIATIONS</a:t>
            </a:r>
            <a:endParaRPr lang="en-US" sz="1200" dirty="0"/>
          </a:p>
        </p:txBody>
      </p:sp>
      <p:sp>
        <p:nvSpPr>
          <p:cNvPr id="4" name="Text 1"/>
          <p:cNvSpPr/>
          <p:nvPr>
            <p:ph type="title"/>
          </p:nvPr>
        </p:nvSpPr>
        <p:spPr>
          <a:xfrm>
            <a:off x="3482340" y="734020"/>
            <a:ext cx="5227320"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Correlation Is Not Causation</a:t>
            </a:r>
            <a:endParaRPr lang="en-US" sz="2500" dirty="0"/>
          </a:p>
        </p:txBody>
      </p:sp>
      <p:sp>
        <p:nvSpPr>
          <p:cNvPr id="5" name="Shape 2"/>
          <p:cNvSpPr/>
          <p:nvPr/>
        </p:nvSpPr>
        <p:spPr>
          <a:xfrm>
            <a:off x="714375" y="1280120"/>
            <a:ext cx="5010150" cy="4433491"/>
          </a:xfrm>
          <a:prstGeom prst="roundRect">
            <a:avLst>
              <a:gd name="adj" fmla="val 1361"/>
            </a:avLst>
          </a:prstGeom>
          <a:solidFill>
            <a:srgbClr val="111111"/>
          </a:solidFill>
          <a:ln w="6350">
            <a:solidFill>
              <a:srgbClr val="222222"/>
            </a:solidFill>
            <a:prstDash val="solid"/>
          </a:ln>
        </p:spPr>
      </p:sp>
      <p:sp>
        <p:nvSpPr>
          <p:cNvPr id="6" name="Shape 3"/>
          <p:cNvSpPr/>
          <p:nvPr/>
        </p:nvSpPr>
        <p:spPr>
          <a:xfrm>
            <a:off x="717550" y="1283295"/>
            <a:ext cx="5003800" cy="25400"/>
          </a:xfrm>
          <a:custGeom>
            <a:avLst/>
            <a:gdLst/>
            <a:ahLst/>
            <a:cxnLst/>
            <a:rect l="l" t="t" r="r" b="b"/>
            <a:pathLst>
              <a:path w="5003800" h="25400">
                <a:moveTo>
                  <a:pt x="9631" y="25400"/>
                </a:moveTo>
                <a:arcTo hR="57150" wR="57150" stAng="12824939" swAng="3375061"/>
                <a:lnTo>
                  <a:pt x="4946650" y="0"/>
                </a:lnTo>
                <a:arcTo hR="57150" wR="57150" stAng="16200000" swAng="3375061"/>
                <a:close/>
              </a:path>
            </a:pathLst>
          </a:custGeom>
          <a:solidFill>
            <a:srgbClr val="00E5CC"/>
          </a:solidFill>
          <a:ln/>
        </p:spPr>
      </p:sp>
      <p:sp>
        <p:nvSpPr>
          <p:cNvPr id="7" name="Shape 4"/>
          <p:cNvSpPr/>
          <p:nvPr/>
        </p:nvSpPr>
        <p:spPr>
          <a:xfrm>
            <a:off x="844550" y="1435695"/>
            <a:ext cx="4762500" cy="3644900"/>
          </a:xfrm>
          <a:prstGeom prst="roundRect">
            <a:avLst>
              <a:gd name="adj" fmla="val 1045"/>
            </a:avLst>
          </a:prstGeom>
          <a:solidFill>
            <a:srgbClr val="FFFFFF"/>
          </a:solidFill>
          <a:ln/>
        </p:spPr>
      </p:sp>
      <p:pic>
        <p:nvPicPr>
          <p:cNvPr id="8" name="Image 1" descr="Correlation heatmap of the five numeric variables and machine failure">    </p:cNvPr>
          <p:cNvPicPr>
            <a:picLocks noChangeAspect="1"/>
          </p:cNvPicPr>
          <p:nvPr/>
        </p:nvPicPr>
        <p:blipFill>
          <a:blip r:embed="rId2"/>
          <a:srcRect l="0" r="0" t="-6" b="-6"/>
          <a:stretch/>
        </p:blipFill>
        <p:spPr>
          <a:xfrm>
            <a:off x="844550" y="1435695"/>
            <a:ext cx="4762500" cy="3644900"/>
          </a:xfrm>
          <a:prstGeom prst="roundRect">
            <a:avLst>
              <a:gd name="adj" fmla="val 1045"/>
            </a:avLst>
          </a:prstGeom>
        </p:spPr>
      </p:pic>
      <p:sp>
        <p:nvSpPr>
          <p:cNvPr id="9" name="Text 5"/>
          <p:cNvSpPr/>
          <p:nvPr/>
        </p:nvSpPr>
        <p:spPr>
          <a:xfrm>
            <a:off x="844550" y="5156795"/>
            <a:ext cx="48922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A heatmap summarizes every linear relationship at once and reveals repeated information (multicollinearity).</a:t>
            </a:r>
            <a:endParaRPr lang="en-US" sz="1200" dirty="0"/>
          </a:p>
        </p:txBody>
      </p:sp>
      <p:sp>
        <p:nvSpPr>
          <p:cNvPr id="10" name="Shape 6"/>
          <p:cNvSpPr/>
          <p:nvPr/>
        </p:nvSpPr>
        <p:spPr>
          <a:xfrm>
            <a:off x="5883275" y="1280120"/>
            <a:ext cx="5594350" cy="999331"/>
          </a:xfrm>
          <a:prstGeom prst="roundRect">
            <a:avLst>
              <a:gd name="adj" fmla="val 6037"/>
            </a:avLst>
          </a:prstGeom>
          <a:solidFill>
            <a:srgbClr val="111111"/>
          </a:solidFill>
          <a:ln w="6350">
            <a:solidFill>
              <a:srgbClr val="222222"/>
            </a:solidFill>
            <a:prstDash val="solid"/>
          </a:ln>
        </p:spPr>
      </p:sp>
      <p:sp>
        <p:nvSpPr>
          <p:cNvPr id="11" name="Shape 7"/>
          <p:cNvSpPr/>
          <p:nvPr/>
        </p:nvSpPr>
        <p:spPr>
          <a:xfrm>
            <a:off x="5886450" y="1283295"/>
            <a:ext cx="5588000" cy="25400"/>
          </a:xfrm>
          <a:custGeom>
            <a:avLst/>
            <a:gdLst/>
            <a:ahLst/>
            <a:cxnLst/>
            <a:rect l="l" t="t" r="r" b="b"/>
            <a:pathLst>
              <a:path w="5588000" h="25400">
                <a:moveTo>
                  <a:pt x="9631" y="25400"/>
                </a:moveTo>
                <a:arcTo hR="57150" wR="57150" stAng="12824939" swAng="3375061"/>
                <a:lnTo>
                  <a:pt x="5530850" y="0"/>
                </a:lnTo>
                <a:arcTo hR="57150" wR="57150" stAng="16200000" swAng="3375061"/>
                <a:close/>
              </a:path>
            </a:pathLst>
          </a:custGeom>
          <a:solidFill>
            <a:srgbClr val="00E5CC"/>
          </a:solidFill>
          <a:ln/>
        </p:spPr>
      </p:sp>
      <p:sp>
        <p:nvSpPr>
          <p:cNvPr id="12" name="Text 8"/>
          <p:cNvSpPr/>
          <p:nvPr/>
        </p:nvSpPr>
        <p:spPr>
          <a:xfrm>
            <a:off x="6051550" y="1435695"/>
            <a:ext cx="1656636" cy="2742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5F5"/>
                </a:solidFill>
                <a:latin typeface="Inter" pitchFamily="34" charset="0"/>
                <a:ea typeface="Inter" pitchFamily="34" charset="-122"/>
                <a:cs typeface="Inter" pitchFamily="34" charset="-120"/>
              </a:rPr>
              <a:t>Torque vs Failure</a:t>
            </a:r>
            <a:endParaRPr lang="en-US" sz="1300" dirty="0"/>
          </a:p>
        </p:txBody>
      </p:sp>
      <p:sp>
        <p:nvSpPr>
          <p:cNvPr id="13" name="Text 9"/>
          <p:cNvSpPr/>
          <p:nvPr/>
        </p:nvSpPr>
        <p:spPr>
          <a:xfrm>
            <a:off x="10682605" y="1435695"/>
            <a:ext cx="626745"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0E5CC"/>
                </a:solidFill>
                <a:latin typeface="Inter" pitchFamily="34" charset="0"/>
                <a:ea typeface="Inter" pitchFamily="34" charset="-122"/>
                <a:cs typeface="Inter" pitchFamily="34" charset="-120"/>
              </a:rPr>
              <a:t>+0.26</a:t>
            </a:r>
            <a:endParaRPr lang="en-US" sz="1400" dirty="0"/>
          </a:p>
        </p:txBody>
      </p:sp>
      <p:sp>
        <p:nvSpPr>
          <p:cNvPr id="14" name="Text 10"/>
          <p:cNvSpPr/>
          <p:nvPr/>
        </p:nvSpPr>
        <p:spPr>
          <a:xfrm>
            <a:off x="6051550" y="1722636"/>
            <a:ext cx="54155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Strongest link with the target, but only weak to moderate. Torque alone does not explain failures.</a:t>
            </a:r>
            <a:endParaRPr lang="en-US" sz="1200" dirty="0"/>
          </a:p>
        </p:txBody>
      </p:sp>
      <p:sp>
        <p:nvSpPr>
          <p:cNvPr id="15" name="Shape 11"/>
          <p:cNvSpPr/>
          <p:nvPr/>
        </p:nvSpPr>
        <p:spPr>
          <a:xfrm>
            <a:off x="5883275" y="2387402"/>
            <a:ext cx="5594350" cy="999331"/>
          </a:xfrm>
          <a:prstGeom prst="roundRect">
            <a:avLst>
              <a:gd name="adj" fmla="val 6037"/>
            </a:avLst>
          </a:prstGeom>
          <a:solidFill>
            <a:srgbClr val="111111"/>
          </a:solidFill>
          <a:ln w="6350">
            <a:solidFill>
              <a:srgbClr val="222222"/>
            </a:solidFill>
            <a:prstDash val="solid"/>
          </a:ln>
        </p:spPr>
      </p:sp>
      <p:sp>
        <p:nvSpPr>
          <p:cNvPr id="16" name="Shape 12"/>
          <p:cNvSpPr/>
          <p:nvPr/>
        </p:nvSpPr>
        <p:spPr>
          <a:xfrm>
            <a:off x="5886450" y="2390577"/>
            <a:ext cx="5588000" cy="25400"/>
          </a:xfrm>
          <a:custGeom>
            <a:avLst/>
            <a:gdLst/>
            <a:ahLst/>
            <a:cxnLst/>
            <a:rect l="l" t="t" r="r" b="b"/>
            <a:pathLst>
              <a:path w="5588000" h="25400">
                <a:moveTo>
                  <a:pt x="9631" y="25400"/>
                </a:moveTo>
                <a:arcTo hR="57150" wR="57150" stAng="12824939" swAng="3375061"/>
                <a:lnTo>
                  <a:pt x="5530850" y="0"/>
                </a:lnTo>
                <a:arcTo hR="57150" wR="57150" stAng="16200000" swAng="3375061"/>
                <a:close/>
              </a:path>
            </a:pathLst>
          </a:custGeom>
          <a:solidFill>
            <a:srgbClr val="3D7EFF"/>
          </a:solidFill>
          <a:ln/>
        </p:spPr>
      </p:sp>
      <p:sp>
        <p:nvSpPr>
          <p:cNvPr id="17" name="Text 13"/>
          <p:cNvSpPr/>
          <p:nvPr/>
        </p:nvSpPr>
        <p:spPr>
          <a:xfrm>
            <a:off x="6051550" y="2542977"/>
            <a:ext cx="1619488" cy="2742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5F5"/>
                </a:solidFill>
                <a:latin typeface="Inter" pitchFamily="34" charset="0"/>
                <a:ea typeface="Inter" pitchFamily="34" charset="-122"/>
                <a:cs typeface="Inter" pitchFamily="34" charset="-120"/>
              </a:rPr>
              <a:t>Speed vs Torque</a:t>
            </a:r>
            <a:endParaRPr lang="en-US" sz="1300" dirty="0"/>
          </a:p>
        </p:txBody>
      </p:sp>
      <p:sp>
        <p:nvSpPr>
          <p:cNvPr id="18" name="Text 14"/>
          <p:cNvSpPr/>
          <p:nvPr/>
        </p:nvSpPr>
        <p:spPr>
          <a:xfrm>
            <a:off x="10702488" y="2542977"/>
            <a:ext cx="606862"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3D7EFF"/>
                </a:solidFill>
                <a:latin typeface="Inter" pitchFamily="34" charset="0"/>
                <a:ea typeface="Inter" pitchFamily="34" charset="-122"/>
                <a:cs typeface="Inter" pitchFamily="34" charset="-120"/>
              </a:rPr>
              <a:t>−0.72</a:t>
            </a:r>
            <a:endParaRPr lang="en-US" sz="1400" dirty="0"/>
          </a:p>
        </p:txBody>
      </p:sp>
      <p:sp>
        <p:nvSpPr>
          <p:cNvPr id="19" name="Text 15"/>
          <p:cNvSpPr/>
          <p:nvPr/>
        </p:nvSpPr>
        <p:spPr>
          <a:xfrm>
            <a:off x="6051550" y="2829917"/>
            <a:ext cx="54155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Strong inverse link. It is physics (power = torque × angular speed), not coincidence.</a:t>
            </a:r>
            <a:endParaRPr lang="en-US" sz="1200" dirty="0"/>
          </a:p>
        </p:txBody>
      </p:sp>
      <p:sp>
        <p:nvSpPr>
          <p:cNvPr id="20" name="Shape 16"/>
          <p:cNvSpPr/>
          <p:nvPr/>
        </p:nvSpPr>
        <p:spPr>
          <a:xfrm>
            <a:off x="5883275" y="3494683"/>
            <a:ext cx="5594350" cy="999331"/>
          </a:xfrm>
          <a:prstGeom prst="roundRect">
            <a:avLst>
              <a:gd name="adj" fmla="val 6037"/>
            </a:avLst>
          </a:prstGeom>
          <a:solidFill>
            <a:srgbClr val="111111"/>
          </a:solidFill>
          <a:ln w="6350">
            <a:solidFill>
              <a:srgbClr val="222222"/>
            </a:solidFill>
            <a:prstDash val="solid"/>
          </a:ln>
        </p:spPr>
      </p:sp>
      <p:sp>
        <p:nvSpPr>
          <p:cNvPr id="21" name="Shape 17"/>
          <p:cNvSpPr/>
          <p:nvPr/>
        </p:nvSpPr>
        <p:spPr>
          <a:xfrm>
            <a:off x="5886450" y="3497858"/>
            <a:ext cx="5588000" cy="25400"/>
          </a:xfrm>
          <a:custGeom>
            <a:avLst/>
            <a:gdLst/>
            <a:ahLst/>
            <a:cxnLst/>
            <a:rect l="l" t="t" r="r" b="b"/>
            <a:pathLst>
              <a:path w="5588000" h="25400">
                <a:moveTo>
                  <a:pt x="9631" y="25400"/>
                </a:moveTo>
                <a:arcTo hR="57150" wR="57150" stAng="12824939" swAng="3375061"/>
                <a:lnTo>
                  <a:pt x="5530850" y="0"/>
                </a:lnTo>
                <a:arcTo hR="57150" wR="57150" stAng="16200000" swAng="3375061"/>
                <a:close/>
              </a:path>
            </a:pathLst>
          </a:custGeom>
          <a:solidFill>
            <a:srgbClr val="00E5CC"/>
          </a:solidFill>
          <a:ln/>
        </p:spPr>
      </p:sp>
      <p:sp>
        <p:nvSpPr>
          <p:cNvPr id="22" name="Text 18"/>
          <p:cNvSpPr/>
          <p:nvPr/>
        </p:nvSpPr>
        <p:spPr>
          <a:xfrm>
            <a:off x="6051550" y="3650258"/>
            <a:ext cx="1976080" cy="27424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5F5"/>
                </a:solidFill>
                <a:latin typeface="Inter" pitchFamily="34" charset="0"/>
                <a:ea typeface="Inter" pitchFamily="34" charset="-122"/>
                <a:cs typeface="Inter" pitchFamily="34" charset="-120"/>
              </a:rPr>
              <a:t>Air vs Process Temp</a:t>
            </a:r>
            <a:endParaRPr lang="en-US" sz="1300" dirty="0"/>
          </a:p>
        </p:txBody>
      </p:sp>
      <p:sp>
        <p:nvSpPr>
          <p:cNvPr id="23" name="Text 19"/>
          <p:cNvSpPr/>
          <p:nvPr/>
        </p:nvSpPr>
        <p:spPr>
          <a:xfrm>
            <a:off x="10685463" y="3650258"/>
            <a:ext cx="623888" cy="274241"/>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00E5CC"/>
                </a:solidFill>
                <a:latin typeface="Inter" pitchFamily="34" charset="0"/>
                <a:ea typeface="Inter" pitchFamily="34" charset="-122"/>
                <a:cs typeface="Inter" pitchFamily="34" charset="-120"/>
              </a:rPr>
              <a:t>+0.63</a:t>
            </a:r>
            <a:endParaRPr lang="en-US" sz="1400" dirty="0"/>
          </a:p>
        </p:txBody>
      </p:sp>
      <p:sp>
        <p:nvSpPr>
          <p:cNvPr id="24" name="Text 20"/>
          <p:cNvSpPr/>
          <p:nvPr/>
        </p:nvSpPr>
        <p:spPr>
          <a:xfrm>
            <a:off x="6051550" y="3937198"/>
            <a:ext cx="54155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Both follow the plant environment, not one causing the other. 0.63 is the value on our heatmap.</a:t>
            </a:r>
            <a:endParaRPr lang="en-US" sz="1200" dirty="0"/>
          </a:p>
        </p:txBody>
      </p:sp>
      <p:sp>
        <p:nvSpPr>
          <p:cNvPr id="25" name="Shape 21"/>
          <p:cNvSpPr/>
          <p:nvPr/>
        </p:nvSpPr>
        <p:spPr>
          <a:xfrm>
            <a:off x="5883275" y="4601964"/>
            <a:ext cx="5594350" cy="1194891"/>
          </a:xfrm>
          <a:prstGeom prst="roundRect">
            <a:avLst>
              <a:gd name="adj" fmla="val 5049"/>
            </a:avLst>
          </a:prstGeom>
          <a:solidFill>
            <a:srgbClr val="111111"/>
          </a:solidFill>
          <a:ln w="6350">
            <a:solidFill>
              <a:srgbClr val="222222"/>
            </a:solidFill>
            <a:prstDash val="solid"/>
          </a:ln>
        </p:spPr>
      </p:sp>
      <p:sp>
        <p:nvSpPr>
          <p:cNvPr id="26" name="Shape 22"/>
          <p:cNvSpPr/>
          <p:nvPr/>
        </p:nvSpPr>
        <p:spPr>
          <a:xfrm>
            <a:off x="5886450" y="4605139"/>
            <a:ext cx="5588000" cy="25400"/>
          </a:xfrm>
          <a:custGeom>
            <a:avLst/>
            <a:gdLst/>
            <a:ahLst/>
            <a:cxnLst/>
            <a:rect l="l" t="t" r="r" b="b"/>
            <a:pathLst>
              <a:path w="5588000" h="25400">
                <a:moveTo>
                  <a:pt x="9631" y="25400"/>
                </a:moveTo>
                <a:arcTo hR="57150" wR="57150" stAng="12824939" swAng="3375061"/>
                <a:lnTo>
                  <a:pt x="5530850" y="0"/>
                </a:lnTo>
                <a:arcTo hR="57150" wR="57150" stAng="16200000" swAng="3375061"/>
                <a:close/>
              </a:path>
            </a:pathLst>
          </a:custGeom>
          <a:solidFill>
            <a:srgbClr val="FF5A5A"/>
          </a:solidFill>
          <a:ln/>
        </p:spPr>
      </p:sp>
      <p:sp>
        <p:nvSpPr>
          <p:cNvPr id="27" name="Text 23"/>
          <p:cNvSpPr/>
          <p:nvPr/>
        </p:nvSpPr>
        <p:spPr>
          <a:xfrm>
            <a:off x="6051550" y="4757539"/>
            <a:ext cx="5415534"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5A5A"/>
                </a:solidFill>
                <a:latin typeface="Inter" pitchFamily="34" charset="0"/>
                <a:ea typeface="Inter" pitchFamily="34" charset="-122"/>
                <a:cs typeface="Inter" pitchFamily="34" charset="-120"/>
              </a:rPr>
              <a:t>What correlation does not prove</a:t>
            </a:r>
            <a:endParaRPr lang="en-US" sz="1300" dirty="0"/>
          </a:p>
        </p:txBody>
      </p:sp>
      <p:sp>
        <p:nvSpPr>
          <p:cNvPr id="28" name="Text 24"/>
          <p:cNvSpPr/>
          <p:nvPr/>
        </p:nvSpPr>
        <p:spPr>
          <a:xfrm>
            <a:off x="6051550" y="5026720"/>
            <a:ext cx="54155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It gives no direction and rules out no third factor: low speed raises torque and adds stress at once. Causation comes from physical laws or controlled experiments.</a:t>
            </a:r>
            <a:endParaRPr lang="en-US" sz="1200" dirty="0"/>
          </a:p>
        </p:txBody>
      </p:sp>
      <p:sp>
        <p:nvSpPr>
          <p:cNvPr id="29" name="Text 25"/>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0" name="Text 26"/>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738697" y="457200"/>
            <a:ext cx="2714506"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ANALYTICAL SYNTHESIS</a:t>
            </a:r>
            <a:endParaRPr lang="en-US" sz="1200" dirty="0"/>
          </a:p>
        </p:txBody>
      </p:sp>
      <p:sp>
        <p:nvSpPr>
          <p:cNvPr id="4" name="Text 1"/>
          <p:cNvSpPr/>
          <p:nvPr>
            <p:ph type="title"/>
          </p:nvPr>
        </p:nvSpPr>
        <p:spPr>
          <a:xfrm>
            <a:off x="3053120" y="734020"/>
            <a:ext cx="6085761"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Six Insights From the Exploration</a:t>
            </a:r>
            <a:endParaRPr lang="en-US" sz="2500" dirty="0"/>
          </a:p>
        </p:txBody>
      </p:sp>
      <p:sp>
        <p:nvSpPr>
          <p:cNvPr id="5" name="Shape 2"/>
          <p:cNvSpPr/>
          <p:nvPr/>
        </p:nvSpPr>
        <p:spPr>
          <a:xfrm>
            <a:off x="714375" y="1280120"/>
            <a:ext cx="3481884" cy="1588591"/>
          </a:xfrm>
          <a:prstGeom prst="roundRect">
            <a:avLst>
              <a:gd name="adj" fmla="val 3797"/>
            </a:avLst>
          </a:prstGeom>
          <a:solidFill>
            <a:srgbClr val="111111"/>
          </a:solidFill>
          <a:ln w="6350">
            <a:solidFill>
              <a:srgbClr val="222222"/>
            </a:solidFill>
            <a:prstDash val="solid"/>
          </a:ln>
        </p:spPr>
      </p:sp>
      <p:sp>
        <p:nvSpPr>
          <p:cNvPr id="6" name="Shape 3"/>
          <p:cNvSpPr/>
          <p:nvPr/>
        </p:nvSpPr>
        <p:spPr>
          <a:xfrm>
            <a:off x="717550" y="1283295"/>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7" name="Text 4"/>
          <p:cNvSpPr/>
          <p:nvPr/>
        </p:nvSpPr>
        <p:spPr>
          <a:xfrm>
            <a:off x="895350" y="1461095"/>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1. Torque early warning</a:t>
            </a:r>
            <a:endParaRPr lang="en-US" sz="1400" dirty="0"/>
          </a:p>
        </p:txBody>
      </p:sp>
      <p:sp>
        <p:nvSpPr>
          <p:cNvPr id="8" name="Text 5"/>
          <p:cNvSpPr/>
          <p:nvPr/>
        </p:nvSpPr>
        <p:spPr>
          <a:xfrm>
            <a:off x="895350" y="1773436"/>
            <a:ext cx="321353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Torque above 50 Nm raises failure risk 3.46 times (51.16% vs 14.79%). Set an alert at 50 Nm.</a:t>
            </a:r>
            <a:endParaRPr lang="en-US" sz="1200" dirty="0"/>
          </a:p>
        </p:txBody>
      </p:sp>
      <p:sp>
        <p:nvSpPr>
          <p:cNvPr id="9" name="Text 6"/>
          <p:cNvSpPr/>
          <p:nvPr/>
        </p:nvSpPr>
        <p:spPr>
          <a:xfrm>
            <a:off x="895350" y="2499816"/>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Step 2 + box plot</a:t>
            </a:r>
            <a:endParaRPr lang="en-US" sz="1200" dirty="0"/>
          </a:p>
        </p:txBody>
      </p:sp>
      <p:sp>
        <p:nvSpPr>
          <p:cNvPr id="10" name="Shape 7"/>
          <p:cNvSpPr/>
          <p:nvPr/>
        </p:nvSpPr>
        <p:spPr>
          <a:xfrm>
            <a:off x="4355009" y="1280120"/>
            <a:ext cx="3481884" cy="1588591"/>
          </a:xfrm>
          <a:prstGeom prst="roundRect">
            <a:avLst>
              <a:gd name="adj" fmla="val 3797"/>
            </a:avLst>
          </a:prstGeom>
          <a:solidFill>
            <a:srgbClr val="111111"/>
          </a:solidFill>
          <a:ln w="6350">
            <a:solidFill>
              <a:srgbClr val="222222"/>
            </a:solidFill>
            <a:prstDash val="solid"/>
          </a:ln>
        </p:spPr>
      </p:sp>
      <p:sp>
        <p:nvSpPr>
          <p:cNvPr id="11" name="Shape 8"/>
          <p:cNvSpPr/>
          <p:nvPr/>
        </p:nvSpPr>
        <p:spPr>
          <a:xfrm>
            <a:off x="4358184" y="1283295"/>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3D7EFF"/>
          </a:solidFill>
          <a:ln/>
        </p:spPr>
      </p:sp>
      <p:sp>
        <p:nvSpPr>
          <p:cNvPr id="12" name="Text 9"/>
          <p:cNvSpPr/>
          <p:nvPr/>
        </p:nvSpPr>
        <p:spPr>
          <a:xfrm>
            <a:off x="4535984" y="1461095"/>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2. Preventive replacement</a:t>
            </a:r>
            <a:endParaRPr lang="en-US" sz="1400" dirty="0"/>
          </a:p>
        </p:txBody>
      </p:sp>
      <p:sp>
        <p:nvSpPr>
          <p:cNvPr id="13" name="Text 10"/>
          <p:cNvSpPr/>
          <p:nvPr/>
        </p:nvSpPr>
        <p:spPr>
          <a:xfrm>
            <a:off x="4535984" y="1773436"/>
            <a:ext cx="321353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Tool wear above 200 min raises risk 3.11 times (56.55% vs 18.16%). Replace the tool before minute 200.</a:t>
            </a:r>
            <a:endParaRPr lang="en-US" sz="1200" dirty="0"/>
          </a:p>
        </p:txBody>
      </p:sp>
      <p:sp>
        <p:nvSpPr>
          <p:cNvPr id="14" name="Text 11"/>
          <p:cNvSpPr/>
          <p:nvPr/>
        </p:nvSpPr>
        <p:spPr>
          <a:xfrm>
            <a:off x="4535984" y="2499816"/>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7EFF"/>
                </a:solidFill>
                <a:latin typeface="Inter" pitchFamily="34" charset="0"/>
                <a:ea typeface="Inter" pitchFamily="34" charset="-122"/>
                <a:cs typeface="Inter" pitchFamily="34" charset="-120"/>
              </a:rPr>
              <a:t>Step 2 + line chart</a:t>
            </a:r>
            <a:endParaRPr lang="en-US" sz="1200" dirty="0"/>
          </a:p>
        </p:txBody>
      </p:sp>
      <p:sp>
        <p:nvSpPr>
          <p:cNvPr id="15" name="Shape 12"/>
          <p:cNvSpPr/>
          <p:nvPr/>
        </p:nvSpPr>
        <p:spPr>
          <a:xfrm>
            <a:off x="7995642" y="1280120"/>
            <a:ext cx="3481884" cy="1588591"/>
          </a:xfrm>
          <a:prstGeom prst="roundRect">
            <a:avLst>
              <a:gd name="adj" fmla="val 3797"/>
            </a:avLst>
          </a:prstGeom>
          <a:solidFill>
            <a:srgbClr val="111111"/>
          </a:solidFill>
          <a:ln w="6350">
            <a:solidFill>
              <a:srgbClr val="222222"/>
            </a:solidFill>
            <a:prstDash val="solid"/>
          </a:ln>
        </p:spPr>
      </p:sp>
      <p:sp>
        <p:nvSpPr>
          <p:cNvPr id="16" name="Shape 13"/>
          <p:cNvSpPr/>
          <p:nvPr/>
        </p:nvSpPr>
        <p:spPr>
          <a:xfrm>
            <a:off x="7998817" y="1283295"/>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17" name="Text 14"/>
          <p:cNvSpPr/>
          <p:nvPr/>
        </p:nvSpPr>
        <p:spPr>
          <a:xfrm>
            <a:off x="8176617" y="1461095"/>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3. Speed–torque tradeoff</a:t>
            </a:r>
            <a:endParaRPr lang="en-US" sz="1400" dirty="0"/>
          </a:p>
        </p:txBody>
      </p:sp>
      <p:sp>
        <p:nvSpPr>
          <p:cNvPr id="18" name="Text 15"/>
          <p:cNvSpPr/>
          <p:nvPr/>
        </p:nvSpPr>
        <p:spPr>
          <a:xfrm>
            <a:off x="8176617" y="1773436"/>
            <a:ext cx="32135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Inverse link (r ≈ −0.72). Failures sit at low speed and high torque.</a:t>
            </a:r>
            <a:endParaRPr lang="en-US" sz="1200" dirty="0"/>
          </a:p>
        </p:txBody>
      </p:sp>
      <p:sp>
        <p:nvSpPr>
          <p:cNvPr id="19" name="Text 16"/>
          <p:cNvSpPr/>
          <p:nvPr/>
        </p:nvSpPr>
        <p:spPr>
          <a:xfrm>
            <a:off x="8176617" y="2278856"/>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Scatter + heatmap</a:t>
            </a:r>
            <a:endParaRPr lang="en-US" sz="1200" dirty="0"/>
          </a:p>
        </p:txBody>
      </p:sp>
      <p:sp>
        <p:nvSpPr>
          <p:cNvPr id="20" name="Shape 17"/>
          <p:cNvSpPr/>
          <p:nvPr/>
        </p:nvSpPr>
        <p:spPr>
          <a:xfrm>
            <a:off x="714375" y="3027462"/>
            <a:ext cx="3481884" cy="1367631"/>
          </a:xfrm>
          <a:prstGeom prst="roundRect">
            <a:avLst>
              <a:gd name="adj" fmla="val 4411"/>
            </a:avLst>
          </a:prstGeom>
          <a:solidFill>
            <a:srgbClr val="111111"/>
          </a:solidFill>
          <a:ln w="6350">
            <a:solidFill>
              <a:srgbClr val="222222"/>
            </a:solidFill>
            <a:prstDash val="solid"/>
          </a:ln>
        </p:spPr>
      </p:sp>
      <p:sp>
        <p:nvSpPr>
          <p:cNvPr id="21" name="Shape 18"/>
          <p:cNvSpPr/>
          <p:nvPr/>
        </p:nvSpPr>
        <p:spPr>
          <a:xfrm>
            <a:off x="717550" y="3030637"/>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3D7EFF"/>
          </a:solidFill>
          <a:ln/>
        </p:spPr>
      </p:sp>
      <p:sp>
        <p:nvSpPr>
          <p:cNvPr id="22" name="Text 19"/>
          <p:cNvSpPr/>
          <p:nvPr/>
        </p:nvSpPr>
        <p:spPr>
          <a:xfrm>
            <a:off x="895350" y="3208437"/>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4. Weak category signal</a:t>
            </a:r>
            <a:endParaRPr lang="en-US" sz="1400" dirty="0"/>
          </a:p>
        </p:txBody>
      </p:sp>
      <p:sp>
        <p:nvSpPr>
          <p:cNvPr id="23" name="Text 20"/>
          <p:cNvSpPr/>
          <p:nvPr/>
        </p:nvSpPr>
        <p:spPr>
          <a:xfrm>
            <a:off x="895350" y="3520777"/>
            <a:ext cx="32135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Product type (L/M/H) is a weak failure indicator on its own.</a:t>
            </a:r>
            <a:endParaRPr lang="en-US" sz="1200" dirty="0"/>
          </a:p>
        </p:txBody>
      </p:sp>
      <p:sp>
        <p:nvSpPr>
          <p:cNvPr id="24" name="Text 21"/>
          <p:cNvSpPr/>
          <p:nvPr/>
        </p:nvSpPr>
        <p:spPr>
          <a:xfrm>
            <a:off x="895350" y="4026198"/>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7EFF"/>
                </a:solidFill>
                <a:latin typeface="Inter" pitchFamily="34" charset="0"/>
                <a:ea typeface="Inter" pitchFamily="34" charset="-122"/>
                <a:cs typeface="Inter" pitchFamily="34" charset="-120"/>
              </a:rPr>
              <a:t>Bar chart</a:t>
            </a:r>
            <a:endParaRPr lang="en-US" sz="1200" dirty="0"/>
          </a:p>
        </p:txBody>
      </p:sp>
      <p:sp>
        <p:nvSpPr>
          <p:cNvPr id="25" name="Shape 22"/>
          <p:cNvSpPr/>
          <p:nvPr/>
        </p:nvSpPr>
        <p:spPr>
          <a:xfrm>
            <a:off x="4355009" y="3027462"/>
            <a:ext cx="3481884" cy="1367631"/>
          </a:xfrm>
          <a:prstGeom prst="roundRect">
            <a:avLst>
              <a:gd name="adj" fmla="val 4411"/>
            </a:avLst>
          </a:prstGeom>
          <a:solidFill>
            <a:srgbClr val="111111"/>
          </a:solidFill>
          <a:ln w="6350">
            <a:solidFill>
              <a:srgbClr val="222222"/>
            </a:solidFill>
            <a:prstDash val="solid"/>
          </a:ln>
        </p:spPr>
      </p:sp>
      <p:sp>
        <p:nvSpPr>
          <p:cNvPr id="26" name="Shape 23"/>
          <p:cNvSpPr/>
          <p:nvPr/>
        </p:nvSpPr>
        <p:spPr>
          <a:xfrm>
            <a:off x="4358184" y="3030637"/>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27" name="Text 24"/>
          <p:cNvSpPr/>
          <p:nvPr/>
        </p:nvSpPr>
        <p:spPr>
          <a:xfrm>
            <a:off x="4535984" y="3208437"/>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5. Scaling is required</a:t>
            </a:r>
            <a:endParaRPr lang="en-US" sz="1400" dirty="0"/>
          </a:p>
        </p:txBody>
      </p:sp>
      <p:sp>
        <p:nvSpPr>
          <p:cNvPr id="28" name="Text 25"/>
          <p:cNvSpPr/>
          <p:nvPr/>
        </p:nvSpPr>
        <p:spPr>
          <a:xfrm>
            <a:off x="4535984" y="3520777"/>
            <a:ext cx="32135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Variance ranges from 2.56 to 30,918, so Standardization is mandatory.</a:t>
            </a:r>
            <a:endParaRPr lang="en-US" sz="1200" dirty="0"/>
          </a:p>
        </p:txBody>
      </p:sp>
      <p:sp>
        <p:nvSpPr>
          <p:cNvPr id="29" name="Text 26"/>
          <p:cNvSpPr/>
          <p:nvPr/>
        </p:nvSpPr>
        <p:spPr>
          <a:xfrm>
            <a:off x="4535984" y="4026198"/>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Descriptive statistics</a:t>
            </a:r>
            <a:endParaRPr lang="en-US" sz="1200" dirty="0"/>
          </a:p>
        </p:txBody>
      </p:sp>
      <p:sp>
        <p:nvSpPr>
          <p:cNvPr id="30" name="Shape 27"/>
          <p:cNvSpPr/>
          <p:nvPr/>
        </p:nvSpPr>
        <p:spPr>
          <a:xfrm>
            <a:off x="7995642" y="3027462"/>
            <a:ext cx="3481884" cy="1367631"/>
          </a:xfrm>
          <a:prstGeom prst="roundRect">
            <a:avLst>
              <a:gd name="adj" fmla="val 4411"/>
            </a:avLst>
          </a:prstGeom>
          <a:solidFill>
            <a:srgbClr val="111111"/>
          </a:solidFill>
          <a:ln w="6350">
            <a:solidFill>
              <a:srgbClr val="222222"/>
            </a:solidFill>
            <a:prstDash val="solid"/>
          </a:ln>
        </p:spPr>
      </p:sp>
      <p:sp>
        <p:nvSpPr>
          <p:cNvPr id="31" name="Shape 28"/>
          <p:cNvSpPr/>
          <p:nvPr/>
        </p:nvSpPr>
        <p:spPr>
          <a:xfrm>
            <a:off x="7998817" y="3030637"/>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3D7EFF"/>
          </a:solidFill>
          <a:ln/>
        </p:spPr>
      </p:sp>
      <p:sp>
        <p:nvSpPr>
          <p:cNvPr id="32" name="Text 29"/>
          <p:cNvSpPr/>
          <p:nvPr/>
        </p:nvSpPr>
        <p:spPr>
          <a:xfrm>
            <a:off x="8176617" y="3208437"/>
            <a:ext cx="321353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6. Read rates with care</a:t>
            </a:r>
            <a:endParaRPr lang="en-US" sz="1400" dirty="0"/>
          </a:p>
        </p:txBody>
      </p:sp>
      <p:sp>
        <p:nvSpPr>
          <p:cNvPr id="33" name="Text 30"/>
          <p:cNvSpPr/>
          <p:nvPr/>
        </p:nvSpPr>
        <p:spPr>
          <a:xfrm>
            <a:off x="8176617" y="3520777"/>
            <a:ext cx="321353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8B8B8"/>
                </a:solidFill>
                <a:latin typeface="Inter" pitchFamily="34" charset="0"/>
                <a:ea typeface="Inter" pitchFamily="34" charset="-122"/>
                <a:cs typeface="Inter" pitchFamily="34" charset="-120"/>
              </a:rPr>
              <a:t>22.71% comes from over-sampling (original 3.39%): rely on relative risk.</a:t>
            </a:r>
            <a:endParaRPr lang="en-US" sz="1200" dirty="0"/>
          </a:p>
        </p:txBody>
      </p:sp>
      <p:sp>
        <p:nvSpPr>
          <p:cNvPr id="34" name="Text 31"/>
          <p:cNvSpPr/>
          <p:nvPr/>
        </p:nvSpPr>
        <p:spPr>
          <a:xfrm>
            <a:off x="8176617" y="4026198"/>
            <a:ext cx="321353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7EFF"/>
                </a:solidFill>
                <a:latin typeface="Inter" pitchFamily="34" charset="0"/>
                <a:ea typeface="Inter" pitchFamily="34" charset="-122"/>
                <a:cs typeface="Inter" pitchFamily="34" charset="-120"/>
              </a:rPr>
              <a:t>Class imbalance table</a:t>
            </a:r>
            <a:endParaRPr lang="en-US" sz="1200" dirty="0"/>
          </a:p>
        </p:txBody>
      </p:sp>
      <p:sp>
        <p:nvSpPr>
          <p:cNvPr id="35" name="Text 32"/>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6" name="Text 33"/>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223276" y="457200"/>
            <a:ext cx="3745349"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PART 2 · PIPELINE ARCHITECTURE</a:t>
            </a:r>
            <a:endParaRPr lang="en-US" sz="1200" dirty="0"/>
          </a:p>
        </p:txBody>
      </p:sp>
      <p:sp>
        <p:nvSpPr>
          <p:cNvPr id="4" name="Text 1"/>
          <p:cNvSpPr/>
          <p:nvPr>
            <p:ph type="title"/>
          </p:nvPr>
        </p:nvSpPr>
        <p:spPr>
          <a:xfrm>
            <a:off x="3012400" y="734020"/>
            <a:ext cx="6167199"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The Preprocessing Order Is Fixed</a:t>
            </a:r>
            <a:endParaRPr lang="en-US" sz="2500" dirty="0"/>
          </a:p>
        </p:txBody>
      </p:sp>
      <p:sp>
        <p:nvSpPr>
          <p:cNvPr id="5" name="Shape 2"/>
          <p:cNvSpPr/>
          <p:nvPr/>
        </p:nvSpPr>
        <p:spPr>
          <a:xfrm>
            <a:off x="714375" y="1305520"/>
            <a:ext cx="1714500" cy="1504752"/>
          </a:xfrm>
          <a:prstGeom prst="roundRect">
            <a:avLst>
              <a:gd name="adj" fmla="val 4009"/>
            </a:avLst>
          </a:prstGeom>
          <a:solidFill>
            <a:srgbClr val="111111"/>
          </a:solidFill>
          <a:ln w="6350">
            <a:solidFill>
              <a:srgbClr val="222222"/>
            </a:solidFill>
            <a:prstDash val="solid"/>
          </a:ln>
        </p:spPr>
      </p:sp>
      <p:sp>
        <p:nvSpPr>
          <p:cNvPr id="6" name="Shape 3"/>
          <p:cNvSpPr/>
          <p:nvPr/>
        </p:nvSpPr>
        <p:spPr>
          <a:xfrm>
            <a:off x="71755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00E5CC"/>
          </a:solidFill>
          <a:ln/>
        </p:spPr>
      </p:sp>
      <p:sp>
        <p:nvSpPr>
          <p:cNvPr id="7" name="Text 4"/>
          <p:cNvSpPr/>
          <p:nvPr/>
        </p:nvSpPr>
        <p:spPr>
          <a:xfrm>
            <a:off x="84455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STEP 01</a:t>
            </a:r>
            <a:endParaRPr lang="en-US" sz="1200" dirty="0"/>
          </a:p>
        </p:txBody>
      </p:sp>
      <p:sp>
        <p:nvSpPr>
          <p:cNvPr id="8" name="Text 5"/>
          <p:cNvSpPr/>
          <p:nvPr/>
        </p:nvSpPr>
        <p:spPr>
          <a:xfrm>
            <a:off x="844550" y="1750616"/>
            <a:ext cx="15049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Feature Engineering</a:t>
            </a:r>
            <a:endParaRPr lang="en-US" sz="1400" dirty="0"/>
          </a:p>
        </p:txBody>
      </p:sp>
      <p:sp>
        <p:nvSpPr>
          <p:cNvPr id="9" name="Text 6"/>
          <p:cNvSpPr/>
          <p:nvPr/>
        </p:nvSpPr>
        <p:spPr>
          <a:xfrm>
            <a:off x="844550" y="2240756"/>
            <a:ext cx="1504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Temp_Diff, Power, Strain_Index.</a:t>
            </a:r>
            <a:endParaRPr lang="en-US" sz="1200" dirty="0"/>
          </a:p>
        </p:txBody>
      </p:sp>
      <p:sp>
        <p:nvSpPr>
          <p:cNvPr id="10" name="Shape 7"/>
          <p:cNvSpPr/>
          <p:nvPr/>
        </p:nvSpPr>
        <p:spPr>
          <a:xfrm>
            <a:off x="2524125" y="1305520"/>
            <a:ext cx="1714500" cy="1504752"/>
          </a:xfrm>
          <a:prstGeom prst="roundRect">
            <a:avLst>
              <a:gd name="adj" fmla="val 4009"/>
            </a:avLst>
          </a:prstGeom>
          <a:solidFill>
            <a:srgbClr val="111111"/>
          </a:solidFill>
          <a:ln w="6350">
            <a:solidFill>
              <a:srgbClr val="222222"/>
            </a:solidFill>
            <a:prstDash val="solid"/>
          </a:ln>
        </p:spPr>
      </p:sp>
      <p:sp>
        <p:nvSpPr>
          <p:cNvPr id="11" name="Shape 8"/>
          <p:cNvSpPr/>
          <p:nvPr/>
        </p:nvSpPr>
        <p:spPr>
          <a:xfrm>
            <a:off x="252730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3D7EFF"/>
          </a:solidFill>
          <a:ln/>
        </p:spPr>
      </p:sp>
      <p:sp>
        <p:nvSpPr>
          <p:cNvPr id="12" name="Text 9"/>
          <p:cNvSpPr/>
          <p:nvPr/>
        </p:nvSpPr>
        <p:spPr>
          <a:xfrm>
            <a:off x="265430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D7EFF"/>
                </a:solidFill>
                <a:latin typeface="Inter" pitchFamily="34" charset="0"/>
                <a:ea typeface="Inter" pitchFamily="34" charset="-122"/>
                <a:cs typeface="Inter" pitchFamily="34" charset="-120"/>
              </a:rPr>
              <a:t>STEP 02</a:t>
            </a:r>
            <a:endParaRPr lang="en-US" sz="1200" dirty="0"/>
          </a:p>
        </p:txBody>
      </p:sp>
      <p:sp>
        <p:nvSpPr>
          <p:cNvPr id="13" name="Text 10"/>
          <p:cNvSpPr/>
          <p:nvPr/>
        </p:nvSpPr>
        <p:spPr>
          <a:xfrm>
            <a:off x="2654300" y="1750616"/>
            <a:ext cx="150495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Feature Selection</a:t>
            </a:r>
            <a:endParaRPr lang="en-US" sz="1400" dirty="0"/>
          </a:p>
        </p:txBody>
      </p:sp>
      <p:sp>
        <p:nvSpPr>
          <p:cNvPr id="14" name="Text 11"/>
          <p:cNvSpPr/>
          <p:nvPr/>
        </p:nvSpPr>
        <p:spPr>
          <a:xfrm>
            <a:off x="2654300" y="2240756"/>
            <a:ext cx="1504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Drop IDs and leakage flags.</a:t>
            </a:r>
            <a:endParaRPr lang="en-US" sz="1200" dirty="0"/>
          </a:p>
        </p:txBody>
      </p:sp>
      <p:sp>
        <p:nvSpPr>
          <p:cNvPr id="15" name="Shape 12"/>
          <p:cNvSpPr/>
          <p:nvPr/>
        </p:nvSpPr>
        <p:spPr>
          <a:xfrm>
            <a:off x="4333875" y="1305520"/>
            <a:ext cx="1714500" cy="1504752"/>
          </a:xfrm>
          <a:prstGeom prst="roundRect">
            <a:avLst>
              <a:gd name="adj" fmla="val 4009"/>
            </a:avLst>
          </a:prstGeom>
          <a:solidFill>
            <a:srgbClr val="111111"/>
          </a:solidFill>
          <a:ln w="6350">
            <a:solidFill>
              <a:srgbClr val="222222"/>
            </a:solidFill>
            <a:prstDash val="solid"/>
          </a:ln>
        </p:spPr>
      </p:sp>
      <p:sp>
        <p:nvSpPr>
          <p:cNvPr id="16" name="Shape 13"/>
          <p:cNvSpPr/>
          <p:nvPr/>
        </p:nvSpPr>
        <p:spPr>
          <a:xfrm>
            <a:off x="433705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00E5CC"/>
          </a:solidFill>
          <a:ln/>
        </p:spPr>
      </p:sp>
      <p:sp>
        <p:nvSpPr>
          <p:cNvPr id="17" name="Text 14"/>
          <p:cNvSpPr/>
          <p:nvPr/>
        </p:nvSpPr>
        <p:spPr>
          <a:xfrm>
            <a:off x="446405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STEP 03</a:t>
            </a:r>
            <a:endParaRPr lang="en-US" sz="1200" dirty="0"/>
          </a:p>
        </p:txBody>
      </p:sp>
      <p:sp>
        <p:nvSpPr>
          <p:cNvPr id="18" name="Text 15"/>
          <p:cNvSpPr/>
          <p:nvPr/>
        </p:nvSpPr>
        <p:spPr>
          <a:xfrm>
            <a:off x="4464050" y="1750616"/>
            <a:ext cx="15049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Encoding</a:t>
            </a:r>
            <a:endParaRPr lang="en-US" sz="1400" dirty="0"/>
          </a:p>
        </p:txBody>
      </p:sp>
      <p:sp>
        <p:nvSpPr>
          <p:cNvPr id="19" name="Text 16"/>
          <p:cNvSpPr/>
          <p:nvPr/>
        </p:nvSpPr>
        <p:spPr>
          <a:xfrm>
            <a:off x="4464050" y="2027436"/>
            <a:ext cx="1504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Type to 0 / 1 / 2.</a:t>
            </a:r>
            <a:endParaRPr lang="en-US" sz="1200" dirty="0"/>
          </a:p>
        </p:txBody>
      </p:sp>
      <p:sp>
        <p:nvSpPr>
          <p:cNvPr id="20" name="Shape 17"/>
          <p:cNvSpPr/>
          <p:nvPr/>
        </p:nvSpPr>
        <p:spPr>
          <a:xfrm>
            <a:off x="6143625" y="1305520"/>
            <a:ext cx="1714500" cy="1504752"/>
          </a:xfrm>
          <a:prstGeom prst="roundRect">
            <a:avLst>
              <a:gd name="adj" fmla="val 4009"/>
            </a:avLst>
          </a:prstGeom>
          <a:solidFill>
            <a:srgbClr val="0B1817"/>
          </a:solidFill>
          <a:ln w="6350">
            <a:solidFill>
              <a:srgbClr val="00E5CC"/>
            </a:solidFill>
            <a:prstDash val="solid"/>
          </a:ln>
        </p:spPr>
      </p:sp>
      <p:sp>
        <p:nvSpPr>
          <p:cNvPr id="21" name="Shape 18"/>
          <p:cNvSpPr/>
          <p:nvPr/>
        </p:nvSpPr>
        <p:spPr>
          <a:xfrm>
            <a:off x="614680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00E5CC"/>
          </a:solidFill>
          <a:ln/>
        </p:spPr>
      </p:sp>
      <p:sp>
        <p:nvSpPr>
          <p:cNvPr id="22" name="Text 19"/>
          <p:cNvSpPr/>
          <p:nvPr/>
        </p:nvSpPr>
        <p:spPr>
          <a:xfrm>
            <a:off x="627380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STEP 04</a:t>
            </a:r>
            <a:endParaRPr lang="en-US" sz="1200" dirty="0"/>
          </a:p>
        </p:txBody>
      </p:sp>
      <p:sp>
        <p:nvSpPr>
          <p:cNvPr id="23" name="Text 20"/>
          <p:cNvSpPr/>
          <p:nvPr/>
        </p:nvSpPr>
        <p:spPr>
          <a:xfrm>
            <a:off x="6273800" y="1750616"/>
            <a:ext cx="15049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Stratified Split</a:t>
            </a:r>
            <a:endParaRPr lang="en-US" sz="1400" dirty="0"/>
          </a:p>
        </p:txBody>
      </p:sp>
      <p:sp>
        <p:nvSpPr>
          <p:cNvPr id="24" name="Text 21"/>
          <p:cNvSpPr/>
          <p:nvPr/>
        </p:nvSpPr>
        <p:spPr>
          <a:xfrm>
            <a:off x="6273800" y="2027436"/>
            <a:ext cx="15049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80 / 20, same failure rate.</a:t>
            </a:r>
            <a:endParaRPr lang="en-US" sz="1200" dirty="0"/>
          </a:p>
        </p:txBody>
      </p:sp>
      <p:sp>
        <p:nvSpPr>
          <p:cNvPr id="25" name="Shape 22"/>
          <p:cNvSpPr/>
          <p:nvPr/>
        </p:nvSpPr>
        <p:spPr>
          <a:xfrm>
            <a:off x="7953375" y="1305520"/>
            <a:ext cx="1714500" cy="1504752"/>
          </a:xfrm>
          <a:prstGeom prst="roundRect">
            <a:avLst>
              <a:gd name="adj" fmla="val 4009"/>
            </a:avLst>
          </a:prstGeom>
          <a:solidFill>
            <a:srgbClr val="111111"/>
          </a:solidFill>
          <a:ln w="6350">
            <a:solidFill>
              <a:srgbClr val="222222"/>
            </a:solidFill>
            <a:prstDash val="solid"/>
          </a:ln>
        </p:spPr>
      </p:sp>
      <p:sp>
        <p:nvSpPr>
          <p:cNvPr id="26" name="Shape 23"/>
          <p:cNvSpPr/>
          <p:nvPr/>
        </p:nvSpPr>
        <p:spPr>
          <a:xfrm>
            <a:off x="795655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3D7EFF"/>
          </a:solidFill>
          <a:ln/>
        </p:spPr>
      </p:sp>
      <p:sp>
        <p:nvSpPr>
          <p:cNvPr id="27" name="Text 24"/>
          <p:cNvSpPr/>
          <p:nvPr/>
        </p:nvSpPr>
        <p:spPr>
          <a:xfrm>
            <a:off x="808355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D7EFF"/>
                </a:solidFill>
                <a:latin typeface="Inter" pitchFamily="34" charset="0"/>
                <a:ea typeface="Inter" pitchFamily="34" charset="-122"/>
                <a:cs typeface="Inter" pitchFamily="34" charset="-120"/>
              </a:rPr>
              <a:t>STEP 05</a:t>
            </a:r>
            <a:endParaRPr lang="en-US" sz="1200" dirty="0"/>
          </a:p>
        </p:txBody>
      </p:sp>
      <p:sp>
        <p:nvSpPr>
          <p:cNvPr id="28" name="Text 25"/>
          <p:cNvSpPr/>
          <p:nvPr/>
        </p:nvSpPr>
        <p:spPr>
          <a:xfrm>
            <a:off x="8083550" y="1750616"/>
            <a:ext cx="15049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Scaling</a:t>
            </a:r>
            <a:endParaRPr lang="en-US" sz="1400" dirty="0"/>
          </a:p>
        </p:txBody>
      </p:sp>
      <p:sp>
        <p:nvSpPr>
          <p:cNvPr id="29" name="Text 26"/>
          <p:cNvSpPr/>
          <p:nvPr/>
        </p:nvSpPr>
        <p:spPr>
          <a:xfrm>
            <a:off x="8083550" y="2027436"/>
            <a:ext cx="1504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Fit on train only.</a:t>
            </a:r>
            <a:endParaRPr lang="en-US" sz="1200" dirty="0"/>
          </a:p>
        </p:txBody>
      </p:sp>
      <p:sp>
        <p:nvSpPr>
          <p:cNvPr id="30" name="Shape 27"/>
          <p:cNvSpPr/>
          <p:nvPr/>
        </p:nvSpPr>
        <p:spPr>
          <a:xfrm>
            <a:off x="9763125" y="1305520"/>
            <a:ext cx="1714500" cy="1504752"/>
          </a:xfrm>
          <a:prstGeom prst="roundRect">
            <a:avLst>
              <a:gd name="adj" fmla="val 4009"/>
            </a:avLst>
          </a:prstGeom>
          <a:solidFill>
            <a:srgbClr val="111111"/>
          </a:solidFill>
          <a:ln w="6350">
            <a:solidFill>
              <a:srgbClr val="222222"/>
            </a:solidFill>
            <a:prstDash val="solid"/>
          </a:ln>
        </p:spPr>
      </p:sp>
      <p:sp>
        <p:nvSpPr>
          <p:cNvPr id="31" name="Shape 28"/>
          <p:cNvSpPr/>
          <p:nvPr/>
        </p:nvSpPr>
        <p:spPr>
          <a:xfrm>
            <a:off x="9766300" y="1308695"/>
            <a:ext cx="1708150" cy="25400"/>
          </a:xfrm>
          <a:custGeom>
            <a:avLst/>
            <a:gdLst/>
            <a:ahLst/>
            <a:cxnLst/>
            <a:rect l="l" t="t" r="r" b="b"/>
            <a:pathLst>
              <a:path w="1708150" h="25400">
                <a:moveTo>
                  <a:pt x="9631" y="25400"/>
                </a:moveTo>
                <a:arcTo hR="57150" wR="57150" stAng="12824939" swAng="3375061"/>
                <a:lnTo>
                  <a:pt x="1651000" y="0"/>
                </a:lnTo>
                <a:arcTo hR="57150" wR="57150" stAng="16200000" swAng="3375061"/>
                <a:close/>
              </a:path>
            </a:pathLst>
          </a:custGeom>
          <a:solidFill>
            <a:srgbClr val="00E5CC"/>
          </a:solidFill>
          <a:ln/>
        </p:spPr>
      </p:sp>
      <p:sp>
        <p:nvSpPr>
          <p:cNvPr id="32" name="Text 29"/>
          <p:cNvSpPr/>
          <p:nvPr/>
        </p:nvSpPr>
        <p:spPr>
          <a:xfrm>
            <a:off x="9893300" y="1473795"/>
            <a:ext cx="15049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STEP 06</a:t>
            </a:r>
            <a:endParaRPr lang="en-US" sz="1200" dirty="0"/>
          </a:p>
        </p:txBody>
      </p:sp>
      <p:sp>
        <p:nvSpPr>
          <p:cNvPr id="33" name="Text 30"/>
          <p:cNvSpPr/>
          <p:nvPr/>
        </p:nvSpPr>
        <p:spPr>
          <a:xfrm>
            <a:off x="9893300" y="1750616"/>
            <a:ext cx="150495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Final Check</a:t>
            </a:r>
            <a:endParaRPr lang="en-US" sz="1400" dirty="0"/>
          </a:p>
        </p:txBody>
      </p:sp>
      <p:sp>
        <p:nvSpPr>
          <p:cNvPr id="34" name="Text 31"/>
          <p:cNvSpPr/>
          <p:nvPr/>
        </p:nvSpPr>
        <p:spPr>
          <a:xfrm>
            <a:off x="9893300" y="2027436"/>
            <a:ext cx="15049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8 assertions.</a:t>
            </a:r>
            <a:endParaRPr lang="en-US" sz="1200" dirty="0"/>
          </a:p>
        </p:txBody>
      </p:sp>
      <p:sp>
        <p:nvSpPr>
          <p:cNvPr id="35" name="Shape 32"/>
          <p:cNvSpPr/>
          <p:nvPr/>
        </p:nvSpPr>
        <p:spPr>
          <a:xfrm>
            <a:off x="714375" y="3019822"/>
            <a:ext cx="5302250" cy="1152922"/>
          </a:xfrm>
          <a:prstGeom prst="roundRect">
            <a:avLst>
              <a:gd name="adj" fmla="val 5232"/>
            </a:avLst>
          </a:prstGeom>
          <a:solidFill>
            <a:srgbClr val="111111"/>
          </a:solidFill>
          <a:ln w="6350">
            <a:solidFill>
              <a:srgbClr val="222222"/>
            </a:solidFill>
            <a:prstDash val="solid"/>
          </a:ln>
        </p:spPr>
      </p:sp>
      <p:sp>
        <p:nvSpPr>
          <p:cNvPr id="36" name="Shape 33"/>
          <p:cNvSpPr/>
          <p:nvPr/>
        </p:nvSpPr>
        <p:spPr>
          <a:xfrm>
            <a:off x="717550" y="3022997"/>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37" name="Text 34"/>
          <p:cNvSpPr/>
          <p:nvPr/>
        </p:nvSpPr>
        <p:spPr>
          <a:xfrm>
            <a:off x="908050" y="3213497"/>
            <a:ext cx="50623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Steps 1–3: safe before the split</a:t>
            </a:r>
            <a:endParaRPr lang="en-US" sz="1400" dirty="0"/>
          </a:p>
        </p:txBody>
      </p:sp>
      <p:sp>
        <p:nvSpPr>
          <p:cNvPr id="38" name="Text 35"/>
          <p:cNvSpPr/>
          <p:nvPr/>
        </p:nvSpPr>
        <p:spPr>
          <a:xfrm>
            <a:off x="908050" y="3525838"/>
            <a:ext cx="5062347"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They calculate row by row (subtract, multiply, map), so nothing is learned from other rows and nothing leaks.</a:t>
            </a:r>
            <a:endParaRPr lang="en-US" sz="1300" dirty="0"/>
          </a:p>
        </p:txBody>
      </p:sp>
      <p:sp>
        <p:nvSpPr>
          <p:cNvPr id="39" name="Shape 36"/>
          <p:cNvSpPr/>
          <p:nvPr/>
        </p:nvSpPr>
        <p:spPr>
          <a:xfrm>
            <a:off x="6175375" y="3019822"/>
            <a:ext cx="5302250" cy="1152922"/>
          </a:xfrm>
          <a:prstGeom prst="roundRect">
            <a:avLst>
              <a:gd name="adj" fmla="val 5232"/>
            </a:avLst>
          </a:prstGeom>
          <a:solidFill>
            <a:srgbClr val="111111"/>
          </a:solidFill>
          <a:ln w="6350">
            <a:solidFill>
              <a:srgbClr val="222222"/>
            </a:solidFill>
            <a:prstDash val="solid"/>
          </a:ln>
        </p:spPr>
      </p:sp>
      <p:sp>
        <p:nvSpPr>
          <p:cNvPr id="40" name="Shape 37"/>
          <p:cNvSpPr/>
          <p:nvPr/>
        </p:nvSpPr>
        <p:spPr>
          <a:xfrm>
            <a:off x="6178550" y="3022997"/>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3D7EFF"/>
          </a:solidFill>
          <a:ln/>
        </p:spPr>
      </p:sp>
      <p:sp>
        <p:nvSpPr>
          <p:cNvPr id="41" name="Text 38"/>
          <p:cNvSpPr/>
          <p:nvPr/>
        </p:nvSpPr>
        <p:spPr>
          <a:xfrm>
            <a:off x="6369050" y="3213497"/>
            <a:ext cx="50623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Step 5: only after the split</a:t>
            </a:r>
            <a:endParaRPr lang="en-US" sz="1400" dirty="0"/>
          </a:p>
        </p:txBody>
      </p:sp>
      <p:sp>
        <p:nvSpPr>
          <p:cNvPr id="42" name="Text 39"/>
          <p:cNvSpPr/>
          <p:nvPr/>
        </p:nvSpPr>
        <p:spPr>
          <a:xfrm>
            <a:off x="6369050" y="3525838"/>
            <a:ext cx="5062347"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8B8B8"/>
                </a:solidFill>
                <a:latin typeface="Inter" pitchFamily="34" charset="0"/>
                <a:ea typeface="Inter" pitchFamily="34" charset="-122"/>
                <a:cs typeface="Inter" pitchFamily="34" charset="-120"/>
              </a:rPr>
              <a:t>The scaler learns mean and std from data. Learning them before the split would let the test set leak into training.</a:t>
            </a:r>
            <a:endParaRPr lang="en-US" sz="1300" dirty="0"/>
          </a:p>
        </p:txBody>
      </p:sp>
      <p:sp>
        <p:nvSpPr>
          <p:cNvPr id="43" name="Shape 40"/>
          <p:cNvSpPr/>
          <p:nvPr/>
        </p:nvSpPr>
        <p:spPr>
          <a:xfrm>
            <a:off x="714375" y="4382294"/>
            <a:ext cx="10763250" cy="742851"/>
          </a:xfrm>
          <a:prstGeom prst="roundRect">
            <a:avLst>
              <a:gd name="adj" fmla="val 8121"/>
            </a:avLst>
          </a:prstGeom>
          <a:solidFill>
            <a:srgbClr val="111111"/>
          </a:solidFill>
          <a:ln w="6350">
            <a:solidFill>
              <a:srgbClr val="222222"/>
            </a:solidFill>
            <a:prstDash val="solid"/>
          </a:ln>
        </p:spPr>
      </p:sp>
      <p:sp>
        <p:nvSpPr>
          <p:cNvPr id="44" name="Text 41"/>
          <p:cNvSpPr/>
          <p:nvPr/>
        </p:nvSpPr>
        <p:spPr>
          <a:xfrm>
            <a:off x="895350" y="4512469"/>
            <a:ext cx="107133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WHY PIPELINE ORDER MATTERS</a:t>
            </a:r>
            <a:endParaRPr lang="en-US" sz="1200" dirty="0"/>
          </a:p>
        </p:txBody>
      </p:sp>
      <p:sp>
        <p:nvSpPr>
          <p:cNvPr id="45" name="Text 42"/>
          <p:cNvSpPr/>
          <p:nvPr/>
        </p:nvSpPr>
        <p:spPr>
          <a:xfrm>
            <a:off x="895350" y="4763889"/>
            <a:ext cx="1071333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5F5"/>
                </a:solidFill>
                <a:latin typeface="Inter" pitchFamily="34" charset="0"/>
                <a:ea typeface="Inter" pitchFamily="34" charset="-122"/>
                <a:cs typeface="Inter" pitchFamily="34" charset="-120"/>
              </a:rPr>
              <a:t>Splitting before scaling keeps test-set statistics hidden during standardization. Scaling first is the most common leakage mistake.</a:t>
            </a:r>
            <a:endParaRPr lang="en-US" sz="1300" dirty="0"/>
          </a:p>
        </p:txBody>
      </p:sp>
      <p:sp>
        <p:nvSpPr>
          <p:cNvPr id="46" name="Text 43"/>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47" name="Text 44"/>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915618" y="457200"/>
            <a:ext cx="4360664"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PIPELINE STEP 1 · DOMAIN KNOWLEDGE</a:t>
            </a:r>
            <a:endParaRPr lang="en-US" sz="1200" dirty="0"/>
          </a:p>
        </p:txBody>
      </p:sp>
      <p:sp>
        <p:nvSpPr>
          <p:cNvPr id="4" name="Text 1"/>
          <p:cNvSpPr/>
          <p:nvPr>
            <p:ph type="title"/>
          </p:nvPr>
        </p:nvSpPr>
        <p:spPr>
          <a:xfrm>
            <a:off x="1530429" y="734020"/>
            <a:ext cx="9131141"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Feature Engineering: Every Feature Has a Reason</a:t>
            </a:r>
            <a:endParaRPr lang="en-US" sz="2500" dirty="0"/>
          </a:p>
        </p:txBody>
      </p:sp>
      <p:sp>
        <p:nvSpPr>
          <p:cNvPr id="5" name="Shape 2"/>
          <p:cNvSpPr/>
          <p:nvPr/>
        </p:nvSpPr>
        <p:spPr>
          <a:xfrm>
            <a:off x="714375" y="1267420"/>
            <a:ext cx="10763250" cy="1024731"/>
          </a:xfrm>
          <a:prstGeom prst="roundRect">
            <a:avLst>
              <a:gd name="adj" fmla="val 5887"/>
            </a:avLst>
          </a:prstGeom>
          <a:solidFill>
            <a:srgbClr val="111111"/>
          </a:solidFill>
          <a:ln w="6350">
            <a:solidFill>
              <a:srgbClr val="222222"/>
            </a:solidFill>
            <a:prstDash val="solid"/>
          </a:ln>
        </p:spPr>
      </p:sp>
      <p:sp>
        <p:nvSpPr>
          <p:cNvPr id="6" name="Shape 3"/>
          <p:cNvSpPr/>
          <p:nvPr/>
        </p:nvSpPr>
        <p:spPr>
          <a:xfrm>
            <a:off x="717550" y="1270595"/>
            <a:ext cx="10756900" cy="25400"/>
          </a:xfrm>
          <a:custGeom>
            <a:avLst/>
            <a:gdLst/>
            <a:ahLst/>
            <a:cxnLst/>
            <a:rect l="l" t="t" r="r" b="b"/>
            <a:pathLst>
              <a:path w="10756900" h="25400">
                <a:moveTo>
                  <a:pt x="9631" y="25400"/>
                </a:moveTo>
                <a:arcTo hR="57150" wR="57150" stAng="12824939" swAng="3375061"/>
                <a:lnTo>
                  <a:pt x="10699750" y="0"/>
                </a:lnTo>
                <a:arcTo hR="57150" wR="57150" stAng="16200000" swAng="3375061"/>
                <a:close/>
              </a:path>
            </a:pathLst>
          </a:custGeom>
          <a:solidFill>
            <a:srgbClr val="00E5CC"/>
          </a:solidFill>
          <a:ln/>
        </p:spPr>
      </p:sp>
      <p:sp>
        <p:nvSpPr>
          <p:cNvPr id="7" name="Text 4"/>
          <p:cNvSpPr/>
          <p:nvPr/>
        </p:nvSpPr>
        <p:spPr>
          <a:xfrm>
            <a:off x="895350" y="1435695"/>
            <a:ext cx="634428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1. Temp_Diff</a:t>
            </a:r>
            <a:endParaRPr lang="en-US" sz="1400" dirty="0"/>
          </a:p>
        </p:txBody>
      </p:sp>
      <p:sp>
        <p:nvSpPr>
          <p:cNvPr id="8" name="Text 5"/>
          <p:cNvSpPr/>
          <p:nvPr/>
        </p:nvSpPr>
        <p:spPr>
          <a:xfrm>
            <a:off x="895350" y="1722636"/>
            <a:ext cx="63442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Measures cooling efficiency. A small gap means weak cooling (linked to HDF failures).</a:t>
            </a:r>
            <a:endParaRPr lang="en-US" sz="1200" dirty="0"/>
          </a:p>
        </p:txBody>
      </p:sp>
      <p:sp>
        <p:nvSpPr>
          <p:cNvPr id="9" name="Shape 6"/>
          <p:cNvSpPr/>
          <p:nvPr/>
        </p:nvSpPr>
        <p:spPr>
          <a:xfrm>
            <a:off x="7235825" y="1474391"/>
            <a:ext cx="4057650" cy="636191"/>
          </a:xfrm>
          <a:prstGeom prst="roundRect">
            <a:avLst>
              <a:gd name="adj" fmla="val 7486"/>
            </a:avLst>
          </a:prstGeom>
          <a:noFill/>
          <a:ln w="6350">
            <a:solidFill>
              <a:srgbClr val="00E5CC"/>
            </a:solidFill>
            <a:prstDash val="solid"/>
          </a:ln>
        </p:spPr>
      </p:sp>
      <p:sp>
        <p:nvSpPr>
          <p:cNvPr id="10" name="Text 7"/>
          <p:cNvSpPr/>
          <p:nvPr/>
        </p:nvSpPr>
        <p:spPr>
          <a:xfrm>
            <a:off x="7366000" y="1566466"/>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JetBrains Mono" pitchFamily="49" charset="0"/>
                <a:ea typeface="JetBrains Mono" pitchFamily="49" charset="-122"/>
                <a:cs typeface="JetBrains Mono" pitchFamily="49" charset="-120"/>
              </a:rPr>
              <a:t>Process temp − Air temp</a:t>
            </a:r>
            <a:endParaRPr lang="en-US" sz="1200" dirty="0"/>
          </a:p>
        </p:txBody>
      </p:sp>
      <p:sp>
        <p:nvSpPr>
          <p:cNvPr id="11" name="Text 8"/>
          <p:cNvSpPr/>
          <p:nvPr/>
        </p:nvSpPr>
        <p:spPr>
          <a:xfrm>
            <a:off x="7366000" y="1805186"/>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r with target: −0.12</a:t>
            </a:r>
            <a:endParaRPr lang="en-US" sz="1200" dirty="0"/>
          </a:p>
        </p:txBody>
      </p:sp>
      <p:sp>
        <p:nvSpPr>
          <p:cNvPr id="12" name="Shape 9"/>
          <p:cNvSpPr/>
          <p:nvPr/>
        </p:nvSpPr>
        <p:spPr>
          <a:xfrm>
            <a:off x="714375" y="2463602"/>
            <a:ext cx="10763250" cy="1024731"/>
          </a:xfrm>
          <a:prstGeom prst="roundRect">
            <a:avLst>
              <a:gd name="adj" fmla="val 5887"/>
            </a:avLst>
          </a:prstGeom>
          <a:solidFill>
            <a:srgbClr val="111111"/>
          </a:solidFill>
          <a:ln w="6350">
            <a:solidFill>
              <a:srgbClr val="222222"/>
            </a:solidFill>
            <a:prstDash val="solid"/>
          </a:ln>
        </p:spPr>
      </p:sp>
      <p:sp>
        <p:nvSpPr>
          <p:cNvPr id="13" name="Shape 10"/>
          <p:cNvSpPr/>
          <p:nvPr/>
        </p:nvSpPr>
        <p:spPr>
          <a:xfrm>
            <a:off x="717550" y="2466777"/>
            <a:ext cx="10756900" cy="25400"/>
          </a:xfrm>
          <a:custGeom>
            <a:avLst/>
            <a:gdLst/>
            <a:ahLst/>
            <a:cxnLst/>
            <a:rect l="l" t="t" r="r" b="b"/>
            <a:pathLst>
              <a:path w="10756900" h="25400">
                <a:moveTo>
                  <a:pt x="9631" y="25400"/>
                </a:moveTo>
                <a:arcTo hR="57150" wR="57150" stAng="12824939" swAng="3375061"/>
                <a:lnTo>
                  <a:pt x="10699750" y="0"/>
                </a:lnTo>
                <a:arcTo hR="57150" wR="57150" stAng="16200000" swAng="3375061"/>
                <a:close/>
              </a:path>
            </a:pathLst>
          </a:custGeom>
          <a:solidFill>
            <a:srgbClr val="3D7EFF"/>
          </a:solidFill>
          <a:ln/>
        </p:spPr>
      </p:sp>
      <p:sp>
        <p:nvSpPr>
          <p:cNvPr id="14" name="Text 11"/>
          <p:cNvSpPr/>
          <p:nvPr/>
        </p:nvSpPr>
        <p:spPr>
          <a:xfrm>
            <a:off x="895350" y="2631877"/>
            <a:ext cx="634428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2. Mechanical_Power_W</a:t>
            </a:r>
            <a:endParaRPr lang="en-US" sz="1400" dirty="0"/>
          </a:p>
        </p:txBody>
      </p:sp>
      <p:sp>
        <p:nvSpPr>
          <p:cNvPr id="15" name="Text 12"/>
          <p:cNvSpPr/>
          <p:nvPr/>
        </p:nvSpPr>
        <p:spPr>
          <a:xfrm>
            <a:off x="895350" y="2918817"/>
            <a:ext cx="63442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Mechanical power in watts. Very low or very high power means a power failure (PWF).</a:t>
            </a:r>
            <a:endParaRPr lang="en-US" sz="1200" dirty="0"/>
          </a:p>
        </p:txBody>
      </p:sp>
      <p:sp>
        <p:nvSpPr>
          <p:cNvPr id="16" name="Shape 13"/>
          <p:cNvSpPr/>
          <p:nvPr/>
        </p:nvSpPr>
        <p:spPr>
          <a:xfrm>
            <a:off x="7235825" y="2670572"/>
            <a:ext cx="4057650" cy="636191"/>
          </a:xfrm>
          <a:prstGeom prst="roundRect">
            <a:avLst>
              <a:gd name="adj" fmla="val 7486"/>
            </a:avLst>
          </a:prstGeom>
          <a:noFill/>
          <a:ln w="6350">
            <a:solidFill>
              <a:srgbClr val="3D7EFF"/>
            </a:solidFill>
            <a:prstDash val="solid"/>
          </a:ln>
        </p:spPr>
      </p:sp>
      <p:sp>
        <p:nvSpPr>
          <p:cNvPr id="17" name="Text 14"/>
          <p:cNvSpPr/>
          <p:nvPr/>
        </p:nvSpPr>
        <p:spPr>
          <a:xfrm>
            <a:off x="7366000" y="2762647"/>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7EFF"/>
                </a:solidFill>
                <a:latin typeface="JetBrains Mono" pitchFamily="49" charset="0"/>
                <a:ea typeface="JetBrains Mono" pitchFamily="49" charset="-122"/>
                <a:cs typeface="JetBrains Mono" pitchFamily="49" charset="-120"/>
              </a:rPr>
              <a:t>Torque × rpm × 2π / 60</a:t>
            </a:r>
            <a:endParaRPr lang="en-US" sz="1200" dirty="0"/>
          </a:p>
        </p:txBody>
      </p:sp>
      <p:sp>
        <p:nvSpPr>
          <p:cNvPr id="18" name="Text 15"/>
          <p:cNvSpPr/>
          <p:nvPr/>
        </p:nvSpPr>
        <p:spPr>
          <a:xfrm>
            <a:off x="7366000" y="3001367"/>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r with target: 0.22</a:t>
            </a:r>
            <a:endParaRPr lang="en-US" sz="1200" dirty="0"/>
          </a:p>
        </p:txBody>
      </p:sp>
      <p:sp>
        <p:nvSpPr>
          <p:cNvPr id="19" name="Shape 16"/>
          <p:cNvSpPr/>
          <p:nvPr/>
        </p:nvSpPr>
        <p:spPr>
          <a:xfrm>
            <a:off x="714375" y="3659783"/>
            <a:ext cx="10763250" cy="953691"/>
          </a:xfrm>
          <a:prstGeom prst="roundRect">
            <a:avLst>
              <a:gd name="adj" fmla="val 6325"/>
            </a:avLst>
          </a:prstGeom>
          <a:solidFill>
            <a:srgbClr val="111111"/>
          </a:solidFill>
          <a:ln w="6350">
            <a:solidFill>
              <a:srgbClr val="222222"/>
            </a:solidFill>
            <a:prstDash val="solid"/>
          </a:ln>
        </p:spPr>
      </p:sp>
      <p:sp>
        <p:nvSpPr>
          <p:cNvPr id="20" name="Shape 17"/>
          <p:cNvSpPr/>
          <p:nvPr/>
        </p:nvSpPr>
        <p:spPr>
          <a:xfrm>
            <a:off x="717550" y="3662958"/>
            <a:ext cx="10756900" cy="25400"/>
          </a:xfrm>
          <a:custGeom>
            <a:avLst/>
            <a:gdLst/>
            <a:ahLst/>
            <a:cxnLst/>
            <a:rect l="l" t="t" r="r" b="b"/>
            <a:pathLst>
              <a:path w="10756900" h="25400">
                <a:moveTo>
                  <a:pt x="9631" y="25400"/>
                </a:moveTo>
                <a:arcTo hR="57150" wR="57150" stAng="12824939" swAng="3375061"/>
                <a:lnTo>
                  <a:pt x="10699750" y="0"/>
                </a:lnTo>
                <a:arcTo hR="57150" wR="57150" stAng="16200000" swAng="3375061"/>
                <a:close/>
              </a:path>
            </a:pathLst>
          </a:custGeom>
          <a:solidFill>
            <a:srgbClr val="00E5CC"/>
          </a:solidFill>
          <a:ln/>
        </p:spPr>
      </p:sp>
      <p:sp>
        <p:nvSpPr>
          <p:cNvPr id="21" name="Text 18"/>
          <p:cNvSpPr/>
          <p:nvPr/>
        </p:nvSpPr>
        <p:spPr>
          <a:xfrm>
            <a:off x="895350" y="3899198"/>
            <a:ext cx="634428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3. Strain_Index</a:t>
            </a:r>
            <a:endParaRPr lang="en-US" sz="1400" dirty="0"/>
          </a:p>
        </p:txBody>
      </p:sp>
      <p:sp>
        <p:nvSpPr>
          <p:cNvPr id="22" name="Text 19"/>
          <p:cNvSpPr/>
          <p:nvPr/>
        </p:nvSpPr>
        <p:spPr>
          <a:xfrm>
            <a:off x="895350" y="4186138"/>
            <a:ext cx="634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Cumulative stress: high torque on a worn tool (linked to OSF).</a:t>
            </a:r>
            <a:endParaRPr lang="en-US" sz="1200" dirty="0"/>
          </a:p>
        </p:txBody>
      </p:sp>
      <p:sp>
        <p:nvSpPr>
          <p:cNvPr id="23" name="Shape 20"/>
          <p:cNvSpPr/>
          <p:nvPr/>
        </p:nvSpPr>
        <p:spPr>
          <a:xfrm>
            <a:off x="7235825" y="3831233"/>
            <a:ext cx="4057650" cy="636191"/>
          </a:xfrm>
          <a:prstGeom prst="roundRect">
            <a:avLst>
              <a:gd name="adj" fmla="val 7486"/>
            </a:avLst>
          </a:prstGeom>
          <a:noFill/>
          <a:ln w="6350">
            <a:solidFill>
              <a:srgbClr val="00E5CC"/>
            </a:solidFill>
            <a:prstDash val="solid"/>
          </a:ln>
        </p:spPr>
      </p:sp>
      <p:sp>
        <p:nvSpPr>
          <p:cNvPr id="24" name="Text 21"/>
          <p:cNvSpPr/>
          <p:nvPr/>
        </p:nvSpPr>
        <p:spPr>
          <a:xfrm>
            <a:off x="7366000" y="3923308"/>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JetBrains Mono" pitchFamily="49" charset="0"/>
                <a:ea typeface="JetBrains Mono" pitchFamily="49" charset="-122"/>
                <a:cs typeface="JetBrains Mono" pitchFamily="49" charset="-120"/>
              </a:rPr>
              <a:t>Torque × Tool wear</a:t>
            </a:r>
            <a:endParaRPr lang="en-US" sz="1200" dirty="0"/>
          </a:p>
        </p:txBody>
      </p:sp>
      <p:sp>
        <p:nvSpPr>
          <p:cNvPr id="25" name="Text 22"/>
          <p:cNvSpPr/>
          <p:nvPr/>
        </p:nvSpPr>
        <p:spPr>
          <a:xfrm>
            <a:off x="7366000" y="4162028"/>
            <a:ext cx="39112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r with target: 0.31</a:t>
            </a:r>
            <a:endParaRPr lang="en-US" sz="1200" dirty="0"/>
          </a:p>
        </p:txBody>
      </p:sp>
      <p:sp>
        <p:nvSpPr>
          <p:cNvPr id="26" name="Shape 23"/>
          <p:cNvSpPr/>
          <p:nvPr/>
        </p:nvSpPr>
        <p:spPr>
          <a:xfrm>
            <a:off x="714375" y="4784923"/>
            <a:ext cx="5302250" cy="1019671"/>
          </a:xfrm>
          <a:prstGeom prst="roundRect">
            <a:avLst>
              <a:gd name="adj" fmla="val 5916"/>
            </a:avLst>
          </a:prstGeom>
          <a:solidFill>
            <a:srgbClr val="111111"/>
          </a:solidFill>
          <a:ln w="6350">
            <a:solidFill>
              <a:srgbClr val="222222"/>
            </a:solidFill>
            <a:prstDash val="solid"/>
          </a:ln>
        </p:spPr>
      </p:sp>
      <p:sp>
        <p:nvSpPr>
          <p:cNvPr id="27" name="Shape 24"/>
          <p:cNvSpPr/>
          <p:nvPr/>
        </p:nvSpPr>
        <p:spPr>
          <a:xfrm>
            <a:off x="717550" y="4788098"/>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28" name="Text 25"/>
          <p:cNvSpPr/>
          <p:nvPr/>
        </p:nvSpPr>
        <p:spPr>
          <a:xfrm>
            <a:off x="895350" y="4953198"/>
            <a:ext cx="508850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5F5"/>
                </a:solidFill>
                <a:latin typeface="Inter" pitchFamily="34" charset="0"/>
                <a:ea typeface="Inter" pitchFamily="34" charset="-122"/>
                <a:cs typeface="Inter" pitchFamily="34" charset="-120"/>
              </a:rPr>
              <a:t>Why before the split</a:t>
            </a:r>
            <a:endParaRPr lang="en-US" sz="1300" dirty="0"/>
          </a:p>
        </p:txBody>
      </p:sp>
      <p:sp>
        <p:nvSpPr>
          <p:cNvPr id="29" name="Text 26"/>
          <p:cNvSpPr/>
          <p:nvPr/>
        </p:nvSpPr>
        <p:spPr>
          <a:xfrm>
            <a:off x="895350" y="5235079"/>
            <a:ext cx="508850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Each feature uses only its own row, so no information comes from other rows.</a:t>
            </a:r>
            <a:endParaRPr lang="en-US" sz="1200" dirty="0"/>
          </a:p>
        </p:txBody>
      </p:sp>
      <p:sp>
        <p:nvSpPr>
          <p:cNvPr id="30" name="Shape 27"/>
          <p:cNvSpPr/>
          <p:nvPr/>
        </p:nvSpPr>
        <p:spPr>
          <a:xfrm>
            <a:off x="6175375" y="4784923"/>
            <a:ext cx="5302250" cy="1019671"/>
          </a:xfrm>
          <a:prstGeom prst="roundRect">
            <a:avLst>
              <a:gd name="adj" fmla="val 5916"/>
            </a:avLst>
          </a:prstGeom>
          <a:solidFill>
            <a:srgbClr val="111111"/>
          </a:solidFill>
          <a:ln w="6350">
            <a:solidFill>
              <a:srgbClr val="222222"/>
            </a:solidFill>
            <a:prstDash val="solid"/>
          </a:ln>
        </p:spPr>
      </p:sp>
      <p:sp>
        <p:nvSpPr>
          <p:cNvPr id="31" name="Shape 28"/>
          <p:cNvSpPr/>
          <p:nvPr/>
        </p:nvSpPr>
        <p:spPr>
          <a:xfrm>
            <a:off x="6178550" y="4788098"/>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3D7EFF"/>
          </a:solidFill>
          <a:ln/>
        </p:spPr>
      </p:sp>
      <p:sp>
        <p:nvSpPr>
          <p:cNvPr id="32" name="Text 29"/>
          <p:cNvSpPr/>
          <p:nvPr/>
        </p:nvSpPr>
        <p:spPr>
          <a:xfrm>
            <a:off x="6356350" y="4953198"/>
            <a:ext cx="508850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5F5"/>
                </a:solidFill>
                <a:latin typeface="Inter" pitchFamily="34" charset="0"/>
                <a:ea typeface="Inter" pitchFamily="34" charset="-122"/>
                <a:cs typeface="Inter" pitchFamily="34" charset="-120"/>
              </a:rPr>
              <a:t>Watch out</a:t>
            </a:r>
            <a:endParaRPr lang="en-US" sz="1300" dirty="0"/>
          </a:p>
        </p:txBody>
      </p:sp>
      <p:sp>
        <p:nvSpPr>
          <p:cNvPr id="33" name="Text 30"/>
          <p:cNvSpPr/>
          <p:nvPr/>
        </p:nvSpPr>
        <p:spPr>
          <a:xfrm>
            <a:off x="6356350" y="5235079"/>
            <a:ext cx="508850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Corr(Power, Torque) = 0.93: partly redundant. Fine for trees; note it for linear models.</a:t>
            </a:r>
            <a:endParaRPr lang="en-US" sz="1200" dirty="0"/>
          </a:p>
        </p:txBody>
      </p:sp>
      <p:sp>
        <p:nvSpPr>
          <p:cNvPr id="34" name="Text 31"/>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5" name="Text 32"/>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009678" y="457200"/>
            <a:ext cx="4172545"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PIPELINE STEP 2 · LEAKAGE CONTROL</a:t>
            </a:r>
            <a:endParaRPr lang="en-US" sz="1200" dirty="0"/>
          </a:p>
        </p:txBody>
      </p:sp>
      <p:sp>
        <p:nvSpPr>
          <p:cNvPr id="4" name="Text 1"/>
          <p:cNvSpPr/>
          <p:nvPr>
            <p:ph type="title"/>
          </p:nvPr>
        </p:nvSpPr>
        <p:spPr>
          <a:xfrm>
            <a:off x="1368266" y="734020"/>
            <a:ext cx="9455468"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Feature Selection: Prove Every Drop With Evidence</a:t>
            </a:r>
            <a:endParaRPr lang="en-US" sz="2500" dirty="0"/>
          </a:p>
        </p:txBody>
      </p:sp>
      <p:sp>
        <p:nvSpPr>
          <p:cNvPr id="5" name="Shape 2"/>
          <p:cNvSpPr/>
          <p:nvPr/>
        </p:nvSpPr>
        <p:spPr>
          <a:xfrm>
            <a:off x="714375" y="1280120"/>
            <a:ext cx="6361410" cy="3472954"/>
          </a:xfrm>
          <a:prstGeom prst="roundRect">
            <a:avLst>
              <a:gd name="adj" fmla="val 1737"/>
            </a:avLst>
          </a:prstGeom>
          <a:solidFill>
            <a:srgbClr val="111111"/>
          </a:solidFill>
          <a:ln w="6350">
            <a:solidFill>
              <a:srgbClr val="222222"/>
            </a:solidFill>
            <a:prstDash val="solid"/>
          </a:ln>
        </p:spPr>
      </p:sp>
      <p:sp>
        <p:nvSpPr>
          <p:cNvPr id="6" name="Shape 3"/>
          <p:cNvSpPr/>
          <p:nvPr/>
        </p:nvSpPr>
        <p:spPr>
          <a:xfrm>
            <a:off x="717550" y="1283295"/>
            <a:ext cx="6355060" cy="25400"/>
          </a:xfrm>
          <a:custGeom>
            <a:avLst/>
            <a:gdLst/>
            <a:ahLst/>
            <a:cxnLst/>
            <a:rect l="l" t="t" r="r" b="b"/>
            <a:pathLst>
              <a:path w="6355060" h="25400">
                <a:moveTo>
                  <a:pt x="9631" y="25400"/>
                </a:moveTo>
                <a:arcTo hR="57150" wR="57150" stAng="12824939" swAng="3375061"/>
                <a:lnTo>
                  <a:pt x="6297910" y="0"/>
                </a:lnTo>
                <a:arcTo hR="57150" wR="57150" stAng="16200000" swAng="3375061"/>
                <a:close/>
              </a:path>
            </a:pathLst>
          </a:custGeom>
          <a:solidFill>
            <a:srgbClr val="FF5A5A"/>
          </a:solidFill>
          <a:ln/>
        </p:spPr>
      </p:sp>
      <p:sp>
        <p:nvSpPr>
          <p:cNvPr id="7" name="Text 4"/>
          <p:cNvSpPr/>
          <p:nvPr/>
        </p:nvSpPr>
        <p:spPr>
          <a:xfrm>
            <a:off x="895350" y="1461095"/>
            <a:ext cx="61794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Excluded columns (leakage / non-predictive)</a:t>
            </a:r>
            <a:endParaRPr lang="en-US" sz="1400" dirty="0"/>
          </a:p>
        </p:txBody>
      </p:sp>
      <p:sp>
        <p:nvSpPr>
          <p:cNvPr id="8" name="Shape 5"/>
          <p:cNvSpPr/>
          <p:nvPr/>
        </p:nvSpPr>
        <p:spPr>
          <a:xfrm>
            <a:off x="895350" y="1798836"/>
            <a:ext cx="5999460" cy="873621"/>
          </a:xfrm>
          <a:prstGeom prst="roundRect">
            <a:avLst>
              <a:gd name="adj" fmla="val 4361"/>
            </a:avLst>
          </a:prstGeom>
          <a:solidFill>
            <a:srgbClr val="1A0F0F"/>
          </a:solidFill>
          <a:ln/>
        </p:spPr>
      </p:sp>
      <p:sp>
        <p:nvSpPr>
          <p:cNvPr id="9" name="Shape 6"/>
          <p:cNvSpPr/>
          <p:nvPr/>
        </p:nvSpPr>
        <p:spPr>
          <a:xfrm>
            <a:off x="895350" y="1798836"/>
            <a:ext cx="5999460" cy="873621"/>
          </a:xfrm>
          <a:custGeom>
            <a:avLst/>
            <a:gdLst/>
            <a:ahLst/>
            <a:cxnLst/>
            <a:rect l="l" t="t" r="r" b="b"/>
            <a:pathLst>
              <a:path w="5999460" h="873621">
                <a:moveTo>
                  <a:pt x="38100" y="873621"/>
                </a:moveTo>
                <a:lnTo>
                  <a:pt x="38100" y="873621"/>
                </a:lnTo>
                <a:arcTo hR="38100" wR="38100" stAng="5400000" swAng="5400000"/>
                <a:lnTo>
                  <a:pt x="0" y="38100"/>
                </a:lnTo>
                <a:arcTo hR="38100" wR="38100" stAng="10800000" swAng="5400000"/>
                <a:lnTo>
                  <a:pt x="38100" y="0"/>
                </a:lnTo>
                <a:arcTo hR="38100" wR="12700" stAng="16200000" swAng="-5400000"/>
                <a:lnTo>
                  <a:pt x="25400" y="835521"/>
                </a:lnTo>
                <a:arcTo hR="38100" wR="12700" stAng="10800000" swAng="-5400000"/>
                <a:close/>
              </a:path>
            </a:pathLst>
          </a:custGeom>
          <a:solidFill>
            <a:srgbClr val="FF5A5A"/>
          </a:solidFill>
          <a:ln/>
        </p:spPr>
      </p:sp>
      <p:sp>
        <p:nvSpPr>
          <p:cNvPr id="10" name="Text 7"/>
          <p:cNvSpPr/>
          <p:nvPr/>
        </p:nvSpPr>
        <p:spPr>
          <a:xfrm>
            <a:off x="1047750" y="1887736"/>
            <a:ext cx="589166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5A5A"/>
                </a:solidFill>
                <a:latin typeface="Inter" pitchFamily="34" charset="0"/>
                <a:ea typeface="Inter" pitchFamily="34" charset="-122"/>
                <a:cs typeface="Inter" pitchFamily="34" charset="-120"/>
              </a:rPr>
              <a:t>UDI</a:t>
            </a:r>
            <a:endParaRPr lang="en-US" sz="1300" dirty="0"/>
          </a:p>
        </p:txBody>
      </p:sp>
      <p:sp>
        <p:nvSpPr>
          <p:cNvPr id="11" name="Text 8"/>
          <p:cNvSpPr/>
          <p:nvPr/>
        </p:nvSpPr>
        <p:spPr>
          <a:xfrm>
            <a:off x="1047750" y="2156916"/>
            <a:ext cx="58916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All 2,500 rows above 10,000 are synthetic failures (0 normal), so the model could read the row number.</a:t>
            </a:r>
            <a:endParaRPr lang="en-US" sz="1200" dirty="0"/>
          </a:p>
        </p:txBody>
      </p:sp>
      <p:sp>
        <p:nvSpPr>
          <p:cNvPr id="12" name="Shape 9"/>
          <p:cNvSpPr/>
          <p:nvPr/>
        </p:nvSpPr>
        <p:spPr>
          <a:xfrm>
            <a:off x="895350" y="2761357"/>
            <a:ext cx="5999460" cy="873621"/>
          </a:xfrm>
          <a:prstGeom prst="roundRect">
            <a:avLst>
              <a:gd name="adj" fmla="val 4361"/>
            </a:avLst>
          </a:prstGeom>
          <a:solidFill>
            <a:srgbClr val="1A0F0F"/>
          </a:solidFill>
          <a:ln/>
        </p:spPr>
      </p:sp>
      <p:sp>
        <p:nvSpPr>
          <p:cNvPr id="13" name="Shape 10"/>
          <p:cNvSpPr/>
          <p:nvPr/>
        </p:nvSpPr>
        <p:spPr>
          <a:xfrm>
            <a:off x="895350" y="2761357"/>
            <a:ext cx="5999460" cy="873621"/>
          </a:xfrm>
          <a:custGeom>
            <a:avLst/>
            <a:gdLst/>
            <a:ahLst/>
            <a:cxnLst/>
            <a:rect l="l" t="t" r="r" b="b"/>
            <a:pathLst>
              <a:path w="5999460" h="873621">
                <a:moveTo>
                  <a:pt x="38100" y="873621"/>
                </a:moveTo>
                <a:lnTo>
                  <a:pt x="38100" y="873621"/>
                </a:lnTo>
                <a:arcTo hR="38100" wR="38100" stAng="5400000" swAng="5400000"/>
                <a:lnTo>
                  <a:pt x="0" y="38100"/>
                </a:lnTo>
                <a:arcTo hR="38100" wR="38100" stAng="10800000" swAng="5400000"/>
                <a:lnTo>
                  <a:pt x="38100" y="0"/>
                </a:lnTo>
                <a:arcTo hR="38100" wR="12700" stAng="16200000" swAng="-5400000"/>
                <a:lnTo>
                  <a:pt x="25400" y="835521"/>
                </a:lnTo>
                <a:arcTo hR="38100" wR="12700" stAng="10800000" swAng="-5400000"/>
                <a:close/>
              </a:path>
            </a:pathLst>
          </a:custGeom>
          <a:solidFill>
            <a:srgbClr val="FF5A5A"/>
          </a:solidFill>
          <a:ln/>
        </p:spPr>
      </p:sp>
      <p:sp>
        <p:nvSpPr>
          <p:cNvPr id="14" name="Text 11"/>
          <p:cNvSpPr/>
          <p:nvPr/>
        </p:nvSpPr>
        <p:spPr>
          <a:xfrm>
            <a:off x="1047750" y="2850257"/>
            <a:ext cx="589166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5A5A"/>
                </a:solidFill>
                <a:latin typeface="Inter" pitchFamily="34" charset="0"/>
                <a:ea typeface="Inter" pitchFamily="34" charset="-122"/>
                <a:cs typeface="Inter" pitchFamily="34" charset="-120"/>
              </a:rPr>
              <a:t>Product ID</a:t>
            </a:r>
            <a:endParaRPr lang="en-US" sz="1300" dirty="0"/>
          </a:p>
        </p:txBody>
      </p:sp>
      <p:sp>
        <p:nvSpPr>
          <p:cNvPr id="15" name="Text 12"/>
          <p:cNvSpPr/>
          <p:nvPr/>
        </p:nvSpPr>
        <p:spPr>
          <a:xfrm>
            <a:off x="1047750" y="3119438"/>
            <a:ext cx="58916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Only 10,000 unique IDs in 12,500 rows; H35323 appears 115 times. One ID in both train and test is leakage, and its L/M/H letter already lives in Type.</a:t>
            </a:r>
            <a:endParaRPr lang="en-US" sz="1200" dirty="0"/>
          </a:p>
        </p:txBody>
      </p:sp>
      <p:sp>
        <p:nvSpPr>
          <p:cNvPr id="16" name="Shape 13"/>
          <p:cNvSpPr/>
          <p:nvPr/>
        </p:nvSpPr>
        <p:spPr>
          <a:xfrm>
            <a:off x="895350" y="3723878"/>
            <a:ext cx="5999460" cy="873621"/>
          </a:xfrm>
          <a:prstGeom prst="roundRect">
            <a:avLst>
              <a:gd name="adj" fmla="val 4361"/>
            </a:avLst>
          </a:prstGeom>
          <a:solidFill>
            <a:srgbClr val="1A0F0F"/>
          </a:solidFill>
          <a:ln/>
        </p:spPr>
      </p:sp>
      <p:sp>
        <p:nvSpPr>
          <p:cNvPr id="17" name="Shape 14"/>
          <p:cNvSpPr/>
          <p:nvPr/>
        </p:nvSpPr>
        <p:spPr>
          <a:xfrm>
            <a:off x="895350" y="3723878"/>
            <a:ext cx="5999460" cy="873621"/>
          </a:xfrm>
          <a:custGeom>
            <a:avLst/>
            <a:gdLst/>
            <a:ahLst/>
            <a:cxnLst/>
            <a:rect l="l" t="t" r="r" b="b"/>
            <a:pathLst>
              <a:path w="5999460" h="873621">
                <a:moveTo>
                  <a:pt x="38100" y="873621"/>
                </a:moveTo>
                <a:lnTo>
                  <a:pt x="38100" y="873621"/>
                </a:lnTo>
                <a:arcTo hR="38100" wR="38100" stAng="5400000" swAng="5400000"/>
                <a:lnTo>
                  <a:pt x="0" y="38100"/>
                </a:lnTo>
                <a:arcTo hR="38100" wR="38100" stAng="10800000" swAng="5400000"/>
                <a:lnTo>
                  <a:pt x="38100" y="0"/>
                </a:lnTo>
                <a:arcTo hR="38100" wR="12700" stAng="16200000" swAng="-5400000"/>
                <a:lnTo>
                  <a:pt x="25400" y="835521"/>
                </a:lnTo>
                <a:arcTo hR="38100" wR="12700" stAng="10800000" swAng="-5400000"/>
                <a:close/>
              </a:path>
            </a:pathLst>
          </a:custGeom>
          <a:solidFill>
            <a:srgbClr val="FF5A5A"/>
          </a:solidFill>
          <a:ln/>
        </p:spPr>
      </p:sp>
      <p:sp>
        <p:nvSpPr>
          <p:cNvPr id="18" name="Text 15"/>
          <p:cNvSpPr/>
          <p:nvPr/>
        </p:nvSpPr>
        <p:spPr>
          <a:xfrm>
            <a:off x="1047750" y="3812778"/>
            <a:ext cx="5891662"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5A5A"/>
                </a:solidFill>
                <a:latin typeface="Inter" pitchFamily="34" charset="0"/>
                <a:ea typeface="Inter" pitchFamily="34" charset="-122"/>
                <a:cs typeface="Inter" pitchFamily="34" charset="-120"/>
              </a:rPr>
              <a:t>TWF, HDF, PWF, OSF, RNF</a:t>
            </a:r>
            <a:endParaRPr lang="en-US" sz="1300" dirty="0"/>
          </a:p>
        </p:txBody>
      </p:sp>
      <p:sp>
        <p:nvSpPr>
          <p:cNvPr id="19" name="Text 16"/>
          <p:cNvSpPr/>
          <p:nvPr/>
        </p:nvSpPr>
        <p:spPr>
          <a:xfrm>
            <a:off x="1047750" y="4081959"/>
            <a:ext cx="58916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Machine failure equals any of them in 99.78% of rows. They are the answer itself: target leakage, about 100% without learning.</a:t>
            </a:r>
            <a:endParaRPr lang="en-US" sz="1200" dirty="0"/>
          </a:p>
        </p:txBody>
      </p:sp>
      <p:sp>
        <p:nvSpPr>
          <p:cNvPr id="20" name="Shape 17"/>
          <p:cNvSpPr/>
          <p:nvPr/>
        </p:nvSpPr>
        <p:spPr>
          <a:xfrm>
            <a:off x="7234535" y="1280120"/>
            <a:ext cx="4243090" cy="3084513"/>
          </a:xfrm>
          <a:prstGeom prst="roundRect">
            <a:avLst>
              <a:gd name="adj" fmla="val 1956"/>
            </a:avLst>
          </a:prstGeom>
          <a:solidFill>
            <a:srgbClr val="111111"/>
          </a:solidFill>
          <a:ln w="6350">
            <a:solidFill>
              <a:srgbClr val="222222"/>
            </a:solidFill>
            <a:prstDash val="solid"/>
          </a:ln>
        </p:spPr>
      </p:sp>
      <p:sp>
        <p:nvSpPr>
          <p:cNvPr id="21" name="Shape 18"/>
          <p:cNvSpPr/>
          <p:nvPr/>
        </p:nvSpPr>
        <p:spPr>
          <a:xfrm>
            <a:off x="7237710" y="1283295"/>
            <a:ext cx="4236740" cy="25400"/>
          </a:xfrm>
          <a:custGeom>
            <a:avLst/>
            <a:gdLst/>
            <a:ahLst/>
            <a:cxnLst/>
            <a:rect l="l" t="t" r="r" b="b"/>
            <a:pathLst>
              <a:path w="4236740" h="25400">
                <a:moveTo>
                  <a:pt x="9631" y="25400"/>
                </a:moveTo>
                <a:arcTo hR="57150" wR="57150" stAng="12824939" swAng="3375061"/>
                <a:lnTo>
                  <a:pt x="4179590" y="0"/>
                </a:lnTo>
                <a:arcTo hR="57150" wR="57150" stAng="16200000" swAng="3375061"/>
                <a:close/>
              </a:path>
            </a:pathLst>
          </a:custGeom>
          <a:solidFill>
            <a:srgbClr val="00E5CC"/>
          </a:solidFill>
          <a:ln/>
        </p:spPr>
      </p:sp>
      <p:sp>
        <p:nvSpPr>
          <p:cNvPr id="22" name="Text 19"/>
          <p:cNvSpPr/>
          <p:nvPr/>
        </p:nvSpPr>
        <p:spPr>
          <a:xfrm>
            <a:off x="7415510" y="1461095"/>
            <a:ext cx="399757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Retained predictors</a:t>
            </a:r>
            <a:endParaRPr lang="en-US" sz="1400" dirty="0"/>
          </a:p>
        </p:txBody>
      </p:sp>
      <p:sp>
        <p:nvSpPr>
          <p:cNvPr id="23" name="Shape 20"/>
          <p:cNvSpPr/>
          <p:nvPr/>
        </p:nvSpPr>
        <p:spPr>
          <a:xfrm>
            <a:off x="7415510" y="1786136"/>
            <a:ext cx="3881140" cy="365720"/>
          </a:xfrm>
          <a:prstGeom prst="roundRect">
            <a:avLst>
              <a:gd name="adj" fmla="val 10418"/>
            </a:avLst>
          </a:prstGeom>
          <a:solidFill>
            <a:srgbClr val="0B1817"/>
          </a:solidFill>
          <a:ln/>
        </p:spPr>
      </p:sp>
      <p:sp>
        <p:nvSpPr>
          <p:cNvPr id="24" name="Text 21"/>
          <p:cNvSpPr/>
          <p:nvPr/>
        </p:nvSpPr>
        <p:spPr>
          <a:xfrm>
            <a:off x="7529810" y="1862336"/>
            <a:ext cx="164568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Inter" pitchFamily="34" charset="0"/>
                <a:ea typeface="Inter" pitchFamily="34" charset="-122"/>
                <a:cs typeface="Inter" pitchFamily="34" charset="-120"/>
              </a:rPr>
              <a:t>Air &amp; Process temp</a:t>
            </a:r>
            <a:endParaRPr lang="en-US" sz="1200" dirty="0"/>
          </a:p>
        </p:txBody>
      </p:sp>
      <p:sp>
        <p:nvSpPr>
          <p:cNvPr id="25" name="Text 22"/>
          <p:cNvSpPr/>
          <p:nvPr/>
        </p:nvSpPr>
        <p:spPr>
          <a:xfrm>
            <a:off x="10478691" y="1862336"/>
            <a:ext cx="7036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8B8"/>
                </a:solidFill>
                <a:latin typeface="Inter" pitchFamily="34" charset="0"/>
                <a:ea typeface="Inter" pitchFamily="34" charset="-122"/>
                <a:cs typeface="Inter" pitchFamily="34" charset="-120"/>
              </a:rPr>
              <a:t>Sensors</a:t>
            </a:r>
            <a:endParaRPr lang="en-US" sz="1200" dirty="0"/>
          </a:p>
        </p:txBody>
      </p:sp>
      <p:sp>
        <p:nvSpPr>
          <p:cNvPr id="26" name="Shape 23"/>
          <p:cNvSpPr/>
          <p:nvPr/>
        </p:nvSpPr>
        <p:spPr>
          <a:xfrm>
            <a:off x="7415510" y="2228056"/>
            <a:ext cx="3881140" cy="365720"/>
          </a:xfrm>
          <a:prstGeom prst="roundRect">
            <a:avLst>
              <a:gd name="adj" fmla="val 10418"/>
            </a:avLst>
          </a:prstGeom>
          <a:solidFill>
            <a:srgbClr val="0B1817"/>
          </a:solidFill>
          <a:ln/>
        </p:spPr>
      </p:sp>
      <p:sp>
        <p:nvSpPr>
          <p:cNvPr id="27" name="Text 24"/>
          <p:cNvSpPr/>
          <p:nvPr/>
        </p:nvSpPr>
        <p:spPr>
          <a:xfrm>
            <a:off x="7529810" y="2304256"/>
            <a:ext cx="13812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Inter" pitchFamily="34" charset="0"/>
                <a:ea typeface="Inter" pitchFamily="34" charset="-122"/>
                <a:cs typeface="Inter" pitchFamily="34" charset="-120"/>
              </a:rPr>
              <a:t>Speed &amp; Torque</a:t>
            </a:r>
            <a:endParaRPr lang="en-US" sz="1200" dirty="0"/>
          </a:p>
        </p:txBody>
      </p:sp>
      <p:sp>
        <p:nvSpPr>
          <p:cNvPr id="28" name="Text 25"/>
          <p:cNvSpPr/>
          <p:nvPr/>
        </p:nvSpPr>
        <p:spPr>
          <a:xfrm>
            <a:off x="10478691" y="2304256"/>
            <a:ext cx="7036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8B8"/>
                </a:solidFill>
                <a:latin typeface="Inter" pitchFamily="34" charset="0"/>
                <a:ea typeface="Inter" pitchFamily="34" charset="-122"/>
                <a:cs typeface="Inter" pitchFamily="34" charset="-120"/>
              </a:rPr>
              <a:t>Sensors</a:t>
            </a:r>
            <a:endParaRPr lang="en-US" sz="1200" dirty="0"/>
          </a:p>
        </p:txBody>
      </p:sp>
      <p:sp>
        <p:nvSpPr>
          <p:cNvPr id="29" name="Shape 26"/>
          <p:cNvSpPr/>
          <p:nvPr/>
        </p:nvSpPr>
        <p:spPr>
          <a:xfrm>
            <a:off x="7415510" y="2669977"/>
            <a:ext cx="3881140" cy="365720"/>
          </a:xfrm>
          <a:prstGeom prst="roundRect">
            <a:avLst>
              <a:gd name="adj" fmla="val 10418"/>
            </a:avLst>
          </a:prstGeom>
          <a:solidFill>
            <a:srgbClr val="0B1817"/>
          </a:solidFill>
          <a:ln/>
        </p:spPr>
      </p:sp>
      <p:sp>
        <p:nvSpPr>
          <p:cNvPr id="30" name="Text 27"/>
          <p:cNvSpPr/>
          <p:nvPr/>
        </p:nvSpPr>
        <p:spPr>
          <a:xfrm>
            <a:off x="7529810" y="2746177"/>
            <a:ext cx="8451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Inter" pitchFamily="34" charset="0"/>
                <a:ea typeface="Inter" pitchFamily="34" charset="-122"/>
                <a:cs typeface="Inter" pitchFamily="34" charset="-120"/>
              </a:rPr>
              <a:t>Tool wear</a:t>
            </a:r>
            <a:endParaRPr lang="en-US" sz="1200" dirty="0"/>
          </a:p>
        </p:txBody>
      </p:sp>
      <p:sp>
        <p:nvSpPr>
          <p:cNvPr id="31" name="Text 28"/>
          <p:cNvSpPr/>
          <p:nvPr/>
        </p:nvSpPr>
        <p:spPr>
          <a:xfrm>
            <a:off x="9912906" y="2746177"/>
            <a:ext cx="1269444"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8B8"/>
                </a:solidFill>
                <a:latin typeface="Inter" pitchFamily="34" charset="0"/>
                <a:ea typeface="Inter" pitchFamily="34" charset="-122"/>
                <a:cs typeface="Inter" pitchFamily="34" charset="-120"/>
              </a:rPr>
              <a:t>Usage counter</a:t>
            </a:r>
            <a:endParaRPr lang="en-US" sz="1200" dirty="0"/>
          </a:p>
        </p:txBody>
      </p:sp>
      <p:sp>
        <p:nvSpPr>
          <p:cNvPr id="32" name="Shape 29"/>
          <p:cNvSpPr/>
          <p:nvPr/>
        </p:nvSpPr>
        <p:spPr>
          <a:xfrm>
            <a:off x="7415510" y="3111897"/>
            <a:ext cx="3881140" cy="365720"/>
          </a:xfrm>
          <a:prstGeom prst="roundRect">
            <a:avLst>
              <a:gd name="adj" fmla="val 10418"/>
            </a:avLst>
          </a:prstGeom>
          <a:solidFill>
            <a:srgbClr val="0B1817"/>
          </a:solidFill>
          <a:ln/>
        </p:spPr>
      </p:sp>
      <p:sp>
        <p:nvSpPr>
          <p:cNvPr id="33" name="Text 30"/>
          <p:cNvSpPr/>
          <p:nvPr/>
        </p:nvSpPr>
        <p:spPr>
          <a:xfrm>
            <a:off x="7529810" y="3188097"/>
            <a:ext cx="11412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Inter" pitchFamily="34" charset="0"/>
                <a:ea typeface="Inter" pitchFamily="34" charset="-122"/>
                <a:cs typeface="Inter" pitchFamily="34" charset="-120"/>
              </a:rPr>
              <a:t>3 engineered</a:t>
            </a:r>
            <a:endParaRPr lang="en-US" sz="1200" dirty="0"/>
          </a:p>
        </p:txBody>
      </p:sp>
      <p:sp>
        <p:nvSpPr>
          <p:cNvPr id="34" name="Text 31"/>
          <p:cNvSpPr/>
          <p:nvPr/>
        </p:nvSpPr>
        <p:spPr>
          <a:xfrm>
            <a:off x="9797534" y="3188097"/>
            <a:ext cx="138481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8B8"/>
                </a:solidFill>
                <a:latin typeface="Inter" pitchFamily="34" charset="0"/>
                <a:ea typeface="Inter" pitchFamily="34" charset="-122"/>
                <a:cs typeface="Inter" pitchFamily="34" charset="-120"/>
              </a:rPr>
              <a:t>Derived physics</a:t>
            </a:r>
            <a:endParaRPr lang="en-US" sz="1200" dirty="0"/>
          </a:p>
        </p:txBody>
      </p:sp>
      <p:sp>
        <p:nvSpPr>
          <p:cNvPr id="35" name="Shape 32"/>
          <p:cNvSpPr/>
          <p:nvPr/>
        </p:nvSpPr>
        <p:spPr>
          <a:xfrm>
            <a:off x="7415510" y="3553817"/>
            <a:ext cx="3881140" cy="365720"/>
          </a:xfrm>
          <a:prstGeom prst="roundRect">
            <a:avLst>
              <a:gd name="adj" fmla="val 10418"/>
            </a:avLst>
          </a:prstGeom>
          <a:solidFill>
            <a:srgbClr val="0B1817"/>
          </a:solidFill>
          <a:ln/>
        </p:spPr>
      </p:sp>
      <p:sp>
        <p:nvSpPr>
          <p:cNvPr id="36" name="Text 33"/>
          <p:cNvSpPr/>
          <p:nvPr/>
        </p:nvSpPr>
        <p:spPr>
          <a:xfrm>
            <a:off x="7529810" y="3630017"/>
            <a:ext cx="12256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Inter" pitchFamily="34" charset="0"/>
                <a:ea typeface="Inter" pitchFamily="34" charset="-122"/>
                <a:cs typeface="Inter" pitchFamily="34" charset="-120"/>
              </a:rPr>
              <a:t>Type (L, M, H)</a:t>
            </a:r>
            <a:endParaRPr lang="en-US" sz="1200" dirty="0"/>
          </a:p>
        </p:txBody>
      </p:sp>
      <p:sp>
        <p:nvSpPr>
          <p:cNvPr id="37" name="Text 34"/>
          <p:cNvSpPr/>
          <p:nvPr/>
        </p:nvSpPr>
        <p:spPr>
          <a:xfrm>
            <a:off x="10080784" y="3630017"/>
            <a:ext cx="110156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B8B8"/>
                </a:solidFill>
                <a:latin typeface="Inter" pitchFamily="34" charset="0"/>
                <a:ea typeface="Inter" pitchFamily="34" charset="-122"/>
                <a:cs typeface="Inter" pitchFamily="34" charset="-120"/>
              </a:rPr>
              <a:t>Ordinal 0/1/2</a:t>
            </a:r>
            <a:endParaRPr lang="en-US" sz="1200" dirty="0"/>
          </a:p>
        </p:txBody>
      </p:sp>
      <p:sp>
        <p:nvSpPr>
          <p:cNvPr id="38" name="Text 35"/>
          <p:cNvSpPr/>
          <p:nvPr/>
        </p:nvSpPr>
        <p:spPr>
          <a:xfrm>
            <a:off x="7415510" y="3995738"/>
            <a:ext cx="39975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Result: 12,500 × 10 (9 features + target).</a:t>
            </a:r>
            <a:endParaRPr lang="en-US" sz="1200" dirty="0"/>
          </a:p>
        </p:txBody>
      </p:sp>
      <p:sp>
        <p:nvSpPr>
          <p:cNvPr id="39" name="Shape 36"/>
          <p:cNvSpPr/>
          <p:nvPr/>
        </p:nvSpPr>
        <p:spPr>
          <a:xfrm>
            <a:off x="714375" y="4937224"/>
            <a:ext cx="10763250" cy="717451"/>
          </a:xfrm>
          <a:prstGeom prst="roundRect">
            <a:avLst>
              <a:gd name="adj" fmla="val 8408"/>
            </a:avLst>
          </a:prstGeom>
          <a:solidFill>
            <a:srgbClr val="111111"/>
          </a:solidFill>
          <a:ln w="6350">
            <a:solidFill>
              <a:srgbClr val="222222"/>
            </a:solidFill>
            <a:prstDash val="solid"/>
          </a:ln>
        </p:spPr>
      </p:sp>
      <p:sp>
        <p:nvSpPr>
          <p:cNvPr id="40" name="Text 37"/>
          <p:cNvSpPr/>
          <p:nvPr/>
        </p:nvSpPr>
        <p:spPr>
          <a:xfrm>
            <a:off x="895350" y="5054699"/>
            <a:ext cx="10713339"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WHY EVIDENCE</a:t>
            </a:r>
            <a:endParaRPr lang="en-US" sz="1200" dirty="0"/>
          </a:p>
        </p:txBody>
      </p:sp>
      <p:sp>
        <p:nvSpPr>
          <p:cNvPr id="41" name="Text 38"/>
          <p:cNvSpPr/>
          <p:nvPr/>
        </p:nvSpPr>
        <p:spPr>
          <a:xfrm>
            <a:off x="895350" y="5306120"/>
            <a:ext cx="1071333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5F5"/>
                </a:solidFill>
                <a:latin typeface="Inter" pitchFamily="34" charset="0"/>
                <a:ea typeface="Inter" pitchFamily="34" charset="-122"/>
                <a:cs typeface="Inter" pitchFamily="34" charset="-120"/>
              </a:rPr>
              <a:t>“We were told to drop them” is not enough: each decision is proven by a check in the notebook.</a:t>
            </a:r>
            <a:endParaRPr lang="en-US" sz="1300" dirty="0"/>
          </a:p>
        </p:txBody>
      </p:sp>
      <p:sp>
        <p:nvSpPr>
          <p:cNvPr id="42" name="Text 39"/>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43" name="Text 40"/>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3478887" y="457200"/>
            <a:ext cx="5234226"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PIPELINE STEPS 3–5 · TRANSFORMATION RIGOR</a:t>
            </a:r>
            <a:endParaRPr lang="en-US" sz="1200" dirty="0"/>
          </a:p>
        </p:txBody>
      </p:sp>
      <p:sp>
        <p:nvSpPr>
          <p:cNvPr id="4" name="Text 1"/>
          <p:cNvSpPr/>
          <p:nvPr>
            <p:ph type="title"/>
          </p:nvPr>
        </p:nvSpPr>
        <p:spPr>
          <a:xfrm>
            <a:off x="1739146" y="734020"/>
            <a:ext cx="8713708"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Encoding, Stratified Splitting &amp; Standardization</a:t>
            </a:r>
            <a:endParaRPr lang="en-US" sz="2500" dirty="0"/>
          </a:p>
        </p:txBody>
      </p:sp>
      <p:sp>
        <p:nvSpPr>
          <p:cNvPr id="5" name="Shape 2"/>
          <p:cNvSpPr/>
          <p:nvPr/>
        </p:nvSpPr>
        <p:spPr>
          <a:xfrm>
            <a:off x="714375" y="1280120"/>
            <a:ext cx="3481884" cy="2891433"/>
          </a:xfrm>
          <a:prstGeom prst="roundRect">
            <a:avLst>
              <a:gd name="adj" fmla="val 2086"/>
            </a:avLst>
          </a:prstGeom>
          <a:solidFill>
            <a:srgbClr val="111111"/>
          </a:solidFill>
          <a:ln w="6350">
            <a:solidFill>
              <a:srgbClr val="222222"/>
            </a:solidFill>
            <a:prstDash val="solid"/>
          </a:ln>
        </p:spPr>
      </p:sp>
      <p:sp>
        <p:nvSpPr>
          <p:cNvPr id="6" name="Shape 3"/>
          <p:cNvSpPr/>
          <p:nvPr/>
        </p:nvSpPr>
        <p:spPr>
          <a:xfrm>
            <a:off x="717550" y="1283295"/>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7" name="Text 4"/>
          <p:cNvSpPr/>
          <p:nvPr/>
        </p:nvSpPr>
        <p:spPr>
          <a:xfrm>
            <a:off x="882650" y="1461095"/>
            <a:ext cx="32396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03 · ENCODING</a:t>
            </a:r>
            <a:endParaRPr lang="en-US" sz="1200" dirty="0"/>
          </a:p>
        </p:txBody>
      </p:sp>
      <p:sp>
        <p:nvSpPr>
          <p:cNvPr id="8" name="Text 5"/>
          <p:cNvSpPr/>
          <p:nvPr/>
        </p:nvSpPr>
        <p:spPr>
          <a:xfrm>
            <a:off x="882650" y="1750616"/>
            <a:ext cx="32396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Ordinal map L=0, M=1, H=2</a:t>
            </a:r>
            <a:endParaRPr lang="en-US" sz="1400" dirty="0"/>
          </a:p>
        </p:txBody>
      </p:sp>
      <p:sp>
        <p:nvSpPr>
          <p:cNvPr id="9" name="Text 6"/>
          <p:cNvSpPr/>
          <p:nvPr/>
        </p:nvSpPr>
        <p:spPr>
          <a:xfrm>
            <a:off x="882650" y="2040136"/>
            <a:ext cx="323969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Quality is ordered (L &lt; M &lt; H), so one 0/1/2 column keeps the order. LabelEncoder would give H=0, L=1, M=2, so we map explicitly.</a:t>
            </a:r>
            <a:endParaRPr lang="en-US" sz="1200" dirty="0"/>
          </a:p>
        </p:txBody>
      </p:sp>
      <p:sp>
        <p:nvSpPr>
          <p:cNvPr id="10" name="Text 7"/>
          <p:cNvSpPr/>
          <p:nvPr/>
        </p:nvSpPr>
        <p:spPr>
          <a:xfrm>
            <a:off x="882650" y="2969617"/>
            <a:ext cx="3145334" cy="381000"/>
          </a:xfrm>
          <a:prstGeom prst="roundRect">
            <a:avLst>
              <a:gd name="adj" fmla="val 10000"/>
            </a:avLst>
          </a:prstGeom>
          <a:solidFill>
            <a:srgbClr val="0B1817"/>
          </a:solidFill>
          <a:ln/>
        </p:spPr>
        <p:txBody>
          <a:bodyPr wrap="square" lIns="90441" tIns="65041" rIns="2177" bIns="39641" rtlCol="0" anchor="t">
            <a:normAutofit/>
          </a:bodyPr>
          <a:lstStyle/>
          <a:p>
            <a:pPr algn="l" indent="0" marL="0">
              <a:lnSpc>
                <a:spcPts val="1800"/>
              </a:lnSpc>
              <a:buNone/>
            </a:pPr>
            <a:r>
              <a:rPr lang="en-US" sz="1200" dirty="0">
                <a:solidFill>
                  <a:srgbClr val="00E5CC"/>
                </a:solidFill>
                <a:latin typeface="JetBrains Mono" pitchFamily="49" charset="0"/>
                <a:ea typeface="JetBrains Mono" pitchFamily="49" charset="-122"/>
                <a:cs typeface="JetBrains Mono" pitchFamily="49" charset="-120"/>
              </a:rPr>
              <a:t>{'L': 0, 'M': 1, 'H': 2}</a:t>
            </a:r>
            <a:endParaRPr lang="en-US" sz="1200" dirty="0"/>
          </a:p>
        </p:txBody>
      </p:sp>
      <p:sp>
        <p:nvSpPr>
          <p:cNvPr id="11" name="Text 8"/>
          <p:cNvSpPr/>
          <p:nvPr/>
        </p:nvSpPr>
        <p:spPr>
          <a:xfrm>
            <a:off x="882650" y="3426817"/>
            <a:ext cx="32396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Rows: L 7,626 · M 3,589 · H 1,285</a:t>
            </a:r>
            <a:endParaRPr lang="en-US" sz="1200" dirty="0"/>
          </a:p>
        </p:txBody>
      </p:sp>
      <p:sp>
        <p:nvSpPr>
          <p:cNvPr id="12" name="Shape 9"/>
          <p:cNvSpPr/>
          <p:nvPr/>
        </p:nvSpPr>
        <p:spPr>
          <a:xfrm>
            <a:off x="4355009" y="1280120"/>
            <a:ext cx="3481983" cy="2891433"/>
          </a:xfrm>
          <a:prstGeom prst="roundRect">
            <a:avLst>
              <a:gd name="adj" fmla="val 2086"/>
            </a:avLst>
          </a:prstGeom>
          <a:solidFill>
            <a:srgbClr val="111111"/>
          </a:solidFill>
          <a:ln w="6350">
            <a:solidFill>
              <a:srgbClr val="222222"/>
            </a:solidFill>
            <a:prstDash val="solid"/>
          </a:ln>
        </p:spPr>
      </p:sp>
      <p:sp>
        <p:nvSpPr>
          <p:cNvPr id="13" name="Shape 10"/>
          <p:cNvSpPr/>
          <p:nvPr/>
        </p:nvSpPr>
        <p:spPr>
          <a:xfrm>
            <a:off x="4358184" y="1283295"/>
            <a:ext cx="3475633" cy="25400"/>
          </a:xfrm>
          <a:custGeom>
            <a:avLst/>
            <a:gdLst/>
            <a:ahLst/>
            <a:cxnLst/>
            <a:rect l="l" t="t" r="r" b="b"/>
            <a:pathLst>
              <a:path w="3475633" h="25400">
                <a:moveTo>
                  <a:pt x="9631" y="25400"/>
                </a:moveTo>
                <a:arcTo hR="57150" wR="57150" stAng="12824939" swAng="3375061"/>
                <a:lnTo>
                  <a:pt x="3418483" y="0"/>
                </a:lnTo>
                <a:arcTo hR="57150" wR="57150" stAng="16200000" swAng="3375061"/>
                <a:close/>
              </a:path>
            </a:pathLst>
          </a:custGeom>
          <a:solidFill>
            <a:srgbClr val="3D7EFF"/>
          </a:solidFill>
          <a:ln/>
        </p:spPr>
      </p:sp>
      <p:sp>
        <p:nvSpPr>
          <p:cNvPr id="14" name="Text 11"/>
          <p:cNvSpPr/>
          <p:nvPr/>
        </p:nvSpPr>
        <p:spPr>
          <a:xfrm>
            <a:off x="4523284" y="1461095"/>
            <a:ext cx="32397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D7EFF"/>
                </a:solidFill>
                <a:latin typeface="Inter" pitchFamily="34" charset="0"/>
                <a:ea typeface="Inter" pitchFamily="34" charset="-122"/>
                <a:cs typeface="Inter" pitchFamily="34" charset="-120"/>
              </a:rPr>
              <a:t>04 · SPLITTING</a:t>
            </a:r>
            <a:endParaRPr lang="en-US" sz="1200" dirty="0"/>
          </a:p>
        </p:txBody>
      </p:sp>
      <p:sp>
        <p:nvSpPr>
          <p:cNvPr id="15" name="Text 12"/>
          <p:cNvSpPr/>
          <p:nvPr/>
        </p:nvSpPr>
        <p:spPr>
          <a:xfrm>
            <a:off x="4523284" y="1750616"/>
            <a:ext cx="323979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80 / 20 stratified split</a:t>
            </a:r>
            <a:endParaRPr lang="en-US" sz="1400" dirty="0"/>
          </a:p>
        </p:txBody>
      </p:sp>
      <p:sp>
        <p:nvSpPr>
          <p:cNvPr id="16" name="Text 13"/>
          <p:cNvSpPr/>
          <p:nvPr/>
        </p:nvSpPr>
        <p:spPr>
          <a:xfrm>
            <a:off x="4523284" y="2040136"/>
            <a:ext cx="323979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stratify=y keeps the same failure rate in both sets; random_state=42 gives every member the same split.</a:t>
            </a:r>
            <a:endParaRPr lang="en-US" sz="1200" dirty="0"/>
          </a:p>
        </p:txBody>
      </p:sp>
      <p:sp>
        <p:nvSpPr>
          <p:cNvPr id="17" name="Shape 14"/>
          <p:cNvSpPr/>
          <p:nvPr/>
        </p:nvSpPr>
        <p:spPr>
          <a:xfrm>
            <a:off x="4523284" y="2756297"/>
            <a:ext cx="3145433" cy="340320"/>
          </a:xfrm>
          <a:prstGeom prst="roundRect">
            <a:avLst>
              <a:gd name="adj" fmla="val 11195"/>
            </a:avLst>
          </a:prstGeom>
          <a:solidFill>
            <a:srgbClr val="0D0D0D"/>
          </a:solidFill>
          <a:ln/>
        </p:spPr>
      </p:sp>
      <p:sp>
        <p:nvSpPr>
          <p:cNvPr id="18" name="Text 15"/>
          <p:cNvSpPr/>
          <p:nvPr/>
        </p:nvSpPr>
        <p:spPr>
          <a:xfrm>
            <a:off x="4624884" y="2819797"/>
            <a:ext cx="15848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Train: 10,000 rows</a:t>
            </a:r>
            <a:endParaRPr lang="en-US" sz="1200" dirty="0"/>
          </a:p>
        </p:txBody>
      </p:sp>
      <p:sp>
        <p:nvSpPr>
          <p:cNvPr id="19" name="Text 16"/>
          <p:cNvSpPr/>
          <p:nvPr/>
        </p:nvSpPr>
        <p:spPr>
          <a:xfrm>
            <a:off x="6909296" y="2819797"/>
            <a:ext cx="65782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D7EFF"/>
                </a:solidFill>
                <a:latin typeface="Inter" pitchFamily="34" charset="0"/>
                <a:ea typeface="Inter" pitchFamily="34" charset="-122"/>
                <a:cs typeface="Inter" pitchFamily="34" charset="-120"/>
              </a:rPr>
              <a:t>22.71%</a:t>
            </a:r>
            <a:endParaRPr lang="en-US" sz="1200" dirty="0"/>
          </a:p>
        </p:txBody>
      </p:sp>
      <p:sp>
        <p:nvSpPr>
          <p:cNvPr id="20" name="Shape 17"/>
          <p:cNvSpPr/>
          <p:nvPr/>
        </p:nvSpPr>
        <p:spPr>
          <a:xfrm>
            <a:off x="4523284" y="3172817"/>
            <a:ext cx="3145433" cy="340320"/>
          </a:xfrm>
          <a:prstGeom prst="roundRect">
            <a:avLst>
              <a:gd name="adj" fmla="val 11195"/>
            </a:avLst>
          </a:prstGeom>
          <a:solidFill>
            <a:srgbClr val="0D0D0D"/>
          </a:solidFill>
          <a:ln/>
        </p:spPr>
      </p:sp>
      <p:sp>
        <p:nvSpPr>
          <p:cNvPr id="21" name="Text 18"/>
          <p:cNvSpPr/>
          <p:nvPr/>
        </p:nvSpPr>
        <p:spPr>
          <a:xfrm>
            <a:off x="4624884" y="3236317"/>
            <a:ext cx="14416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Test: 2,500 rows</a:t>
            </a:r>
            <a:endParaRPr lang="en-US" sz="1200" dirty="0"/>
          </a:p>
        </p:txBody>
      </p:sp>
      <p:sp>
        <p:nvSpPr>
          <p:cNvPr id="22" name="Text 19"/>
          <p:cNvSpPr/>
          <p:nvPr/>
        </p:nvSpPr>
        <p:spPr>
          <a:xfrm>
            <a:off x="6872982" y="3236317"/>
            <a:ext cx="694134"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D7EFF"/>
                </a:solidFill>
                <a:latin typeface="Inter" pitchFamily="34" charset="0"/>
                <a:ea typeface="Inter" pitchFamily="34" charset="-122"/>
                <a:cs typeface="Inter" pitchFamily="34" charset="-120"/>
              </a:rPr>
              <a:t>22.72%</a:t>
            </a:r>
            <a:endParaRPr lang="en-US" sz="1200" dirty="0"/>
          </a:p>
        </p:txBody>
      </p:sp>
      <p:sp>
        <p:nvSpPr>
          <p:cNvPr id="23" name="Text 20"/>
          <p:cNvSpPr/>
          <p:nvPr/>
        </p:nvSpPr>
        <p:spPr>
          <a:xfrm>
            <a:off x="4523284" y="3589338"/>
            <a:ext cx="323979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Leak checks: index overlap 0, identical rows 0.</a:t>
            </a:r>
            <a:endParaRPr lang="en-US" sz="1200" dirty="0"/>
          </a:p>
        </p:txBody>
      </p:sp>
      <p:sp>
        <p:nvSpPr>
          <p:cNvPr id="24" name="Shape 21"/>
          <p:cNvSpPr/>
          <p:nvPr/>
        </p:nvSpPr>
        <p:spPr>
          <a:xfrm>
            <a:off x="7995741" y="1280120"/>
            <a:ext cx="3481884" cy="2891433"/>
          </a:xfrm>
          <a:prstGeom prst="roundRect">
            <a:avLst>
              <a:gd name="adj" fmla="val 2086"/>
            </a:avLst>
          </a:prstGeom>
          <a:solidFill>
            <a:srgbClr val="111111"/>
          </a:solidFill>
          <a:ln w="6350">
            <a:solidFill>
              <a:srgbClr val="222222"/>
            </a:solidFill>
            <a:prstDash val="solid"/>
          </a:ln>
        </p:spPr>
      </p:sp>
      <p:sp>
        <p:nvSpPr>
          <p:cNvPr id="25" name="Shape 22"/>
          <p:cNvSpPr/>
          <p:nvPr/>
        </p:nvSpPr>
        <p:spPr>
          <a:xfrm>
            <a:off x="7998916" y="1283295"/>
            <a:ext cx="3475534" cy="25400"/>
          </a:xfrm>
          <a:custGeom>
            <a:avLst/>
            <a:gdLst/>
            <a:ahLst/>
            <a:cxnLst/>
            <a:rect l="l" t="t" r="r" b="b"/>
            <a:pathLst>
              <a:path w="3475534" h="25400">
                <a:moveTo>
                  <a:pt x="9631" y="25400"/>
                </a:moveTo>
                <a:arcTo hR="57150" wR="57150" stAng="12824939" swAng="3375061"/>
                <a:lnTo>
                  <a:pt x="3418384" y="0"/>
                </a:lnTo>
                <a:arcTo hR="57150" wR="57150" stAng="16200000" swAng="3375061"/>
                <a:close/>
              </a:path>
            </a:pathLst>
          </a:custGeom>
          <a:solidFill>
            <a:srgbClr val="00E5CC"/>
          </a:solidFill>
          <a:ln/>
        </p:spPr>
      </p:sp>
      <p:sp>
        <p:nvSpPr>
          <p:cNvPr id="26" name="Text 23"/>
          <p:cNvSpPr/>
          <p:nvPr/>
        </p:nvSpPr>
        <p:spPr>
          <a:xfrm>
            <a:off x="8164016" y="1461095"/>
            <a:ext cx="323969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05 · SCALING</a:t>
            </a:r>
            <a:endParaRPr lang="en-US" sz="1200" dirty="0"/>
          </a:p>
        </p:txBody>
      </p:sp>
      <p:sp>
        <p:nvSpPr>
          <p:cNvPr id="27" name="Text 24"/>
          <p:cNvSpPr/>
          <p:nvPr/>
        </p:nvSpPr>
        <p:spPr>
          <a:xfrm>
            <a:off x="8164016" y="1750616"/>
            <a:ext cx="323969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5F5"/>
                </a:solidFill>
                <a:latin typeface="Inter" pitchFamily="34" charset="0"/>
                <a:ea typeface="Inter" pitchFamily="34" charset="-122"/>
                <a:cs typeface="Inter" pitchFamily="34" charset="-120"/>
              </a:rPr>
              <a:t>StandardScaler, fit on train only</a:t>
            </a:r>
            <a:endParaRPr lang="en-US" sz="1400" dirty="0"/>
          </a:p>
        </p:txBody>
      </p:sp>
      <p:sp>
        <p:nvSpPr>
          <p:cNvPr id="28" name="Text 25"/>
          <p:cNvSpPr/>
          <p:nvPr/>
        </p:nvSpPr>
        <p:spPr>
          <a:xfrm>
            <a:off x="8164016" y="2040136"/>
            <a:ext cx="323969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Variance gap (30,918 vs 2.56) becomes mean 0 and std 1 on 8 continuous columns. Type stays as is.</a:t>
            </a:r>
            <a:endParaRPr lang="en-US" sz="1200" dirty="0"/>
          </a:p>
        </p:txBody>
      </p:sp>
      <p:sp>
        <p:nvSpPr>
          <p:cNvPr id="29" name="Text 26"/>
          <p:cNvSpPr/>
          <p:nvPr/>
        </p:nvSpPr>
        <p:spPr>
          <a:xfrm>
            <a:off x="8164016" y="2756297"/>
            <a:ext cx="3145334" cy="609600"/>
          </a:xfrm>
          <a:prstGeom prst="roundRect">
            <a:avLst>
              <a:gd name="adj" fmla="val 6250"/>
            </a:avLst>
          </a:prstGeom>
          <a:solidFill>
            <a:srgbClr val="0B1817"/>
          </a:solidFill>
          <a:ln/>
        </p:spPr>
        <p:txBody>
          <a:bodyPr wrap="square" lIns="90441" tIns="65041" rIns="2177" bIns="39641" rtlCol="0" anchor="t">
            <a:normAutofit/>
          </a:bodyPr>
          <a:lstStyle/>
          <a:p>
            <a:pPr algn="l" indent="0" marL="0">
              <a:lnSpc>
                <a:spcPts val="1800"/>
              </a:lnSpc>
              <a:buNone/>
            </a:pPr>
            <a:r>
              <a:rPr lang="en-US" sz="1200" dirty="0">
                <a:solidFill>
                  <a:srgbClr val="00E5CC"/>
                </a:solidFill>
                <a:latin typeface="JetBrains Mono" pitchFamily="49" charset="0"/>
                <a:ea typeface="JetBrains Mono" pitchFamily="49" charset="-122"/>
                <a:cs typeface="JetBrains Mono" pitchFamily="49" charset="-120"/>
              </a:rPr>
              <a:t>1. scaler.fit_transform(X_train)</a:t>
            </a:r>
            <a:endParaRPr lang="en-US" sz="1200" dirty="0"/>
          </a:p>
          <a:p>
            <a:pPr algn="l" indent="0" marL="0">
              <a:lnSpc>
                <a:spcPts val="1800"/>
              </a:lnSpc>
              <a:buNone/>
            </a:pPr>
            <a:r>
              <a:rPr lang="en-US" sz="1200" dirty="0">
                <a:solidFill>
                  <a:srgbClr val="00E5CC"/>
                </a:solidFill>
                <a:latin typeface="JetBrains Mono" pitchFamily="49" charset="0"/>
                <a:ea typeface="JetBrains Mono" pitchFamily="49" charset="-122"/>
                <a:cs typeface="JetBrains Mono" pitchFamily="49" charset="-120"/>
              </a:rPr>
              <a:t>2. scaler.transform(X_test)</a:t>
            </a:r>
            <a:endParaRPr lang="en-US" sz="1200" dirty="0"/>
          </a:p>
        </p:txBody>
      </p:sp>
      <p:sp>
        <p:nvSpPr>
          <p:cNvPr id="30" name="Text 27"/>
          <p:cNvSpPr/>
          <p:nvPr/>
        </p:nvSpPr>
        <p:spPr>
          <a:xfrm>
            <a:off x="8164016" y="3442097"/>
            <a:ext cx="32396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F5F5"/>
                </a:solidFill>
                <a:latin typeface="Inter" pitchFamily="34" charset="0"/>
                <a:ea typeface="Inter" pitchFamily="34" charset="-122"/>
                <a:cs typeface="Inter" pitchFamily="34" charset="-120"/>
              </a:rPr>
              <a:t>Fitting on all data would put the test mean into the scale: leakage.</a:t>
            </a:r>
            <a:endParaRPr lang="en-US" sz="1200" dirty="0"/>
          </a:p>
        </p:txBody>
      </p:sp>
      <p:sp>
        <p:nvSpPr>
          <p:cNvPr id="31" name="Text 28"/>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2" name="Text 29"/>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304238" y="457200"/>
            <a:ext cx="3583424"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PIPELINE STEP 6 · VERIFICATION</a:t>
            </a:r>
            <a:endParaRPr lang="en-US" sz="1200" dirty="0"/>
          </a:p>
        </p:txBody>
      </p:sp>
      <p:sp>
        <p:nvSpPr>
          <p:cNvPr id="4" name="Text 1"/>
          <p:cNvSpPr/>
          <p:nvPr>
            <p:ph type="title"/>
          </p:nvPr>
        </p:nvSpPr>
        <p:spPr>
          <a:xfrm>
            <a:off x="2870250" y="734020"/>
            <a:ext cx="6451402"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Final Readiness Check: 8 of 8 Pass</a:t>
            </a:r>
            <a:endParaRPr lang="en-US" sz="2500" dirty="0"/>
          </a:p>
        </p:txBody>
      </p:sp>
      <p:sp>
        <p:nvSpPr>
          <p:cNvPr id="5" name="Shape 2"/>
          <p:cNvSpPr/>
          <p:nvPr/>
        </p:nvSpPr>
        <p:spPr>
          <a:xfrm>
            <a:off x="714375" y="1280120"/>
            <a:ext cx="5302250" cy="3193455"/>
          </a:xfrm>
          <a:prstGeom prst="roundRect">
            <a:avLst>
              <a:gd name="adj" fmla="val 1889"/>
            </a:avLst>
          </a:prstGeom>
          <a:solidFill>
            <a:srgbClr val="111111"/>
          </a:solidFill>
          <a:ln w="6350">
            <a:solidFill>
              <a:srgbClr val="222222"/>
            </a:solidFill>
            <a:prstDash val="solid"/>
          </a:ln>
        </p:spPr>
      </p:sp>
      <p:sp>
        <p:nvSpPr>
          <p:cNvPr id="6" name="Shape 3"/>
          <p:cNvSpPr/>
          <p:nvPr/>
        </p:nvSpPr>
        <p:spPr>
          <a:xfrm>
            <a:off x="717550" y="1283295"/>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7" name="Text 4"/>
          <p:cNvSpPr/>
          <p:nvPr/>
        </p:nvSpPr>
        <p:spPr>
          <a:xfrm>
            <a:off x="895350" y="1461095"/>
            <a:ext cx="5088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PIPELINE VERIFICATION CHECKLIST</a:t>
            </a:r>
            <a:endParaRPr lang="en-US" sz="1200" dirty="0"/>
          </a:p>
        </p:txBody>
      </p:sp>
      <p:sp>
        <p:nvSpPr>
          <p:cNvPr id="8" name="Text 5"/>
          <p:cNvSpPr/>
          <p:nvPr/>
        </p:nvSpPr>
        <p:spPr>
          <a:xfrm>
            <a:off x="895350" y="1737916"/>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All columns numeric</a:t>
            </a:r>
            <a:endParaRPr lang="en-US" sz="1200" dirty="0"/>
          </a:p>
        </p:txBody>
      </p:sp>
      <p:sp>
        <p:nvSpPr>
          <p:cNvPr id="9" name="Text 6"/>
          <p:cNvSpPr/>
          <p:nvPr/>
        </p:nvSpPr>
        <p:spPr>
          <a:xfrm>
            <a:off x="895350" y="2007096"/>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No nulls in train or test</a:t>
            </a:r>
            <a:endParaRPr lang="en-US" sz="1200" dirty="0"/>
          </a:p>
        </p:txBody>
      </p:sp>
      <p:sp>
        <p:nvSpPr>
          <p:cNvPr id="10" name="Text 7"/>
          <p:cNvSpPr/>
          <p:nvPr/>
        </p:nvSpPr>
        <p:spPr>
          <a:xfrm>
            <a:off x="895350" y="2276277"/>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Zero index overlap</a:t>
            </a:r>
            <a:endParaRPr lang="en-US" sz="1200" dirty="0"/>
          </a:p>
        </p:txBody>
      </p:sp>
      <p:sp>
        <p:nvSpPr>
          <p:cNvPr id="11" name="Text 8"/>
          <p:cNvSpPr/>
          <p:nvPr/>
        </p:nvSpPr>
        <p:spPr>
          <a:xfrm>
            <a:off x="895350" y="2545457"/>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No leakage or ID columns left</a:t>
            </a:r>
            <a:endParaRPr lang="en-US" sz="1200" dirty="0"/>
          </a:p>
        </p:txBody>
      </p:sp>
      <p:sp>
        <p:nvSpPr>
          <p:cNvPr id="12" name="Text 9"/>
          <p:cNvSpPr/>
          <p:nvPr/>
        </p:nvSpPr>
        <p:spPr>
          <a:xfrm>
            <a:off x="895350" y="2814638"/>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Train mean ≈ 0 (scaled columns)</a:t>
            </a:r>
            <a:endParaRPr lang="en-US" sz="1200" dirty="0"/>
          </a:p>
        </p:txBody>
      </p:sp>
      <p:sp>
        <p:nvSpPr>
          <p:cNvPr id="13" name="Text 10"/>
          <p:cNvSpPr/>
          <p:nvPr/>
        </p:nvSpPr>
        <p:spPr>
          <a:xfrm>
            <a:off x="895350" y="3083818"/>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Train std ≈ 1 (scaled columns)</a:t>
            </a:r>
            <a:endParaRPr lang="en-US" sz="1200" dirty="0"/>
          </a:p>
        </p:txBody>
      </p:sp>
      <p:sp>
        <p:nvSpPr>
          <p:cNvPr id="14" name="Text 11"/>
          <p:cNvSpPr/>
          <p:nvPr/>
        </p:nvSpPr>
        <p:spPr>
          <a:xfrm>
            <a:off x="895350" y="3352998"/>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Split stratified (difference under 0.2%)</a:t>
            </a:r>
            <a:endParaRPr lang="en-US" sz="1200" dirty="0"/>
          </a:p>
        </p:txBody>
      </p:sp>
      <p:sp>
        <p:nvSpPr>
          <p:cNvPr id="15" name="Text 12"/>
          <p:cNvSpPr/>
          <p:nvPr/>
        </p:nvSpPr>
        <p:spPr>
          <a:xfrm>
            <a:off x="895350" y="3622179"/>
            <a:ext cx="5088509" cy="2310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0E5CC"/>
                </a:solidFill>
                <a:latin typeface="Inter" pitchFamily="34" charset="0"/>
                <a:ea typeface="Inter" pitchFamily="34" charset="-122"/>
                <a:cs typeface="Inter" pitchFamily="34" charset="-120"/>
              </a:rPr>
              <a:t>PASS</a:t>
            </a:r>
            <a:r>
              <a:rPr lang="en-US" sz="1200" dirty="0">
                <a:solidFill>
                  <a:srgbClr val="F5F5F5"/>
                </a:solidFill>
                <a:latin typeface="Inter" pitchFamily="34" charset="0"/>
                <a:ea typeface="Inter" pitchFamily="34" charset="-122"/>
                <a:cs typeface="Inter" pitchFamily="34" charset="-120"/>
              </a:rPr>
              <a:t> Train + Test = full data</a:t>
            </a:r>
            <a:endParaRPr lang="en-US" sz="1200" dirty="0"/>
          </a:p>
        </p:txBody>
      </p:sp>
      <p:sp>
        <p:nvSpPr>
          <p:cNvPr id="16" name="Text 13"/>
          <p:cNvSpPr/>
          <p:nvPr/>
        </p:nvSpPr>
        <p:spPr>
          <a:xfrm>
            <a:off x="895350" y="3891359"/>
            <a:ext cx="508850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Why assert: if a check fails the notebook stops, so we catch the problem here, not in Module 4.</a:t>
            </a:r>
            <a:endParaRPr lang="en-US" sz="1200" dirty="0"/>
          </a:p>
        </p:txBody>
      </p:sp>
      <p:sp>
        <p:nvSpPr>
          <p:cNvPr id="17" name="Shape 14"/>
          <p:cNvSpPr/>
          <p:nvPr/>
        </p:nvSpPr>
        <p:spPr>
          <a:xfrm>
            <a:off x="6175375" y="1280120"/>
            <a:ext cx="5302250" cy="4134842"/>
          </a:xfrm>
          <a:prstGeom prst="roundRect">
            <a:avLst>
              <a:gd name="adj" fmla="val 1459"/>
            </a:avLst>
          </a:prstGeom>
          <a:solidFill>
            <a:srgbClr val="111111"/>
          </a:solidFill>
          <a:ln w="6350">
            <a:solidFill>
              <a:srgbClr val="222222"/>
            </a:solidFill>
            <a:prstDash val="solid"/>
          </a:ln>
        </p:spPr>
      </p:sp>
      <p:sp>
        <p:nvSpPr>
          <p:cNvPr id="18" name="Shape 15"/>
          <p:cNvSpPr/>
          <p:nvPr/>
        </p:nvSpPr>
        <p:spPr>
          <a:xfrm>
            <a:off x="6178550" y="1283295"/>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3D7EFF"/>
          </a:solidFill>
          <a:ln/>
        </p:spPr>
      </p:sp>
      <p:sp>
        <p:nvSpPr>
          <p:cNvPr id="19" name="Text 16"/>
          <p:cNvSpPr/>
          <p:nvPr/>
        </p:nvSpPr>
        <p:spPr>
          <a:xfrm>
            <a:off x="6356350" y="1461095"/>
            <a:ext cx="5088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D7EFF"/>
                </a:solidFill>
                <a:latin typeface="Inter" pitchFamily="34" charset="0"/>
                <a:ea typeface="Inter" pitchFamily="34" charset="-122"/>
                <a:cs typeface="Inter" pitchFamily="34" charset="-120"/>
              </a:rPr>
              <a:t>TEST-SET MEAN AND STD AFTER SCALING</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69050" y="1763316"/>
          <a:ext cx="4927600" cy="2993231"/>
        </p:xfrm>
        <a:graphic>
          <a:graphicData uri="http://schemas.openxmlformats.org/drawingml/2006/table">
            <a:tbl>
              <a:tblPr/>
              <a:tblGrid>
                <a:gridCol w="2660904"/>
                <a:gridCol w="1133348"/>
                <a:gridCol w="1133348"/>
              </a:tblGrid>
              <a:tr h="332581">
                <a:tc>
                  <a:txBody>
                    <a:bodyPr/>
                    <a:lstStyle/>
                    <a:p>
                      <a:pPr indent="0" marL="0">
                        <a:lnSpc>
                          <a:spcPts val="1680"/>
                        </a:lnSpc>
                        <a:buNone/>
                      </a:pPr>
                      <a:r>
                        <a:rPr lang="en-US" sz="1200" b="1" dirty="0">
                          <a:solidFill>
                            <a:srgbClr val="3D7EFF"/>
                          </a:solidFill>
                          <a:latin typeface="Inter" pitchFamily="34" charset="0"/>
                          <a:ea typeface="Inter" pitchFamily="34" charset="-122"/>
                          <a:cs typeface="Inter" pitchFamily="34" charset="-120"/>
                        </a:rPr>
                        <a:t>Feature</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3D7EFF"/>
                          </a:solidFill>
                          <a:latin typeface="Inter" pitchFamily="34" charset="0"/>
                          <a:ea typeface="Inter" pitchFamily="34" charset="-122"/>
                          <a:cs typeface="Inter" pitchFamily="34" charset="-120"/>
                        </a:rPr>
                        <a:t>Mean</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algn="r" indent="0" marL="0">
                        <a:lnSpc>
                          <a:spcPts val="1680"/>
                        </a:lnSpc>
                        <a:buNone/>
                      </a:pPr>
                      <a:r>
                        <a:rPr lang="en-US" sz="1200" b="1" dirty="0">
                          <a:solidFill>
                            <a:srgbClr val="3D7EFF"/>
                          </a:solidFill>
                          <a:latin typeface="Inter" pitchFamily="34" charset="0"/>
                          <a:ea typeface="Inter" pitchFamily="34" charset="-122"/>
                          <a:cs typeface="Inter" pitchFamily="34" charset="-120"/>
                        </a:rPr>
                        <a:t>Std</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Air temp</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−0.006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1.002</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Process temp</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0.011</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1.010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Speed</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−0.004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0.982</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Torque</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−0.007</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1.014</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Tool wear</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0.001</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1.004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Temp_Diff</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0.018</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0.979</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Mechanical_Power_W</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−0.014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0.993</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Strain_Index</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−0.010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algn="r" indent="0" marL="0">
                        <a:lnSpc>
                          <a:spcPts val="1680"/>
                        </a:lnSpc>
                        <a:buNone/>
                      </a:pPr>
                      <a:r>
                        <a:rPr lang="en-US" sz="1200" dirty="0">
                          <a:solidFill>
                            <a:srgbClr val="F5F5F5"/>
                          </a:solidFill>
                          <a:latin typeface="Inter" pitchFamily="34" charset="0"/>
                          <a:ea typeface="Inter" pitchFamily="34" charset="-122"/>
                          <a:cs typeface="Inter" pitchFamily="34" charset="-120"/>
                        </a:rPr>
                        <a:t>0.995</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bl>
          </a:graphicData>
        </a:graphic>
      </p:graphicFrame>
      <p:sp>
        <p:nvSpPr>
          <p:cNvPr id="21" name="Text 17"/>
          <p:cNvSpPr/>
          <p:nvPr/>
        </p:nvSpPr>
        <p:spPr>
          <a:xfrm>
            <a:off x="6356350" y="4832747"/>
            <a:ext cx="508850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Close to 0 and 1 but not exact: proof the scaler learned from training data only.</a:t>
            </a:r>
            <a:endParaRPr lang="en-US" sz="1200" dirty="0"/>
          </a:p>
        </p:txBody>
      </p:sp>
      <p:sp>
        <p:nvSpPr>
          <p:cNvPr id="22" name="Text 18"/>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23" name="Text 19"/>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193381" y="457200"/>
            <a:ext cx="3805237"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PART 3 · MILESTONE DELIVERABLE</a:t>
            </a:r>
            <a:endParaRPr lang="en-US" sz="1200" dirty="0"/>
          </a:p>
        </p:txBody>
      </p:sp>
      <p:sp>
        <p:nvSpPr>
          <p:cNvPr id="4" name="Text 1"/>
          <p:cNvSpPr/>
          <p:nvPr>
            <p:ph type="title"/>
          </p:nvPr>
        </p:nvSpPr>
        <p:spPr>
          <a:xfrm>
            <a:off x="1783685" y="734020"/>
            <a:ext cx="8624530"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Before and After: Datasets Ready for Modeling</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23900" y="1289645"/>
          <a:ext cx="6357640" cy="2302867"/>
        </p:xfrm>
        <a:graphic>
          <a:graphicData uri="http://schemas.openxmlformats.org/drawingml/2006/table">
            <a:tbl>
              <a:tblPr/>
              <a:tblGrid>
                <a:gridCol w="1525834"/>
                <a:gridCol w="2161598"/>
                <a:gridCol w="2670209"/>
              </a:tblGrid>
              <a:tr h="332581">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Metric</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Before</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c>
                  <a:txBody>
                    <a:bodyPr/>
                    <a:lstStyle/>
                    <a:p>
                      <a:pPr indent="0" marL="0">
                        <a:lnSpc>
                          <a:spcPts val="1680"/>
                        </a:lnSpc>
                        <a:buNone/>
                      </a:pPr>
                      <a:r>
                        <a:rPr lang="en-US" sz="1200" b="1" dirty="0">
                          <a:solidFill>
                            <a:srgbClr val="00E5CC"/>
                          </a:solidFill>
                          <a:latin typeface="Inter" pitchFamily="34" charset="0"/>
                          <a:ea typeface="Inter" pitchFamily="34" charset="-122"/>
                          <a:cs typeface="Inter" pitchFamily="34" charset="-120"/>
                        </a:rPr>
                        <a:t>After</a:t>
                      </a:r>
                      <a:endParaRPr lang="en-US" sz="1200" dirty="0">
                        <a:latin typeface="Inter" charset="0"/>
                        <a:ea typeface="Inter" charset="0"/>
                        <a:cs typeface="Inter" charset="0"/>
                      </a:endParaRPr>
                    </a:p>
                  </a:txBody>
                  <a:tcPr marL="53340" marR="53340" marT="53340" marB="53340" anchor="t">
                    <a:lnL w="12700" cap="flat" cmpd="sng" algn="ctr">
                      <a:solidFill>
                        <a:srgbClr val="4B4B4A"/>
                      </a:solidFill>
                      <a:prstDash val="solid"/>
                      <a:round/>
                      <a:headEnd type="none" w="med" len="med"/>
                      <a:tailEnd type="none" w="med" len="med"/>
                    </a:lnL>
                    <a:lnR w="12700" cap="flat" cmpd="sng" algn="ctr">
                      <a:solidFill>
                        <a:srgbClr val="4B4B4A"/>
                      </a:solidFill>
                      <a:prstDash val="solid"/>
                      <a:round/>
                      <a:headEnd type="none" w="med" len="med"/>
                      <a:tailEnd type="none" w="med" len="med"/>
                    </a:lnR>
                    <a:lnT w="12700" cap="flat" cmpd="sng" algn="ctr">
                      <a:solidFill>
                        <a:srgbClr val="3D3D3C"/>
                      </a:solidFill>
                      <a:prstDash val="solid"/>
                      <a:round/>
                      <a:headEnd type="none" w="med" len="med"/>
                      <a:tailEnd type="none" w="med" len="med"/>
                    </a:lnT>
                    <a:lnB w="12700" cap="flat" cmpd="sng" algn="ctr">
                      <a:solidFill>
                        <a:srgbClr val="4B4B4A"/>
                      </a:solidFill>
                      <a:prstDash val="solid"/>
                      <a:round/>
                      <a:headEnd type="none" w="med" len="med"/>
                      <a:tailEnd type="none" w="med" len="med"/>
                    </a:lnB>
                    <a:solidFill>
                      <a:srgbClr val="1A1A1A"/>
                    </a:solidFill>
                  </a:tcPr>
                </a:tc>
              </a:tr>
              <a:tr h="545902">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14</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10 (IDs and leakage dropped, 3 features added)</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B4B4A"/>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545902">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Category columns</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2 text columns (Product ID, Type)</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Type → 0/1/2; Product ID dropped</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r h="545902">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Feature scale</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Raw units (variance 30,918 vs 2.56)</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Standardized (mean 0, std 1 on train)</a:t>
                      </a:r>
                      <a:endParaRPr lang="en-US" sz="1200" dirty="0">
                        <a:latin typeface="Inter" charset="0"/>
                        <a:ea typeface="Inter" charset="0"/>
                        <a:cs typeface="Inter" charset="0"/>
                      </a:endParaRPr>
                    </a:p>
                  </a:txBody>
                  <a:tcPr marL="53340" marR="53340" marT="53340" marB="53340" anchor="t">
                    <a:lnL w="12700" cap="flat" cmpd="sng" algn="ctr">
                      <a:solidFill>
                        <a:srgbClr val="444443"/>
                      </a:solidFill>
                      <a:prstDash val="solid"/>
                      <a:round/>
                      <a:headEnd type="none" w="med" len="med"/>
                      <a:tailEnd type="none" w="med" len="med"/>
                    </a:lnL>
                    <a:lnR w="12700" cap="flat" cmpd="sng" algn="ctr">
                      <a:solidFill>
                        <a:srgbClr val="444443"/>
                      </a:solidFill>
                      <a:prstDash val="solid"/>
                      <a:round/>
                      <a:headEnd type="none" w="med" len="med"/>
                      <a:tailEnd type="none" w="med" len="med"/>
                    </a:lnR>
                    <a:lnT w="12700" cap="flat" cmpd="sng" algn="ctr">
                      <a:solidFill>
                        <a:srgbClr val="414140"/>
                      </a:solidFill>
                      <a:prstDash val="solid"/>
                      <a:round/>
                      <a:headEnd type="none" w="med" len="med"/>
                      <a:tailEnd type="none" w="med" len="med"/>
                    </a:lnT>
                    <a:lnB w="12700" cap="flat" cmpd="sng" algn="ctr">
                      <a:solidFill>
                        <a:srgbClr val="444443"/>
                      </a:solidFill>
                      <a:prstDash val="solid"/>
                      <a:round/>
                      <a:headEnd type="none" w="med" len="med"/>
                      <a:tailEnd type="none" w="med" len="med"/>
                    </a:lnB>
                    <a:solidFill>
                      <a:srgbClr val="111111"/>
                    </a:solidFill>
                  </a:tcPr>
                </a:tc>
              </a:tr>
              <a:tr h="332581">
                <a:tc>
                  <a:txBody>
                    <a:bodyPr/>
                    <a:lstStyle/>
                    <a:p>
                      <a:pPr indent="0" marL="0">
                        <a:lnSpc>
                          <a:spcPts val="1680"/>
                        </a:lnSpc>
                        <a:buNone/>
                      </a:pPr>
                      <a:r>
                        <a:rPr lang="en-US" sz="1200" dirty="0">
                          <a:solidFill>
                            <a:srgbClr val="00E5CC"/>
                          </a:solidFill>
                          <a:latin typeface="Inter" pitchFamily="34" charset="0"/>
                          <a:ea typeface="Inter" pitchFamily="34" charset="-122"/>
                          <a:cs typeface="Inter" pitchFamily="34" charset="-120"/>
                        </a:rPr>
                        <a:t>Rows train / test</a:t>
                      </a:r>
                      <a:endParaRPr lang="en-US" sz="1200" dirty="0">
                        <a:latin typeface="Inter" charset="0"/>
                        <a:ea typeface="Inter" charset="0"/>
                        <a:cs typeface="Inter" charset="0"/>
                      </a:endParaRPr>
                    </a:p>
                  </a:txBody>
                  <a:tcPr marL="53340" marR="53340" marT="53340" marB="53340" anchor="t">
                    <a:lnL w="12700" cap="flat" cmpd="sng" algn="ctr">
                      <a:solidFill>
                        <a:srgbClr val="3D3D3C"/>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0 / 0</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c>
                  <a:txBody>
                    <a:bodyPr/>
                    <a:lstStyle/>
                    <a:p>
                      <a:pPr indent="0" marL="0">
                        <a:lnSpc>
                          <a:spcPts val="1680"/>
                        </a:lnSpc>
                        <a:buNone/>
                      </a:pPr>
                      <a:r>
                        <a:rPr lang="en-US" sz="1200" dirty="0">
                          <a:solidFill>
                            <a:srgbClr val="F5F5F5"/>
                          </a:solidFill>
                          <a:latin typeface="Inter" pitchFamily="34" charset="0"/>
                          <a:ea typeface="Inter" pitchFamily="34" charset="-122"/>
                          <a:cs typeface="Inter" pitchFamily="34" charset="-120"/>
                        </a:rPr>
                        <a:t>10,000 / 2,500 (no overlap)</a:t>
                      </a:r>
                      <a:endParaRPr lang="en-US" sz="1200" dirty="0">
                        <a:latin typeface="Inter" charset="0"/>
                        <a:ea typeface="Inter" charset="0"/>
                        <a:cs typeface="Inter" charset="0"/>
                      </a:endParaRPr>
                    </a:p>
                  </a:txBody>
                  <a:tcPr marL="53340" marR="53340" marT="53340" marB="53340" anchor="t">
                    <a:lnL w="12700" cap="flat" cmpd="sng" algn="ctr">
                      <a:solidFill>
                        <a:srgbClr val="414140"/>
                      </a:solidFill>
                      <a:prstDash val="solid"/>
                      <a:round/>
                      <a:headEnd type="none" w="med" len="med"/>
                      <a:tailEnd type="none" w="med" len="med"/>
                    </a:lnL>
                    <a:lnR w="12700" cap="flat" cmpd="sng" algn="ctr">
                      <a:solidFill>
                        <a:srgbClr val="414140"/>
                      </a:solidFill>
                      <a:prstDash val="solid"/>
                      <a:round/>
                      <a:headEnd type="none" w="med" len="med"/>
                      <a:tailEnd type="none" w="med" len="med"/>
                    </a:lnR>
                    <a:lnT w="12700" cap="flat" cmpd="sng" algn="ctr">
                      <a:solidFill>
                        <a:srgbClr val="444443"/>
                      </a:solidFill>
                      <a:prstDash val="solid"/>
                      <a:round/>
                      <a:headEnd type="none" w="med" len="med"/>
                      <a:tailEnd type="none" w="med" len="med"/>
                    </a:lnT>
                    <a:lnB w="12700" cap="flat" cmpd="sng" algn="ctr">
                      <a:solidFill>
                        <a:srgbClr val="414140"/>
                      </a:solidFill>
                      <a:prstDash val="solid"/>
                      <a:round/>
                      <a:headEnd type="none" w="med" len="med"/>
                      <a:tailEnd type="none" w="med" len="med"/>
                    </a:lnB>
                    <a:solidFill>
                      <a:srgbClr val="0D0D0D"/>
                    </a:solidFill>
                  </a:tcPr>
                </a:tc>
              </a:tr>
            </a:tbl>
          </a:graphicData>
        </a:graphic>
      </p:graphicFrame>
      <p:sp>
        <p:nvSpPr>
          <p:cNvPr id="6" name="Shape 2"/>
          <p:cNvSpPr/>
          <p:nvPr/>
        </p:nvSpPr>
        <p:spPr>
          <a:xfrm>
            <a:off x="714375" y="3684588"/>
            <a:ext cx="6363990" cy="717451"/>
          </a:xfrm>
          <a:prstGeom prst="roundRect">
            <a:avLst>
              <a:gd name="adj" fmla="val 8408"/>
            </a:avLst>
          </a:prstGeom>
          <a:solidFill>
            <a:srgbClr val="111111"/>
          </a:solidFill>
          <a:ln w="6350">
            <a:solidFill>
              <a:srgbClr val="222222"/>
            </a:solidFill>
            <a:prstDash val="solid"/>
          </a:ln>
        </p:spPr>
      </p:sp>
      <p:sp>
        <p:nvSpPr>
          <p:cNvPr id="7" name="Text 3"/>
          <p:cNvSpPr/>
          <p:nvPr/>
        </p:nvSpPr>
        <p:spPr>
          <a:xfrm>
            <a:off x="882650" y="3802062"/>
            <a:ext cx="620826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READY FOR MODELING</a:t>
            </a:r>
            <a:endParaRPr lang="en-US" sz="1200" dirty="0"/>
          </a:p>
        </p:txBody>
      </p:sp>
      <p:sp>
        <p:nvSpPr>
          <p:cNvPr id="8" name="Text 4"/>
          <p:cNvSpPr/>
          <p:nvPr/>
        </p:nvSpPr>
        <p:spPr>
          <a:xfrm>
            <a:off x="882650" y="4053483"/>
            <a:ext cx="620826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5F5F5"/>
                </a:solidFill>
                <a:latin typeface="Inter" pitchFamily="34" charset="0"/>
                <a:ea typeface="Inter" pitchFamily="34" charset="-122"/>
                <a:cs typeface="Inter" pitchFamily="34" charset="-120"/>
              </a:rPr>
              <a:t>Fully numeric, scaled on train only, zero overlap, no ID or leakage columns.</a:t>
            </a:r>
            <a:endParaRPr lang="en-US" sz="1300" dirty="0"/>
          </a:p>
        </p:txBody>
      </p:sp>
      <p:sp>
        <p:nvSpPr>
          <p:cNvPr id="9" name="Shape 5"/>
          <p:cNvSpPr/>
          <p:nvPr/>
        </p:nvSpPr>
        <p:spPr>
          <a:xfrm>
            <a:off x="7237115" y="1280120"/>
            <a:ext cx="4240510" cy="834330"/>
          </a:xfrm>
          <a:prstGeom prst="roundRect">
            <a:avLst>
              <a:gd name="adj" fmla="val 7230"/>
            </a:avLst>
          </a:prstGeom>
          <a:solidFill>
            <a:srgbClr val="111111"/>
          </a:solidFill>
          <a:ln w="6350">
            <a:solidFill>
              <a:srgbClr val="222222"/>
            </a:solidFill>
            <a:prstDash val="solid"/>
          </a:ln>
        </p:spPr>
      </p:sp>
      <p:sp>
        <p:nvSpPr>
          <p:cNvPr id="10" name="Shape 6"/>
          <p:cNvSpPr/>
          <p:nvPr/>
        </p:nvSpPr>
        <p:spPr>
          <a:xfrm>
            <a:off x="7240290" y="1283295"/>
            <a:ext cx="4234160" cy="25400"/>
          </a:xfrm>
          <a:custGeom>
            <a:avLst/>
            <a:gdLst/>
            <a:ahLst/>
            <a:cxnLst/>
            <a:rect l="l" t="t" r="r" b="b"/>
            <a:pathLst>
              <a:path w="4234160" h="25400">
                <a:moveTo>
                  <a:pt x="9631" y="25400"/>
                </a:moveTo>
                <a:arcTo hR="57150" wR="57150" stAng="12824939" swAng="3375061"/>
                <a:lnTo>
                  <a:pt x="4177010" y="0"/>
                </a:lnTo>
                <a:arcTo hR="57150" wR="57150" stAng="16200000" swAng="3375061"/>
                <a:close/>
              </a:path>
            </a:pathLst>
          </a:custGeom>
          <a:solidFill>
            <a:srgbClr val="00E5CC"/>
          </a:solidFill>
          <a:ln/>
        </p:spPr>
      </p:sp>
      <p:sp>
        <p:nvSpPr>
          <p:cNvPr id="11" name="Text 7"/>
          <p:cNvSpPr/>
          <p:nvPr/>
        </p:nvSpPr>
        <p:spPr>
          <a:xfrm>
            <a:off x="7392690" y="1422995"/>
            <a:ext cx="4047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JetBrains Mono" pitchFamily="49" charset="0"/>
                <a:ea typeface="JetBrains Mono" pitchFamily="49" charset="-122"/>
                <a:cs typeface="JetBrains Mono" pitchFamily="49" charset="-120"/>
              </a:rPr>
              <a:t>train_ready_milestone3.csv</a:t>
            </a:r>
            <a:endParaRPr lang="en-US" sz="1200" dirty="0"/>
          </a:p>
        </p:txBody>
      </p:sp>
      <p:sp>
        <p:nvSpPr>
          <p:cNvPr id="12" name="Text 8"/>
          <p:cNvSpPr/>
          <p:nvPr/>
        </p:nvSpPr>
        <p:spPr>
          <a:xfrm>
            <a:off x="7392690" y="1661716"/>
            <a:ext cx="4047241"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5F5F5"/>
                </a:solidFill>
                <a:latin typeface="Inter" pitchFamily="34" charset="0"/>
                <a:ea typeface="Inter" pitchFamily="34" charset="-122"/>
                <a:cs typeface="Inter" pitchFamily="34" charset="-120"/>
              </a:rPr>
              <a:t>10,000 × 10</a:t>
            </a:r>
            <a:endParaRPr lang="en-US" sz="2400" dirty="0"/>
          </a:p>
        </p:txBody>
      </p:sp>
      <p:sp>
        <p:nvSpPr>
          <p:cNvPr id="13" name="Shape 9"/>
          <p:cNvSpPr/>
          <p:nvPr/>
        </p:nvSpPr>
        <p:spPr>
          <a:xfrm>
            <a:off x="7237115" y="2209701"/>
            <a:ext cx="4240510" cy="834330"/>
          </a:xfrm>
          <a:prstGeom prst="roundRect">
            <a:avLst>
              <a:gd name="adj" fmla="val 7230"/>
            </a:avLst>
          </a:prstGeom>
          <a:solidFill>
            <a:srgbClr val="111111"/>
          </a:solidFill>
          <a:ln w="6350">
            <a:solidFill>
              <a:srgbClr val="222222"/>
            </a:solidFill>
            <a:prstDash val="solid"/>
          </a:ln>
        </p:spPr>
      </p:sp>
      <p:sp>
        <p:nvSpPr>
          <p:cNvPr id="14" name="Shape 10"/>
          <p:cNvSpPr/>
          <p:nvPr/>
        </p:nvSpPr>
        <p:spPr>
          <a:xfrm>
            <a:off x="7240290" y="2212876"/>
            <a:ext cx="4234160" cy="25400"/>
          </a:xfrm>
          <a:custGeom>
            <a:avLst/>
            <a:gdLst/>
            <a:ahLst/>
            <a:cxnLst/>
            <a:rect l="l" t="t" r="r" b="b"/>
            <a:pathLst>
              <a:path w="4234160" h="25400">
                <a:moveTo>
                  <a:pt x="9631" y="25400"/>
                </a:moveTo>
                <a:arcTo hR="57150" wR="57150" stAng="12824939" swAng="3375061"/>
                <a:lnTo>
                  <a:pt x="4177010" y="0"/>
                </a:lnTo>
                <a:arcTo hR="57150" wR="57150" stAng="16200000" swAng="3375061"/>
                <a:close/>
              </a:path>
            </a:pathLst>
          </a:custGeom>
          <a:solidFill>
            <a:srgbClr val="3D7EFF"/>
          </a:solidFill>
          <a:ln/>
        </p:spPr>
      </p:sp>
      <p:sp>
        <p:nvSpPr>
          <p:cNvPr id="15" name="Text 11"/>
          <p:cNvSpPr/>
          <p:nvPr/>
        </p:nvSpPr>
        <p:spPr>
          <a:xfrm>
            <a:off x="7392690" y="2352576"/>
            <a:ext cx="4047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7EFF"/>
                </a:solidFill>
                <a:latin typeface="JetBrains Mono" pitchFamily="49" charset="0"/>
                <a:ea typeface="JetBrains Mono" pitchFamily="49" charset="-122"/>
                <a:cs typeface="JetBrains Mono" pitchFamily="49" charset="-120"/>
              </a:rPr>
              <a:t>test_ready_milestone3.csv</a:t>
            </a:r>
            <a:endParaRPr lang="en-US" sz="1200" dirty="0"/>
          </a:p>
        </p:txBody>
      </p:sp>
      <p:sp>
        <p:nvSpPr>
          <p:cNvPr id="16" name="Text 12"/>
          <p:cNvSpPr/>
          <p:nvPr/>
        </p:nvSpPr>
        <p:spPr>
          <a:xfrm>
            <a:off x="7392690" y="2591296"/>
            <a:ext cx="4047241" cy="3606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5F5F5"/>
                </a:solidFill>
                <a:latin typeface="Inter" pitchFamily="34" charset="0"/>
                <a:ea typeface="Inter" pitchFamily="34" charset="-122"/>
                <a:cs typeface="Inter" pitchFamily="34" charset="-120"/>
              </a:rPr>
              <a:t>2,500 × 10</a:t>
            </a:r>
            <a:endParaRPr lang="en-US" sz="2400" dirty="0"/>
          </a:p>
        </p:txBody>
      </p:sp>
      <p:sp>
        <p:nvSpPr>
          <p:cNvPr id="17" name="Shape 13"/>
          <p:cNvSpPr/>
          <p:nvPr/>
        </p:nvSpPr>
        <p:spPr>
          <a:xfrm>
            <a:off x="7237115" y="3139281"/>
            <a:ext cx="4240510" cy="712391"/>
          </a:xfrm>
          <a:prstGeom prst="roundRect">
            <a:avLst>
              <a:gd name="adj" fmla="val 8468"/>
            </a:avLst>
          </a:prstGeom>
          <a:solidFill>
            <a:srgbClr val="111111"/>
          </a:solidFill>
          <a:ln w="6350">
            <a:solidFill>
              <a:srgbClr val="222222"/>
            </a:solidFill>
            <a:prstDash val="solid"/>
          </a:ln>
        </p:spPr>
      </p:sp>
      <p:sp>
        <p:nvSpPr>
          <p:cNvPr id="18" name="Shape 14"/>
          <p:cNvSpPr/>
          <p:nvPr/>
        </p:nvSpPr>
        <p:spPr>
          <a:xfrm>
            <a:off x="7240290" y="3142456"/>
            <a:ext cx="4234160" cy="25400"/>
          </a:xfrm>
          <a:custGeom>
            <a:avLst/>
            <a:gdLst/>
            <a:ahLst/>
            <a:cxnLst/>
            <a:rect l="l" t="t" r="r" b="b"/>
            <a:pathLst>
              <a:path w="4234160" h="25400">
                <a:moveTo>
                  <a:pt x="9631" y="25400"/>
                </a:moveTo>
                <a:arcTo hR="57150" wR="57150" stAng="12824939" swAng="3375061"/>
                <a:lnTo>
                  <a:pt x="4177010" y="0"/>
                </a:lnTo>
                <a:arcTo hR="57150" wR="57150" stAng="16200000" swAng="3375061"/>
                <a:close/>
              </a:path>
            </a:pathLst>
          </a:custGeom>
          <a:solidFill>
            <a:srgbClr val="00E5CC"/>
          </a:solidFill>
          <a:ln/>
        </p:spPr>
      </p:sp>
      <p:sp>
        <p:nvSpPr>
          <p:cNvPr id="19" name="Text 15"/>
          <p:cNvSpPr/>
          <p:nvPr/>
        </p:nvSpPr>
        <p:spPr>
          <a:xfrm>
            <a:off x="7392690" y="3282156"/>
            <a:ext cx="4047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0E5CC"/>
                </a:solidFill>
                <a:latin typeface="JetBrains Mono" pitchFamily="49" charset="0"/>
                <a:ea typeface="JetBrains Mono" pitchFamily="49" charset="-122"/>
                <a:cs typeface="JetBrains Mono" pitchFamily="49" charset="-120"/>
              </a:rPr>
              <a:t>scaler_milestone3.joblib</a:t>
            </a:r>
            <a:endParaRPr lang="en-US" sz="1200" dirty="0"/>
          </a:p>
        </p:txBody>
      </p:sp>
      <p:sp>
        <p:nvSpPr>
          <p:cNvPr id="20" name="Text 16"/>
          <p:cNvSpPr/>
          <p:nvPr/>
        </p:nvSpPr>
        <p:spPr>
          <a:xfrm>
            <a:off x="7392690" y="3520877"/>
            <a:ext cx="40472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B8B8"/>
                </a:solidFill>
                <a:latin typeface="Inter" pitchFamily="34" charset="0"/>
                <a:ea typeface="Inter" pitchFamily="34" charset="-122"/>
                <a:cs typeface="Inter" pitchFamily="34" charset="-120"/>
              </a:rPr>
              <a:t>Scales any new data the same way in Module 4.</a:t>
            </a:r>
            <a:endParaRPr lang="en-US" sz="1200" dirty="0"/>
          </a:p>
        </p:txBody>
      </p:sp>
      <p:sp>
        <p:nvSpPr>
          <p:cNvPr id="21" name="Text 17"/>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22" name="Text 18"/>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808"/>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406400" y="406400"/>
            <a:ext cx="88900" cy="88900"/>
          </a:xfrm>
          <a:prstGeom prst="rect">
            <a:avLst/>
          </a:prstGeom>
        </p:spPr>
      </p:pic>
      <p:sp>
        <p:nvSpPr>
          <p:cNvPr id="3" name="Text 0"/>
          <p:cNvSpPr/>
          <p:nvPr/>
        </p:nvSpPr>
        <p:spPr>
          <a:xfrm>
            <a:off x="4580106" y="457200"/>
            <a:ext cx="3031688"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PROJECT CONSIDERATIONS</a:t>
            </a:r>
            <a:endParaRPr lang="en-US" sz="1200" dirty="0"/>
          </a:p>
        </p:txBody>
      </p:sp>
      <p:sp>
        <p:nvSpPr>
          <p:cNvPr id="4" name="Text 1"/>
          <p:cNvSpPr/>
          <p:nvPr>
            <p:ph type="title"/>
          </p:nvPr>
        </p:nvSpPr>
        <p:spPr>
          <a:xfrm>
            <a:off x="1012388" y="734020"/>
            <a:ext cx="10167223" cy="390525"/>
          </a:xfrm>
          <a:prstGeom prst="rect">
            <a:avLst/>
          </a:prstGeom>
          <a:noFill/>
          <a:ln/>
        </p:spPr>
        <p:txBody>
          <a:bodyPr wrap="square" lIns="0" tIns="0" rIns="0" bIns="0" rtlCol="0" anchor="t">
            <a:normAutofit/>
          </a:bodyPr>
          <a:lstStyle/>
          <a:p>
            <a:pPr algn="ctr" indent="0" marL="0">
              <a:lnSpc>
                <a:spcPts val="2875"/>
              </a:lnSpc>
              <a:buNone/>
            </a:pPr>
            <a:r>
              <a:rPr lang="en-US" sz="2500" b="1" i="0" dirty="0">
                <a:solidFill>
                  <a:srgbClr val="F5F5F5"/>
                </a:solidFill>
                <a:latin typeface="Inter" pitchFamily="34" charset="0"/>
                <a:ea typeface="Inter" pitchFamily="34" charset="-122"/>
                <a:cs typeface="Inter" pitchFamily="34" charset="-120"/>
              </a:rPr>
              <a:t>Defending the Pipeline: Limitation and Rubric Evidence</a:t>
            </a:r>
            <a:endParaRPr lang="en-US" sz="2500" dirty="0"/>
          </a:p>
        </p:txBody>
      </p:sp>
      <p:sp>
        <p:nvSpPr>
          <p:cNvPr id="5" name="Shape 2"/>
          <p:cNvSpPr/>
          <p:nvPr/>
        </p:nvSpPr>
        <p:spPr>
          <a:xfrm>
            <a:off x="714375" y="1280120"/>
            <a:ext cx="5302250" cy="2614613"/>
          </a:xfrm>
          <a:prstGeom prst="roundRect">
            <a:avLst>
              <a:gd name="adj" fmla="val 2307"/>
            </a:avLst>
          </a:prstGeom>
          <a:solidFill>
            <a:srgbClr val="111111"/>
          </a:solidFill>
          <a:ln w="6350">
            <a:solidFill>
              <a:srgbClr val="222222"/>
            </a:solidFill>
            <a:prstDash val="solid"/>
          </a:ln>
        </p:spPr>
      </p:sp>
      <p:sp>
        <p:nvSpPr>
          <p:cNvPr id="6" name="Shape 3"/>
          <p:cNvSpPr/>
          <p:nvPr/>
        </p:nvSpPr>
        <p:spPr>
          <a:xfrm>
            <a:off x="717550" y="1283295"/>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FF5A5A"/>
          </a:solidFill>
          <a:ln/>
        </p:spPr>
      </p:sp>
      <p:sp>
        <p:nvSpPr>
          <p:cNvPr id="7" name="Text 4"/>
          <p:cNvSpPr/>
          <p:nvPr/>
        </p:nvSpPr>
        <p:spPr>
          <a:xfrm>
            <a:off x="895350" y="1461095"/>
            <a:ext cx="5088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5A5A"/>
                </a:solidFill>
                <a:latin typeface="Inter" pitchFamily="34" charset="0"/>
                <a:ea typeface="Inter" pitchFamily="34" charset="-122"/>
                <a:cs typeface="Inter" pitchFamily="34" charset="-120"/>
              </a:rPr>
              <a:t>EXPECTED QUESTION</a:t>
            </a:r>
            <a:endParaRPr lang="en-US" sz="1200" dirty="0"/>
          </a:p>
        </p:txBody>
      </p:sp>
      <p:sp>
        <p:nvSpPr>
          <p:cNvPr id="8" name="Text 5"/>
          <p:cNvSpPr/>
          <p:nvPr/>
        </p:nvSpPr>
        <p:spPr>
          <a:xfrm>
            <a:off x="895350" y="1750616"/>
            <a:ext cx="5088509" cy="505420"/>
          </a:xfrm>
          <a:prstGeom prst="rect">
            <a:avLst/>
          </a:prstGeom>
          <a:noFill/>
          <a:ln/>
        </p:spPr>
        <p:txBody>
          <a:bodyPr wrap="square" lIns="0" tIns="0" rIns="0" bIns="0" rtlCol="0" anchor="t">
            <a:normAutofit/>
          </a:bodyPr>
          <a:lstStyle/>
          <a:p>
            <a:pPr algn="l" indent="0" marL="0">
              <a:lnSpc>
                <a:spcPts val="1890"/>
              </a:lnSpc>
              <a:buNone/>
            </a:pPr>
            <a:r>
              <a:rPr lang="en-US" sz="1400" i="1" dirty="0">
                <a:solidFill>
                  <a:srgbClr val="F5F5F5"/>
                </a:solidFill>
                <a:latin typeface="Inter" pitchFamily="34" charset="0"/>
                <a:ea typeface="Inter" pitchFamily="34" charset="-122"/>
                <a:cs typeface="Inter" pitchFamily="34" charset="-120"/>
              </a:rPr>
              <a:t>“The synthetic rows were generated before the split. Isn’t that leakage?”</a:t>
            </a:r>
            <a:endParaRPr lang="en-US" sz="1400" dirty="0"/>
          </a:p>
        </p:txBody>
      </p:sp>
      <p:sp>
        <p:nvSpPr>
          <p:cNvPr id="9" name="Text 6"/>
          <p:cNvSpPr/>
          <p:nvPr/>
        </p:nvSpPr>
        <p:spPr>
          <a:xfrm>
            <a:off x="895350" y="2306836"/>
            <a:ext cx="508850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What we checked:</a:t>
            </a:r>
            <a:r>
              <a:rPr lang="en-US" sz="1200" dirty="0">
                <a:solidFill>
                  <a:srgbClr val="B8B8B8"/>
                </a:solidFill>
                <a:latin typeface="Inter" pitchFamily="34" charset="0"/>
                <a:ea typeface="Inter" pitchFamily="34" charset="-122"/>
                <a:cs typeface="Inter" pitchFamily="34" charset="-120"/>
              </a:rPr>
              <a:t> no literally identical rows exist between train and test, and synthetic rows are not exact copies.</a:t>
            </a:r>
            <a:endParaRPr lang="en-US" sz="1200" dirty="0"/>
          </a:p>
        </p:txBody>
      </p:sp>
      <p:sp>
        <p:nvSpPr>
          <p:cNvPr id="10" name="Text 7"/>
          <p:cNvSpPr/>
          <p:nvPr/>
        </p:nvSpPr>
        <p:spPr>
          <a:xfrm>
            <a:off x="895350" y="2809677"/>
            <a:ext cx="508850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The limitation:</a:t>
            </a:r>
            <a:r>
              <a:rPr lang="en-US" sz="1200" dirty="0">
                <a:solidFill>
                  <a:srgbClr val="B8B8B8"/>
                </a:solidFill>
                <a:latin typeface="Inter" pitchFamily="34" charset="0"/>
                <a:ea typeface="Inter" pitchFamily="34" charset="-122"/>
                <a:cs typeface="Inter" pitchFamily="34" charset="-120"/>
              </a:rPr>
              <a:t> over-sampling ran on the full data in Milestone 2, so synthetic rows built from original rows may land in both sets.</a:t>
            </a:r>
            <a:endParaRPr lang="en-US" sz="1200" dirty="0"/>
          </a:p>
        </p:txBody>
      </p:sp>
      <p:sp>
        <p:nvSpPr>
          <p:cNvPr id="11" name="Text 8"/>
          <p:cNvSpPr/>
          <p:nvPr/>
        </p:nvSpPr>
        <p:spPr>
          <a:xfrm>
            <a:off x="895350" y="3312517"/>
            <a:ext cx="5088509"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F5F5"/>
                </a:solidFill>
                <a:latin typeface="Inter" pitchFamily="34" charset="0"/>
                <a:ea typeface="Inter" pitchFamily="34" charset="-122"/>
                <a:cs typeface="Inter" pitchFamily="34" charset="-120"/>
              </a:rPr>
              <a:t>Next time:</a:t>
            </a:r>
            <a:r>
              <a:rPr lang="en-US" sz="1200" dirty="0">
                <a:solidFill>
                  <a:srgbClr val="B8B8B8"/>
                </a:solidFill>
                <a:latin typeface="Inter" pitchFamily="34" charset="0"/>
                <a:ea typeface="Inter" pitchFamily="34" charset="-122"/>
                <a:cs typeface="Inter" pitchFamily="34" charset="-120"/>
              </a:rPr>
              <a:t> split first, then over-sample the training set only. Until then, Module 4 test scores may be slightly higher than reality.</a:t>
            </a:r>
            <a:endParaRPr lang="en-US" sz="1200" dirty="0"/>
          </a:p>
        </p:txBody>
      </p:sp>
      <p:sp>
        <p:nvSpPr>
          <p:cNvPr id="12" name="Shape 9"/>
          <p:cNvSpPr/>
          <p:nvPr/>
        </p:nvSpPr>
        <p:spPr>
          <a:xfrm>
            <a:off x="6175375" y="1280120"/>
            <a:ext cx="5302250" cy="3914874"/>
          </a:xfrm>
          <a:prstGeom prst="roundRect">
            <a:avLst>
              <a:gd name="adj" fmla="val 1541"/>
            </a:avLst>
          </a:prstGeom>
          <a:solidFill>
            <a:srgbClr val="111111"/>
          </a:solidFill>
          <a:ln w="6350">
            <a:solidFill>
              <a:srgbClr val="222222"/>
            </a:solidFill>
            <a:prstDash val="solid"/>
          </a:ln>
        </p:spPr>
      </p:sp>
      <p:sp>
        <p:nvSpPr>
          <p:cNvPr id="13" name="Shape 10"/>
          <p:cNvSpPr/>
          <p:nvPr/>
        </p:nvSpPr>
        <p:spPr>
          <a:xfrm>
            <a:off x="6178550" y="1283295"/>
            <a:ext cx="5295900" cy="25400"/>
          </a:xfrm>
          <a:custGeom>
            <a:avLst/>
            <a:gdLst/>
            <a:ahLst/>
            <a:cxnLst/>
            <a:rect l="l" t="t" r="r" b="b"/>
            <a:pathLst>
              <a:path w="5295900" h="25400">
                <a:moveTo>
                  <a:pt x="9631" y="25400"/>
                </a:moveTo>
                <a:arcTo hR="57150" wR="57150" stAng="12824939" swAng="3375061"/>
                <a:lnTo>
                  <a:pt x="5238750" y="0"/>
                </a:lnTo>
                <a:arcTo hR="57150" wR="57150" stAng="16200000" swAng="3375061"/>
                <a:close/>
              </a:path>
            </a:pathLst>
          </a:custGeom>
          <a:solidFill>
            <a:srgbClr val="00E5CC"/>
          </a:solidFill>
          <a:ln/>
        </p:spPr>
      </p:sp>
      <p:sp>
        <p:nvSpPr>
          <p:cNvPr id="14" name="Text 11"/>
          <p:cNvSpPr/>
          <p:nvPr/>
        </p:nvSpPr>
        <p:spPr>
          <a:xfrm>
            <a:off x="6356350" y="1461095"/>
            <a:ext cx="508850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0E5CC"/>
                </a:solidFill>
                <a:latin typeface="Inter" pitchFamily="34" charset="0"/>
                <a:ea typeface="Inter" pitchFamily="34" charset="-122"/>
                <a:cs typeface="Inter" pitchFamily="34" charset="-120"/>
              </a:rPr>
              <a:t>HOW WE MEET THE RUBRIC</a:t>
            </a:r>
            <a:endParaRPr lang="en-US" sz="1200" dirty="0"/>
          </a:p>
        </p:txBody>
      </p:sp>
      <p:sp>
        <p:nvSpPr>
          <p:cNvPr id="15" name="Shape 12"/>
          <p:cNvSpPr/>
          <p:nvPr/>
        </p:nvSpPr>
        <p:spPr>
          <a:xfrm>
            <a:off x="6356350" y="1750616"/>
            <a:ext cx="4940300" cy="596801"/>
          </a:xfrm>
          <a:prstGeom prst="roundRect">
            <a:avLst>
              <a:gd name="adj" fmla="val 6384"/>
            </a:avLst>
          </a:prstGeom>
          <a:solidFill>
            <a:srgbClr val="0B1817"/>
          </a:solidFill>
          <a:ln/>
        </p:spPr>
      </p:sp>
      <p:sp>
        <p:nvSpPr>
          <p:cNvPr id="16" name="Text 13"/>
          <p:cNvSpPr/>
          <p:nvPr/>
        </p:nvSpPr>
        <p:spPr>
          <a:xfrm>
            <a:off x="6470650" y="1826816"/>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Insight quality</a:t>
            </a:r>
            <a:endParaRPr lang="en-US" sz="1200" dirty="0"/>
          </a:p>
        </p:txBody>
      </p:sp>
      <p:sp>
        <p:nvSpPr>
          <p:cNvPr id="17" name="Text 14"/>
          <p:cNvSpPr/>
          <p:nvPr/>
        </p:nvSpPr>
        <p:spPr>
          <a:xfrm>
            <a:off x="6470650" y="2065536"/>
            <a:ext cx="485305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8B8"/>
                </a:solidFill>
                <a:latin typeface="Inter" pitchFamily="34" charset="0"/>
                <a:ea typeface="Inter" pitchFamily="34" charset="-122"/>
                <a:cs typeface="Inter" pitchFamily="34" charset="-120"/>
              </a:rPr>
              <a:t>Six quantified insights, such as 3.46 times risk above 50 Nm.</a:t>
            </a:r>
            <a:endParaRPr lang="en-US" sz="1200" dirty="0"/>
          </a:p>
        </p:txBody>
      </p:sp>
      <p:sp>
        <p:nvSpPr>
          <p:cNvPr id="18" name="Shape 15"/>
          <p:cNvSpPr/>
          <p:nvPr/>
        </p:nvSpPr>
        <p:spPr>
          <a:xfrm>
            <a:off x="6356350" y="2423616"/>
            <a:ext cx="4940300" cy="596801"/>
          </a:xfrm>
          <a:prstGeom prst="roundRect">
            <a:avLst>
              <a:gd name="adj" fmla="val 6384"/>
            </a:avLst>
          </a:prstGeom>
          <a:solidFill>
            <a:srgbClr val="0B1817"/>
          </a:solidFill>
          <a:ln/>
        </p:spPr>
      </p:sp>
      <p:sp>
        <p:nvSpPr>
          <p:cNvPr id="19" name="Text 16"/>
          <p:cNvSpPr/>
          <p:nvPr/>
        </p:nvSpPr>
        <p:spPr>
          <a:xfrm>
            <a:off x="6470650" y="2499816"/>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Correlation analysis</a:t>
            </a:r>
            <a:endParaRPr lang="en-US" sz="1200" dirty="0"/>
          </a:p>
        </p:txBody>
      </p:sp>
      <p:sp>
        <p:nvSpPr>
          <p:cNvPr id="20" name="Text 17"/>
          <p:cNvSpPr/>
          <p:nvPr/>
        </p:nvSpPr>
        <p:spPr>
          <a:xfrm>
            <a:off x="6470650" y="2738537"/>
            <a:ext cx="485305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8B8"/>
                </a:solidFill>
                <a:latin typeface="Inter" pitchFamily="34" charset="0"/>
                <a:ea typeface="Inter" pitchFamily="34" charset="-122"/>
                <a:cs typeface="Inter" pitchFamily="34" charset="-120"/>
              </a:rPr>
              <a:t>Heatmap plus what correlation does not prove.</a:t>
            </a:r>
            <a:endParaRPr lang="en-US" sz="1200" dirty="0"/>
          </a:p>
        </p:txBody>
      </p:sp>
      <p:sp>
        <p:nvSpPr>
          <p:cNvPr id="21" name="Shape 18"/>
          <p:cNvSpPr/>
          <p:nvPr/>
        </p:nvSpPr>
        <p:spPr>
          <a:xfrm>
            <a:off x="6356350" y="3096617"/>
            <a:ext cx="4940300" cy="596801"/>
          </a:xfrm>
          <a:prstGeom prst="roundRect">
            <a:avLst>
              <a:gd name="adj" fmla="val 6384"/>
            </a:avLst>
          </a:prstGeom>
          <a:solidFill>
            <a:srgbClr val="0B1817"/>
          </a:solidFill>
          <a:ln/>
        </p:spPr>
      </p:sp>
      <p:sp>
        <p:nvSpPr>
          <p:cNvPr id="22" name="Text 19"/>
          <p:cNvSpPr/>
          <p:nvPr/>
        </p:nvSpPr>
        <p:spPr>
          <a:xfrm>
            <a:off x="6470650" y="3172817"/>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Feature engineering</a:t>
            </a:r>
            <a:endParaRPr lang="en-US" sz="1200" dirty="0"/>
          </a:p>
        </p:txBody>
      </p:sp>
      <p:sp>
        <p:nvSpPr>
          <p:cNvPr id="23" name="Text 20"/>
          <p:cNvSpPr/>
          <p:nvPr/>
        </p:nvSpPr>
        <p:spPr>
          <a:xfrm>
            <a:off x="6470650" y="3411538"/>
            <a:ext cx="485305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8B8"/>
                </a:solidFill>
                <a:latin typeface="Inter" pitchFamily="34" charset="0"/>
                <a:ea typeface="Inter" pitchFamily="34" charset="-122"/>
                <a:cs typeface="Inter" pitchFamily="34" charset="-120"/>
              </a:rPr>
              <a:t>Three features, each with a physical reason.</a:t>
            </a:r>
            <a:endParaRPr lang="en-US" sz="1200" dirty="0"/>
          </a:p>
        </p:txBody>
      </p:sp>
      <p:sp>
        <p:nvSpPr>
          <p:cNvPr id="24" name="Shape 21"/>
          <p:cNvSpPr/>
          <p:nvPr/>
        </p:nvSpPr>
        <p:spPr>
          <a:xfrm>
            <a:off x="6356350" y="3769618"/>
            <a:ext cx="4940300" cy="596801"/>
          </a:xfrm>
          <a:prstGeom prst="roundRect">
            <a:avLst>
              <a:gd name="adj" fmla="val 6384"/>
            </a:avLst>
          </a:prstGeom>
          <a:solidFill>
            <a:srgbClr val="0B1817"/>
          </a:solidFill>
          <a:ln/>
        </p:spPr>
      </p:sp>
      <p:sp>
        <p:nvSpPr>
          <p:cNvPr id="25" name="Text 22"/>
          <p:cNvSpPr/>
          <p:nvPr/>
        </p:nvSpPr>
        <p:spPr>
          <a:xfrm>
            <a:off x="6470650" y="3845818"/>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Preprocessing pipeline</a:t>
            </a:r>
            <a:endParaRPr lang="en-US" sz="1200" dirty="0"/>
          </a:p>
        </p:txBody>
      </p:sp>
      <p:sp>
        <p:nvSpPr>
          <p:cNvPr id="26" name="Text 23"/>
          <p:cNvSpPr/>
          <p:nvPr/>
        </p:nvSpPr>
        <p:spPr>
          <a:xfrm>
            <a:off x="6470650" y="4084538"/>
            <a:ext cx="485305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8B8"/>
                </a:solidFill>
                <a:latin typeface="Inter" pitchFamily="34" charset="0"/>
                <a:ea typeface="Inter" pitchFamily="34" charset="-122"/>
                <a:cs typeface="Inter" pitchFamily="34" charset="-120"/>
              </a:rPr>
              <a:t>Fixed order, scaler fit on train only, documented.</a:t>
            </a:r>
            <a:endParaRPr lang="en-US" sz="1200" dirty="0"/>
          </a:p>
        </p:txBody>
      </p:sp>
      <p:sp>
        <p:nvSpPr>
          <p:cNvPr id="27" name="Shape 24"/>
          <p:cNvSpPr/>
          <p:nvPr/>
        </p:nvSpPr>
        <p:spPr>
          <a:xfrm>
            <a:off x="6356350" y="4442619"/>
            <a:ext cx="4940300" cy="596801"/>
          </a:xfrm>
          <a:prstGeom prst="roundRect">
            <a:avLst>
              <a:gd name="adj" fmla="val 6384"/>
            </a:avLst>
          </a:prstGeom>
          <a:solidFill>
            <a:srgbClr val="0B1817"/>
          </a:solidFill>
          <a:ln/>
        </p:spPr>
      </p:sp>
      <p:sp>
        <p:nvSpPr>
          <p:cNvPr id="28" name="Text 25"/>
          <p:cNvSpPr/>
          <p:nvPr/>
        </p:nvSpPr>
        <p:spPr>
          <a:xfrm>
            <a:off x="6470650" y="4518819"/>
            <a:ext cx="485305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0E5CC"/>
                </a:solidFill>
                <a:latin typeface="Inter" pitchFamily="34" charset="0"/>
                <a:ea typeface="Inter" pitchFamily="34" charset="-122"/>
                <a:cs typeface="Inter" pitchFamily="34" charset="-120"/>
              </a:rPr>
              <a:t>Final dataset readiness</a:t>
            </a:r>
            <a:endParaRPr lang="en-US" sz="1200" dirty="0"/>
          </a:p>
        </p:txBody>
      </p:sp>
      <p:sp>
        <p:nvSpPr>
          <p:cNvPr id="29" name="Text 26"/>
          <p:cNvSpPr/>
          <p:nvPr/>
        </p:nvSpPr>
        <p:spPr>
          <a:xfrm>
            <a:off x="6470650" y="4757539"/>
            <a:ext cx="485305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8B8B8"/>
                </a:solidFill>
                <a:latin typeface="Inter" pitchFamily="34" charset="0"/>
                <a:ea typeface="Inter" pitchFamily="34" charset="-122"/>
                <a:cs typeface="Inter" pitchFamily="34" charset="-120"/>
              </a:rPr>
              <a:t>Numeric, scaled, zero overlap, 8 of 8 checks pass.</a:t>
            </a:r>
            <a:endParaRPr lang="en-US" sz="1200" dirty="0"/>
          </a:p>
        </p:txBody>
      </p:sp>
      <p:sp>
        <p:nvSpPr>
          <p:cNvPr id="30" name="Text 27"/>
          <p:cNvSpPr/>
          <p:nvPr/>
        </p:nvSpPr>
        <p:spPr>
          <a:xfrm>
            <a:off x="711200" y="63398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A8A"/>
                </a:solidFill>
                <a:latin typeface="Inter" pitchFamily="34" charset="0"/>
                <a:ea typeface="Inter" pitchFamily="34" charset="-122"/>
                <a:cs typeface="Inter" pitchFamily="34" charset="-120"/>
              </a:rPr>
              <a:t>AI4I Predictive Maintenance · Milestone 3</a:t>
            </a:r>
            <a:endParaRPr lang="en-US" sz="1200" dirty="0"/>
          </a:p>
        </p:txBody>
      </p:sp>
      <p:sp>
        <p:nvSpPr>
          <p:cNvPr id="31" name="Text 28"/>
          <p:cNvSpPr/>
          <p:nvPr/>
        </p:nvSpPr>
        <p:spPr>
          <a:xfrm>
            <a:off x="10160000" y="63398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A8A"/>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0808"/>
        </a:solidFill>
      </p:bgPr>
    </p:bg>
    <p:spTree>
      <p:nvGrpSpPr>
        <p:cNvPr id="1" name=""/>
        <p:cNvGrpSpPr/>
        <p:nvPr/>
      </p:nvGrpSpPr>
      <p:grpSpPr>
        <a:xfrm>
          <a:off x="0" y="0"/>
          <a:ext cx="0" cy="0"/>
          <a:chOff x="0" y="0"/>
          <a:chExt cx="0" cy="0"/>
        </a:xfrm>
      </p:grpSpPr>
      <p:pic>
        <p:nvPicPr>
          <p:cNvPr id="2" name="Image 0" descr="Industrial factory floor with machinery and a digital grid overlay">    </p:cNvPr>
          <p:cNvPicPr>
            <a:picLocks noChangeAspect="1"/>
          </p:cNvPicPr>
          <p:nvPr/>
        </p:nvPicPr>
        <p:blipFill>
          <a:blip r:embed="rId1">
            <a:alphaModFix amt="90000"/>
          </a:blip>
          <a:srcRect l="0" r="0" t="0" b="0"/>
          <a:stretch/>
        </p:blipFill>
        <p:spPr>
          <a:xfrm>
            <a:off x="7067550" y="0"/>
            <a:ext cx="5124450" cy="6858000"/>
          </a:xfrm>
          <a:prstGeom prst="rect">
            <a:avLst/>
          </a:prstGeom>
        </p:spPr>
      </p:pic>
      <p:pic>
        <p:nvPicPr>
          <p:cNvPr id="3" name="Image 1" descr="ellipse">    </p:cNvPr>
          <p:cNvPicPr>
            <a:picLocks noChangeAspect="1"/>
          </p:cNvPicPr>
          <p:nvPr/>
        </p:nvPicPr>
        <p:blipFill>
          <a:blip r:embed="rId2"/>
          <a:srcRect l="0" r="0" t="0" b="0"/>
          <a:stretch/>
        </p:blipFill>
        <p:spPr>
          <a:xfrm>
            <a:off x="406400" y="406400"/>
            <a:ext cx="88900" cy="88900"/>
          </a:xfrm>
          <a:prstGeom prst="rect">
            <a:avLst/>
          </a:prstGeom>
        </p:spPr>
      </p:pic>
      <p:sp>
        <p:nvSpPr>
          <p:cNvPr id="4" name="Text 0"/>
          <p:cNvSpPr/>
          <p:nvPr/>
        </p:nvSpPr>
        <p:spPr>
          <a:xfrm>
            <a:off x="711200" y="609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MILESTONE 3 WRAP-UP</a:t>
            </a:r>
            <a:endParaRPr lang="en-US" sz="1200" dirty="0"/>
          </a:p>
        </p:txBody>
      </p:sp>
      <p:sp>
        <p:nvSpPr>
          <p:cNvPr id="5" name="Text 1"/>
          <p:cNvSpPr/>
          <p:nvPr>
            <p:ph type="title"/>
          </p:nvPr>
        </p:nvSpPr>
        <p:spPr>
          <a:xfrm>
            <a:off x="711200" y="1624509"/>
            <a:ext cx="6278880" cy="97532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5F5F5"/>
                </a:solidFill>
                <a:latin typeface="Inter" pitchFamily="34" charset="0"/>
                <a:ea typeface="Inter" pitchFamily="34" charset="-122"/>
                <a:cs typeface="Inter" pitchFamily="34" charset="-120"/>
              </a:rPr>
              <a:t>From Raw Sensor Data to </a:t>
            </a:r>
            <a:r>
              <a:rPr lang="en-US" sz="3400" b="1" i="0" dirty="0">
                <a:solidFill>
                  <a:srgbClr val="00E5CC"/>
                </a:solidFill>
                <a:latin typeface="Inter" pitchFamily="34" charset="0"/>
                <a:ea typeface="Inter" pitchFamily="34" charset="-122"/>
                <a:cs typeface="Inter" pitchFamily="34" charset="-120"/>
              </a:rPr>
              <a:t>Model-Ready</a:t>
            </a:r>
            <a:r>
              <a:rPr lang="en-US" sz="3400" b="1" i="0" dirty="0">
                <a:solidFill>
                  <a:srgbClr val="F5F5F5"/>
                </a:solidFill>
                <a:latin typeface="Inter" pitchFamily="34" charset="0"/>
                <a:ea typeface="Inter" pitchFamily="34" charset="-122"/>
                <a:cs typeface="Inter" pitchFamily="34" charset="-120"/>
              </a:rPr>
              <a:t> Features</a:t>
            </a:r>
            <a:endParaRPr lang="en-US" sz="3400" dirty="0"/>
          </a:p>
        </p:txBody>
      </p:sp>
      <p:sp>
        <p:nvSpPr>
          <p:cNvPr id="6" name="Text 2"/>
          <p:cNvSpPr/>
          <p:nvPr/>
        </p:nvSpPr>
        <p:spPr>
          <a:xfrm>
            <a:off x="711200" y="2726829"/>
            <a:ext cx="58864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B8B8"/>
                </a:solidFill>
                <a:latin typeface="Inter" pitchFamily="34" charset="0"/>
                <a:ea typeface="Inter" pitchFamily="34" charset="-122"/>
                <a:cs typeface="Inter" pitchFamily="34" charset="-120"/>
              </a:rPr>
              <a:t>EDA completed, quality verified, leakage contained, and datasets prepared for ML classifier training.</a:t>
            </a:r>
            <a:endParaRPr lang="en-US" sz="1500" dirty="0"/>
          </a:p>
        </p:txBody>
      </p:sp>
      <p:sp>
        <p:nvSpPr>
          <p:cNvPr id="7" name="Text 3"/>
          <p:cNvSpPr/>
          <p:nvPr/>
        </p:nvSpPr>
        <p:spPr>
          <a:xfrm>
            <a:off x="711200" y="3412629"/>
            <a:ext cx="5886450" cy="452041"/>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F5F5F5"/>
                </a:solidFill>
                <a:latin typeface="Inter" pitchFamily="34" charset="0"/>
                <a:ea typeface="Inter" pitchFamily="34" charset="-122"/>
                <a:cs typeface="Inter" pitchFamily="34" charset="-120"/>
              </a:rPr>
              <a:t>Thank You! </a:t>
            </a:r>
            <a:r>
              <a:rPr lang="en-US" sz="2400" b="1" dirty="0">
                <a:solidFill>
                  <a:srgbClr val="00E5CC"/>
                </a:solidFill>
                <a:latin typeface="Inter" pitchFamily="34" charset="0"/>
                <a:ea typeface="Inter" pitchFamily="34" charset="-122"/>
                <a:cs typeface="Inter" pitchFamily="34" charset="-120"/>
              </a:rPr>
              <a:t>Questions &amp; Discussion</a:t>
            </a:r>
            <a:endParaRPr lang="en-US" sz="2400" dirty="0"/>
          </a:p>
        </p:txBody>
      </p:sp>
      <p:sp>
        <p:nvSpPr>
          <p:cNvPr id="8" name="Shape 4"/>
          <p:cNvSpPr/>
          <p:nvPr/>
        </p:nvSpPr>
        <p:spPr>
          <a:xfrm>
            <a:off x="714375" y="4644033"/>
            <a:ext cx="5708650" cy="1601192"/>
          </a:xfrm>
          <a:prstGeom prst="roundRect">
            <a:avLst>
              <a:gd name="adj" fmla="val 3768"/>
            </a:avLst>
          </a:prstGeom>
          <a:solidFill>
            <a:srgbClr val="111111"/>
          </a:solidFill>
          <a:ln w="6350">
            <a:solidFill>
              <a:srgbClr val="222222"/>
            </a:solidFill>
            <a:prstDash val="solid"/>
          </a:ln>
        </p:spPr>
      </p:sp>
      <p:sp>
        <p:nvSpPr>
          <p:cNvPr id="9" name="Text 5"/>
          <p:cNvSpPr/>
          <p:nvPr/>
        </p:nvSpPr>
        <p:spPr>
          <a:xfrm>
            <a:off x="946150" y="4825008"/>
            <a:ext cx="540245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0E5CC"/>
                </a:solidFill>
                <a:latin typeface="Inter" pitchFamily="34" charset="0"/>
                <a:ea typeface="Inter" pitchFamily="34" charset="-122"/>
                <a:cs typeface="Inter" pitchFamily="34" charset="-120"/>
              </a:rPr>
              <a:t>PROJECT TEAM MEMBERS</a:t>
            </a:r>
            <a:endParaRPr lang="en-US" sz="1200" dirty="0"/>
          </a:p>
        </p:txBody>
      </p:sp>
      <p:sp>
        <p:nvSpPr>
          <p:cNvPr id="10" name="Text 6"/>
          <p:cNvSpPr/>
          <p:nvPr/>
        </p:nvSpPr>
        <p:spPr>
          <a:xfrm>
            <a:off x="946150" y="5139928"/>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Aiham Bawaneh</a:t>
            </a:r>
            <a:endParaRPr lang="en-US" sz="1400" dirty="0"/>
          </a:p>
        </p:txBody>
      </p:sp>
      <p:sp>
        <p:nvSpPr>
          <p:cNvPr id="11" name="Text 7"/>
          <p:cNvSpPr/>
          <p:nvPr/>
        </p:nvSpPr>
        <p:spPr>
          <a:xfrm>
            <a:off x="3644900" y="5139928"/>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Mohammad Aljabali</a:t>
            </a:r>
            <a:endParaRPr lang="en-US" sz="1400" dirty="0"/>
          </a:p>
        </p:txBody>
      </p:sp>
      <p:sp>
        <p:nvSpPr>
          <p:cNvPr id="12" name="Text 8"/>
          <p:cNvSpPr/>
          <p:nvPr/>
        </p:nvSpPr>
        <p:spPr>
          <a:xfrm>
            <a:off x="946150" y="547766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Mahmoud Bani-Hani</a:t>
            </a:r>
            <a:endParaRPr lang="en-US" sz="1400" dirty="0"/>
          </a:p>
        </p:txBody>
      </p:sp>
      <p:sp>
        <p:nvSpPr>
          <p:cNvPr id="13" name="Text 9"/>
          <p:cNvSpPr/>
          <p:nvPr/>
        </p:nvSpPr>
        <p:spPr>
          <a:xfrm>
            <a:off x="3644900" y="547766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Reem Aldelki</a:t>
            </a:r>
            <a:endParaRPr lang="en-US" sz="1400" dirty="0"/>
          </a:p>
        </p:txBody>
      </p:sp>
      <p:sp>
        <p:nvSpPr>
          <p:cNvPr id="14" name="Text 10"/>
          <p:cNvSpPr/>
          <p:nvPr/>
        </p:nvSpPr>
        <p:spPr>
          <a:xfrm>
            <a:off x="946150" y="5815409"/>
            <a:ext cx="262274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5F5F5"/>
                </a:solidFill>
                <a:latin typeface="Inter" pitchFamily="34" charset="0"/>
                <a:ea typeface="Inter" pitchFamily="34" charset="-122"/>
                <a:cs typeface="Inter" pitchFamily="34" charset="-120"/>
              </a:rPr>
              <a:t>Shahd Alkwaga</a:t>
            </a:r>
            <a:endParaRPr lang="en-US" sz="1400" dirty="0"/>
          </a:p>
        </p:txBody>
      </p:sp>
    </p:spTree>
  </p:cSld>
  <p:clrMapOvr>
    <a:masterClrMapping/>
  </p:clrMapOvr>
</p:sld>
</file>

<file path=ppt/theme/theme1.xml><?xml version="1.0" encoding="utf-8"?>
<a:theme xmlns:a="http://schemas.openxmlformats.org/drawingml/2006/main" name="AI4I Predictive Maintenance ML Project – Milestone 3">
  <a:themeElements>
    <a:clrScheme name="AI4I Predictive Maintenance ML Project – Milestone 3">
      <a:dk1>
        <a:srgbClr val="080808"/>
      </a:dk1>
      <a:lt1>
        <a:srgbClr val="F5F5F5"/>
      </a:lt1>
      <a:dk2>
        <a:srgbClr val="202020"/>
      </a:dk2>
      <a:lt2>
        <a:srgbClr val="BABABA"/>
      </a:lt2>
      <a:accent1>
        <a:srgbClr val="00E5CC"/>
      </a:accent1>
      <a:accent2>
        <a:srgbClr val="3D7EFF"/>
      </a:accent2>
      <a:accent3>
        <a:srgbClr val="FF5A5A"/>
      </a:accent3>
      <a:accent4>
        <a:srgbClr val="B8B8B8"/>
      </a:accent4>
      <a:accent5>
        <a:srgbClr val="8A8A8A"/>
      </a:accent5>
      <a:accent6>
        <a:srgbClr val="9AA0A6"/>
      </a:accent6>
      <a:hlink>
        <a:srgbClr val="0563C1"/>
      </a:hlink>
      <a:folHlink>
        <a:srgbClr val="954F72"/>
      </a:folHlink>
    </a:clrScheme>
    <a:fontScheme name="AI4I Predictive Maintenance ML Project – Milestone 3">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AI4I Predictive Maintenance ML Project – Milestone 3</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2026-10-23T17:02:19Z</dcterms:created>
  <dcterms:modified xsi:type="dcterms:W3CDTF">2026-10-23T17:02:19Z</dcterms:modified>
</cp:coreProperties>
</file>