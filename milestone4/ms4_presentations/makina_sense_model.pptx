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1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D819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D819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B"/>
          </a:solidFill>
          <a:ln w="12700">
            <a:solidFill>
              <a:srgbClr val="07111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258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3317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375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8463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3550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8638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3667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8696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3726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0" y="2286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0" y="7315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0" y="42519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0" y="52578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438912" y="6473952"/>
            <a:ext cx="11320272" cy="0"/>
          </a:xfrm>
          <a:prstGeom prst="line">
            <a:avLst/>
          </a:prstGeom>
          <a:noFill/>
          <a:ln w="10160">
            <a:solidFill>
              <a:srgbClr val="1A3447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02920" y="210312"/>
            <a:ext cx="70408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MILESTONE 4 · MODEL TRAINING &amp; EVALUATION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046720" y="1188720"/>
            <a:ext cx="1828800" cy="1828800"/>
          </a:xfrm>
          <a:prstGeom prst="gear6">
            <a:avLst/>
          </a:prstGeom>
          <a:solidFill>
            <a:srgbClr val="0B1926">
              <a:alpha val="0"/>
            </a:srgbClr>
          </a:solidFill>
          <a:ln w="27940">
            <a:solidFill>
              <a:srgbClr val="00D8C0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9464040" y="2880360"/>
            <a:ext cx="1143000" cy="1143000"/>
          </a:xfrm>
          <a:prstGeom prst="gear6">
            <a:avLst/>
          </a:prstGeom>
          <a:solidFill>
            <a:srgbClr val="0B1926">
              <a:alpha val="0"/>
            </a:srgbClr>
          </a:solidFill>
          <a:ln w="25400">
            <a:solidFill>
              <a:srgbClr val="4285FF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7086600" y="3520440"/>
            <a:ext cx="960120" cy="960120"/>
          </a:xfrm>
          <a:prstGeom prst="gear6">
            <a:avLst/>
          </a:prstGeom>
          <a:solidFill>
            <a:srgbClr val="0B1926">
              <a:alpha val="0"/>
            </a:srgbClr>
          </a:solidFill>
          <a:ln w="22860">
            <a:solidFill>
              <a:srgbClr val="4285FF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080760" y="2121408"/>
            <a:ext cx="2514600" cy="1325880"/>
          </a:xfrm>
          <a:prstGeom prst="roundRect">
            <a:avLst>
              <a:gd name="adj" fmla="val 11034"/>
            </a:avLst>
          </a:prstGeom>
          <a:solidFill>
            <a:srgbClr val="10283A"/>
          </a:solidFill>
          <a:ln w="10795">
            <a:solidFill>
              <a:srgbClr val="00D8C0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8183880" y="1600200"/>
            <a:ext cx="640080" cy="457200"/>
          </a:xfrm>
          <a:prstGeom prst="line">
            <a:avLst/>
          </a:prstGeom>
          <a:noFill/>
          <a:ln w="25400">
            <a:solidFill>
              <a:srgbClr val="00D8C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8458200" y="3246120"/>
            <a:ext cx="1005840" cy="91440"/>
          </a:xfrm>
          <a:prstGeom prst="line">
            <a:avLst/>
          </a:prstGeom>
          <a:noFill/>
          <a:ln w="25400">
            <a:solidFill>
              <a:srgbClr val="4285F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6583680" y="5166360"/>
            <a:ext cx="118872" cy="118872"/>
          </a:xfrm>
          <a:prstGeom prst="ellipse">
            <a:avLst/>
          </a:prstGeom>
          <a:solidFill>
            <a:srgbClr val="00D8C0"/>
          </a:solidFill>
          <a:ln w="12700">
            <a:solidFill>
              <a:srgbClr val="00D8C0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6894576" y="5166360"/>
            <a:ext cx="118872" cy="118872"/>
          </a:xfrm>
          <a:prstGeom prst="ellipse">
            <a:avLst/>
          </a:prstGeom>
          <a:solidFill>
            <a:srgbClr val="00D8C0"/>
          </a:solidFill>
          <a:ln w="12700">
            <a:solidFill>
              <a:srgbClr val="00D8C0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7205472" y="5166360"/>
            <a:ext cx="118872" cy="118872"/>
          </a:xfrm>
          <a:prstGeom prst="ellipse">
            <a:avLst/>
          </a:prstGeom>
          <a:solidFill>
            <a:srgbClr val="00D8C0"/>
          </a:solidFill>
          <a:ln w="12700">
            <a:solidFill>
              <a:srgbClr val="00D8C0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7516368" y="5166360"/>
            <a:ext cx="118872" cy="118872"/>
          </a:xfrm>
          <a:prstGeom prst="ellipse">
            <a:avLst/>
          </a:prstGeom>
          <a:solidFill>
            <a:srgbClr val="00D8C0"/>
          </a:solidFill>
          <a:ln w="12700">
            <a:solidFill>
              <a:srgbClr val="00D8C0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7827264" y="5166360"/>
            <a:ext cx="118872" cy="118872"/>
          </a:xfrm>
          <a:prstGeom prst="ellipse">
            <a:avLst/>
          </a:prstGeom>
          <a:solidFill>
            <a:srgbClr val="6F8798"/>
          </a:solidFill>
          <a:ln w="12700">
            <a:solidFill>
              <a:srgbClr val="6F8798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8138160" y="5166360"/>
            <a:ext cx="118872" cy="118872"/>
          </a:xfrm>
          <a:prstGeom prst="ellipse">
            <a:avLst/>
          </a:prstGeom>
          <a:solidFill>
            <a:srgbClr val="6F8798"/>
          </a:solidFill>
          <a:ln w="12700">
            <a:solidFill>
              <a:srgbClr val="6F8798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6355080" y="5239512"/>
            <a:ext cx="1965960" cy="0"/>
          </a:xfrm>
          <a:prstGeom prst="line">
            <a:avLst/>
          </a:prstGeom>
          <a:noFill/>
          <a:ln w="16510">
            <a:solidFill>
              <a:srgbClr val="00D8C0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594360" y="1389888"/>
            <a:ext cx="5760720" cy="8686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1F6FA"/>
                </a:solidFill>
                <a:latin typeface="Aptos Display" pitchFamily="34" charset="0"/>
                <a:ea typeface="Aptos" pitchFamily="34" charset="-122"/>
                <a:cs typeface="Aptos" pitchFamily="34" charset="-120"/>
              </a:rPr>
              <a:t>MAKINA_SENSE</a:t>
            </a:r>
            <a:endParaRPr lang="en-US" sz="3100" dirty="0"/>
          </a:p>
        </p:txBody>
      </p:sp>
      <p:sp>
        <p:nvSpPr>
          <p:cNvPr id="59" name="Text 57"/>
          <p:cNvSpPr/>
          <p:nvPr/>
        </p:nvSpPr>
        <p:spPr>
          <a:xfrm>
            <a:off x="621792" y="2487168"/>
            <a:ext cx="5303520" cy="4114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Before the Machine Stops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640080" y="3035808"/>
            <a:ext cx="5212080" cy="32004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AI4I 2020 Predictive Maintenance Dataset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640080" y="3977640"/>
            <a:ext cx="5486400" cy="25603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Aiham Bawaneh  ·  Mahmoud Bani-Hani  ·  Mohammad Aljabali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40080" y="4315968"/>
            <a:ext cx="5029200" cy="25603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Reem Aldelki  ·  Shahed Alkhawaga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40080" y="4983480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00D8C0">
              <a:alpha val="17000"/>
            </a:srgbClr>
          </a:solidFill>
          <a:ln w="10160">
            <a:solidFill>
              <a:srgbClr val="00D8C0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694944" y="5001768"/>
            <a:ext cx="1124712" cy="1828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MILESTONE 4</a:t>
            </a:r>
            <a:endParaRPr lang="en-US" sz="820" dirty="0"/>
          </a:p>
        </p:txBody>
      </p:sp>
      <p:sp>
        <p:nvSpPr>
          <p:cNvPr id="6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D819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B"/>
          </a:solidFill>
          <a:ln w="12700">
            <a:solidFill>
              <a:srgbClr val="0711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26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286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7315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2519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52578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6473952"/>
            <a:ext cx="11320272" cy="0"/>
          </a:xfrm>
          <a:prstGeom prst="line">
            <a:avLst/>
          </a:prstGeom>
          <a:noFill/>
          <a:ln w="10160">
            <a:solidFill>
              <a:srgbClr val="1A34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210312"/>
            <a:ext cx="70408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JOURNEY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1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sensor data to a failure predictor</a:t>
            </a:r>
            <a:endParaRPr lang="en-US" sz="2700" dirty="0"/>
          </a:p>
        </p:txBody>
      </p:sp>
      <p:sp>
        <p:nvSpPr>
          <p:cNvPr id="44" name="Text 42"/>
          <p:cNvSpPr/>
          <p:nvPr/>
        </p:nvSpPr>
        <p:spPr>
          <a:xfrm>
            <a:off x="530352" y="11430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milestone prepared the ground for the next one.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94360" y="2084832"/>
            <a:ext cx="2423160" cy="2240280"/>
          </a:xfrm>
          <a:prstGeom prst="roundRect">
            <a:avLst>
              <a:gd name="adj" fmla="val 6531"/>
            </a:avLst>
          </a:prstGeom>
          <a:solidFill>
            <a:srgbClr val="0D2030"/>
          </a:solidFill>
          <a:ln w="10795">
            <a:solidFill>
              <a:srgbClr val="4285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58952" y="2267712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4285FF">
              <a:alpha val="17000"/>
            </a:srgbClr>
          </a:solidFill>
          <a:ln w="10160">
            <a:solidFill>
              <a:srgbClr val="4285FF">
                <a:alpha val="8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3816" y="2286000"/>
            <a:ext cx="457200" cy="1828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428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758952" y="2697480"/>
            <a:ext cx="2057400" cy="32004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428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758952" y="3200400"/>
            <a:ext cx="2057400" cy="74980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sensors, machine types and failure labels.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044952" y="3182112"/>
            <a:ext cx="310896" cy="0"/>
          </a:xfrm>
          <a:prstGeom prst="line">
            <a:avLst/>
          </a:prstGeom>
          <a:noFill/>
          <a:ln w="19050">
            <a:solidFill>
              <a:srgbClr val="00D8C0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3429000" y="2084832"/>
            <a:ext cx="2423160" cy="2240280"/>
          </a:xfrm>
          <a:prstGeom prst="roundRect">
            <a:avLst>
              <a:gd name="adj" fmla="val 6531"/>
            </a:avLst>
          </a:prstGeom>
          <a:solidFill>
            <a:srgbClr val="0D2030"/>
          </a:solidFill>
          <a:ln w="10795">
            <a:solidFill>
              <a:srgbClr val="00D8C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93592" y="2267712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00D8C0">
              <a:alpha val="17000"/>
            </a:srgbClr>
          </a:solidFill>
          <a:ln w="10160">
            <a:solidFill>
              <a:srgbClr val="00D8C0">
                <a:alpha val="8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48456" y="2286000"/>
            <a:ext cx="457200" cy="1828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M2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3593592" y="2697480"/>
            <a:ext cx="2057400" cy="32004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</a:t>
            </a:r>
            <a:endParaRPr lang="en-US" sz="1700" dirty="0"/>
          </a:p>
        </p:txBody>
      </p:sp>
      <p:sp>
        <p:nvSpPr>
          <p:cNvPr id="55" name="Text 53"/>
          <p:cNvSpPr/>
          <p:nvPr/>
        </p:nvSpPr>
        <p:spPr>
          <a:xfrm>
            <a:off x="3593592" y="3200400"/>
            <a:ext cx="2057400" cy="74980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 missing, duplicate and inconsistent values.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879592" y="3182112"/>
            <a:ext cx="310896" cy="0"/>
          </a:xfrm>
          <a:prstGeom prst="line">
            <a:avLst/>
          </a:prstGeom>
          <a:noFill/>
          <a:ln w="19050">
            <a:solidFill>
              <a:srgbClr val="00D8C0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6263640" y="2084832"/>
            <a:ext cx="2423160" cy="2240280"/>
          </a:xfrm>
          <a:prstGeom prst="roundRect">
            <a:avLst>
              <a:gd name="adj" fmla="val 6531"/>
            </a:avLst>
          </a:prstGeom>
          <a:solidFill>
            <a:srgbClr val="0D2030"/>
          </a:solidFill>
          <a:ln w="10795">
            <a:solidFill>
              <a:srgbClr val="FFB02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28232" y="2267712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FFB020">
              <a:alpha val="17000"/>
            </a:srgbClr>
          </a:solidFill>
          <a:ln w="10160">
            <a:solidFill>
              <a:srgbClr val="FFB020">
                <a:alpha val="8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83096" y="2286000"/>
            <a:ext cx="457200" cy="1828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FFB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M3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6428232" y="2697480"/>
            <a:ext cx="2057400" cy="32004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B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</a:t>
            </a:r>
            <a:endParaRPr lang="en-US" sz="1700" dirty="0"/>
          </a:p>
        </p:txBody>
      </p:sp>
      <p:sp>
        <p:nvSpPr>
          <p:cNvPr id="61" name="Text 59"/>
          <p:cNvSpPr/>
          <p:nvPr/>
        </p:nvSpPr>
        <p:spPr>
          <a:xfrm>
            <a:off x="6428232" y="3200400"/>
            <a:ext cx="2057400" cy="74980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EDA, 3 engineered features, leakage removal and stratified split.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714232" y="3182112"/>
            <a:ext cx="310896" cy="0"/>
          </a:xfrm>
          <a:prstGeom prst="line">
            <a:avLst/>
          </a:prstGeom>
          <a:noFill/>
          <a:ln w="19050">
            <a:solidFill>
              <a:srgbClr val="00D8C0"/>
            </a:solidFill>
            <a:prstDash val="solid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9098280" y="2084832"/>
            <a:ext cx="2423160" cy="2240280"/>
          </a:xfrm>
          <a:prstGeom prst="roundRect">
            <a:avLst>
              <a:gd name="adj" fmla="val 6531"/>
            </a:avLst>
          </a:prstGeom>
          <a:solidFill>
            <a:srgbClr val="0D2030"/>
          </a:solidFill>
          <a:ln w="10795">
            <a:solidFill>
              <a:srgbClr val="51D69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262872" y="2267712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51D69A">
              <a:alpha val="17000"/>
            </a:srgbClr>
          </a:solidFill>
          <a:ln w="10160">
            <a:solidFill>
              <a:srgbClr val="51D69A">
                <a:alpha val="8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317736" y="2286000"/>
            <a:ext cx="457200" cy="1828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51D6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M4</a:t>
            </a:r>
            <a:endParaRPr lang="en-US" sz="820" dirty="0"/>
          </a:p>
        </p:txBody>
      </p:sp>
      <p:sp>
        <p:nvSpPr>
          <p:cNvPr id="66" name="Text 64"/>
          <p:cNvSpPr/>
          <p:nvPr/>
        </p:nvSpPr>
        <p:spPr>
          <a:xfrm>
            <a:off x="9262872" y="2697480"/>
            <a:ext cx="2057400" cy="32004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51D6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</a:t>
            </a:r>
            <a:endParaRPr lang="en-US" sz="1700" dirty="0"/>
          </a:p>
        </p:txBody>
      </p:sp>
      <p:sp>
        <p:nvSpPr>
          <p:cNvPr id="67" name="Text 65"/>
          <p:cNvSpPr/>
          <p:nvPr/>
        </p:nvSpPr>
        <p:spPr>
          <a:xfrm>
            <a:off x="9262872" y="3200400"/>
            <a:ext cx="2057400" cy="74980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and compare five models; evaluate on unseen data.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914400" y="4892040"/>
            <a:ext cx="10332720" cy="822960"/>
          </a:xfrm>
          <a:prstGeom prst="roundRect">
            <a:avLst>
              <a:gd name="adj" fmla="val 17778"/>
            </a:avLst>
          </a:prstGeom>
          <a:solidFill>
            <a:srgbClr val="10283A"/>
          </a:solidFill>
          <a:ln w="10795">
            <a:solidFill>
              <a:srgbClr val="00D8C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143000" y="5102352"/>
            <a:ext cx="914400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057400" y="5047488"/>
            <a:ext cx="8823960" cy="3291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 a machine before it fails — so maintenance can act before unplanned downtime.</a:t>
            </a:r>
            <a:endParaRPr lang="en-US" sz="1500" dirty="0"/>
          </a:p>
        </p:txBody>
      </p:sp>
      <p:sp>
        <p:nvSpPr>
          <p:cNvPr id="7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D819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B"/>
          </a:solidFill>
          <a:ln w="12700">
            <a:solidFill>
              <a:srgbClr val="0711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26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286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7315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2519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52578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6473952"/>
            <a:ext cx="11320272" cy="0"/>
          </a:xfrm>
          <a:prstGeom prst="line">
            <a:avLst/>
          </a:prstGeom>
          <a:noFill/>
          <a:ln w="10160">
            <a:solidFill>
              <a:srgbClr val="1A34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210312"/>
            <a:ext cx="70408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INPUTS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1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goes into the models</a:t>
            </a:r>
            <a:endParaRPr lang="en-US" sz="2700" dirty="0"/>
          </a:p>
        </p:txBody>
      </p:sp>
      <p:sp>
        <p:nvSpPr>
          <p:cNvPr id="44" name="Text 42"/>
          <p:cNvSpPr/>
          <p:nvPr/>
        </p:nvSpPr>
        <p:spPr>
          <a:xfrm>
            <a:off x="530352" y="11430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Milestone 3 files are split into training and unseen test data.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40080" y="1828800"/>
            <a:ext cx="2514600" cy="1417320"/>
          </a:xfrm>
          <a:prstGeom prst="roundRect">
            <a:avLst>
              <a:gd name="adj" fmla="val 10323"/>
            </a:avLst>
          </a:prstGeom>
          <a:solidFill>
            <a:srgbClr val="0D2030"/>
          </a:solidFill>
          <a:ln w="10795">
            <a:solidFill>
              <a:srgbClr val="1A344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" y="1828800"/>
            <a:ext cx="50292" cy="1417320"/>
          </a:xfrm>
          <a:prstGeom prst="rect">
            <a:avLst/>
          </a:prstGeom>
          <a:solidFill>
            <a:srgbClr val="00D8C0"/>
          </a:solidFill>
          <a:ln w="12700">
            <a:solidFill>
              <a:srgbClr val="00D8C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2960" y="1938528"/>
            <a:ext cx="2221992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10,000</a:t>
            </a:r>
            <a:endParaRPr lang="en-US" sz="2700" dirty="0"/>
          </a:p>
        </p:txBody>
      </p:sp>
      <p:sp>
        <p:nvSpPr>
          <p:cNvPr id="48" name="Text 46"/>
          <p:cNvSpPr/>
          <p:nvPr/>
        </p:nvSpPr>
        <p:spPr>
          <a:xfrm>
            <a:off x="822960" y="2432304"/>
            <a:ext cx="2221992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ROWS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22960" y="2679192"/>
            <a:ext cx="2221992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to fit and validate models</a:t>
            </a:r>
            <a:endParaRPr lang="en-US" sz="840" dirty="0"/>
          </a:p>
        </p:txBody>
      </p:sp>
      <p:sp>
        <p:nvSpPr>
          <p:cNvPr id="50" name="Shape 48"/>
          <p:cNvSpPr/>
          <p:nvPr/>
        </p:nvSpPr>
        <p:spPr>
          <a:xfrm>
            <a:off x="3337560" y="1828800"/>
            <a:ext cx="2514600" cy="1417320"/>
          </a:xfrm>
          <a:prstGeom prst="roundRect">
            <a:avLst>
              <a:gd name="adj" fmla="val 10323"/>
            </a:avLst>
          </a:prstGeom>
          <a:solidFill>
            <a:srgbClr val="0D2030"/>
          </a:solidFill>
          <a:ln w="10795">
            <a:solidFill>
              <a:srgbClr val="1A344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337560" y="1828800"/>
            <a:ext cx="50292" cy="1417320"/>
          </a:xfrm>
          <a:prstGeom prst="rect">
            <a:avLst/>
          </a:prstGeom>
          <a:solidFill>
            <a:srgbClr val="4285FF"/>
          </a:solidFill>
          <a:ln w="12700">
            <a:solidFill>
              <a:srgbClr val="4285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20440" y="1938528"/>
            <a:ext cx="2221992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28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2,500</a:t>
            </a:r>
            <a:endParaRPr lang="en-US" sz="2700" dirty="0"/>
          </a:p>
        </p:txBody>
      </p:sp>
      <p:sp>
        <p:nvSpPr>
          <p:cNvPr id="53" name="Text 51"/>
          <p:cNvSpPr/>
          <p:nvPr/>
        </p:nvSpPr>
        <p:spPr>
          <a:xfrm>
            <a:off x="3520440" y="2432304"/>
            <a:ext cx="2221992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ROWS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520440" y="2679192"/>
            <a:ext cx="2221992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Kept unseen until final scoring</a:t>
            </a:r>
            <a:endParaRPr lang="en-US" sz="840" dirty="0"/>
          </a:p>
        </p:txBody>
      </p:sp>
      <p:sp>
        <p:nvSpPr>
          <p:cNvPr id="55" name="Shape 53"/>
          <p:cNvSpPr/>
          <p:nvPr/>
        </p:nvSpPr>
        <p:spPr>
          <a:xfrm>
            <a:off x="6035040" y="1828800"/>
            <a:ext cx="2514600" cy="1417320"/>
          </a:xfrm>
          <a:prstGeom prst="roundRect">
            <a:avLst>
              <a:gd name="adj" fmla="val 10323"/>
            </a:avLst>
          </a:prstGeom>
          <a:solidFill>
            <a:srgbClr val="0D2030"/>
          </a:solidFill>
          <a:ln w="10795">
            <a:solidFill>
              <a:srgbClr val="1A344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35040" y="1828800"/>
            <a:ext cx="50292" cy="141732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17920" y="1938528"/>
            <a:ext cx="2221992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B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2700" dirty="0"/>
          </a:p>
        </p:txBody>
      </p:sp>
      <p:sp>
        <p:nvSpPr>
          <p:cNvPr id="58" name="Text 56"/>
          <p:cNvSpPr/>
          <p:nvPr/>
        </p:nvSpPr>
        <p:spPr>
          <a:xfrm>
            <a:off x="6217920" y="2432304"/>
            <a:ext cx="2221992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FEATURES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217920" y="2679192"/>
            <a:ext cx="2221992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+ 5 sensors + 3 engineered</a:t>
            </a:r>
            <a:endParaRPr lang="en-US" sz="840" dirty="0"/>
          </a:p>
        </p:txBody>
      </p:sp>
      <p:sp>
        <p:nvSpPr>
          <p:cNvPr id="60" name="Shape 58"/>
          <p:cNvSpPr/>
          <p:nvPr/>
        </p:nvSpPr>
        <p:spPr>
          <a:xfrm>
            <a:off x="8732520" y="1828800"/>
            <a:ext cx="2514600" cy="1417320"/>
          </a:xfrm>
          <a:prstGeom prst="roundRect">
            <a:avLst>
              <a:gd name="adj" fmla="val 10323"/>
            </a:avLst>
          </a:prstGeom>
          <a:solidFill>
            <a:srgbClr val="0D2030"/>
          </a:solidFill>
          <a:ln w="10795">
            <a:solidFill>
              <a:srgbClr val="1A344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732520" y="1828800"/>
            <a:ext cx="50292" cy="1417320"/>
          </a:xfrm>
          <a:prstGeom prst="rect">
            <a:avLst/>
          </a:prstGeom>
          <a:solidFill>
            <a:srgbClr val="FF647C"/>
          </a:solidFill>
          <a:ln w="12700">
            <a:solidFill>
              <a:srgbClr val="FF647C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915400" y="1938528"/>
            <a:ext cx="2221992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6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22.7%</a:t>
            </a:r>
            <a:endParaRPr lang="en-US" sz="2700" dirty="0"/>
          </a:p>
        </p:txBody>
      </p:sp>
      <p:sp>
        <p:nvSpPr>
          <p:cNvPr id="63" name="Text 61"/>
          <p:cNvSpPr/>
          <p:nvPr/>
        </p:nvSpPr>
        <p:spPr>
          <a:xfrm>
            <a:off x="8915400" y="2432304"/>
            <a:ext cx="2221992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ROWS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8915400" y="2679192"/>
            <a:ext cx="2221992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dataset after synthetic rows</a:t>
            </a:r>
            <a:endParaRPr lang="en-US" sz="840" dirty="0"/>
          </a:p>
        </p:txBody>
      </p:sp>
      <p:sp>
        <p:nvSpPr>
          <p:cNvPr id="65" name="Shape 63"/>
          <p:cNvSpPr/>
          <p:nvPr/>
        </p:nvSpPr>
        <p:spPr>
          <a:xfrm>
            <a:off x="685800" y="3840480"/>
            <a:ext cx="10561320" cy="1325880"/>
          </a:xfrm>
          <a:prstGeom prst="roundRect">
            <a:avLst>
              <a:gd name="adj" fmla="val 11034"/>
            </a:avLst>
          </a:prstGeom>
          <a:solidFill>
            <a:srgbClr val="0D2030"/>
          </a:solidFill>
          <a:ln w="10795">
            <a:solidFill>
              <a:srgbClr val="1A344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14400" y="4096512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914400" y="4443984"/>
            <a:ext cx="2011680" cy="32004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failure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3749040" y="4251960"/>
            <a:ext cx="201168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= No failure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583680" y="4251960"/>
            <a:ext cx="182880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= Failure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8641080" y="4251960"/>
            <a:ext cx="2103120" cy="25603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Stratified 80 / 20 split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3749040" y="4617720"/>
            <a:ext cx="649224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split preserves the failure proportion in both subsets.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868680" y="5486400"/>
            <a:ext cx="10241280" cy="27432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Excluded: UDI, Product ID and failure-flag columns (TWF, HDF, PWF, OSF, RNF).</a:t>
            </a:r>
            <a:endParaRPr lang="en-US" sz="1050" dirty="0"/>
          </a:p>
        </p:txBody>
      </p:sp>
      <p:sp>
        <p:nvSpPr>
          <p:cNvPr id="7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D819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B"/>
          </a:solidFill>
          <a:ln w="12700">
            <a:solidFill>
              <a:srgbClr val="0711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26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286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7315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2519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52578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6473952"/>
            <a:ext cx="11320272" cy="0"/>
          </a:xfrm>
          <a:prstGeom prst="line">
            <a:avLst/>
          </a:prstGeom>
          <a:noFill/>
          <a:ln w="10160">
            <a:solidFill>
              <a:srgbClr val="1A34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210312"/>
            <a:ext cx="70408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DESIGN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1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Nine inputs: measured + engineered</a:t>
            </a:r>
            <a:endParaRPr lang="en-US" sz="2700" dirty="0"/>
          </a:p>
        </p:txBody>
      </p:sp>
      <p:sp>
        <p:nvSpPr>
          <p:cNvPr id="44" name="Text 42"/>
          <p:cNvSpPr/>
          <p:nvPr/>
        </p:nvSpPr>
        <p:spPr>
          <a:xfrm>
            <a:off x="530352" y="11430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engineered features add combinations the raw sensor columns do not show directly.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40080" y="1828800"/>
            <a:ext cx="5257800" cy="3337560"/>
          </a:xfrm>
          <a:prstGeom prst="roundRect">
            <a:avLst>
              <a:gd name="adj" fmla="val 4384"/>
            </a:avLst>
          </a:prstGeom>
          <a:solidFill>
            <a:srgbClr val="0D2030"/>
          </a:solidFill>
          <a:ln w="10795">
            <a:solidFill>
              <a:srgbClr val="4285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6112" y="2057400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4285FF">
              <a:alpha val="17000"/>
            </a:srgbClr>
          </a:solidFill>
          <a:ln w="10160">
            <a:solidFill>
              <a:srgbClr val="4285FF">
                <a:alpha val="8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0976" y="2075688"/>
            <a:ext cx="1078992" cy="1828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428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INPUTS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914400" y="2606040"/>
            <a:ext cx="2148840" cy="429768"/>
          </a:xfrm>
          <a:prstGeom prst="roundRect">
            <a:avLst>
              <a:gd name="adj" fmla="val 17021"/>
            </a:avLst>
          </a:prstGeom>
          <a:solidFill>
            <a:srgbClr val="0B1926"/>
          </a:solidFill>
          <a:ln w="7620">
            <a:solidFill>
              <a:srgbClr val="1A344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24128" y="2679192"/>
            <a:ext cx="192024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337560" y="2606040"/>
            <a:ext cx="2148840" cy="429768"/>
          </a:xfrm>
          <a:prstGeom prst="roundRect">
            <a:avLst>
              <a:gd name="adj" fmla="val 17021"/>
            </a:avLst>
          </a:prstGeom>
          <a:solidFill>
            <a:srgbClr val="0B1926"/>
          </a:solidFill>
          <a:ln w="7620">
            <a:solidFill>
              <a:srgbClr val="1A344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47288" y="2679192"/>
            <a:ext cx="192024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 temperature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14400" y="3264408"/>
            <a:ext cx="2148840" cy="429768"/>
          </a:xfrm>
          <a:prstGeom prst="roundRect">
            <a:avLst>
              <a:gd name="adj" fmla="val 17021"/>
            </a:avLst>
          </a:prstGeom>
          <a:solidFill>
            <a:srgbClr val="0B1926"/>
          </a:solidFill>
          <a:ln w="7620">
            <a:solidFill>
              <a:srgbClr val="1A344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24128" y="3337560"/>
            <a:ext cx="192024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temperature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337560" y="3264408"/>
            <a:ext cx="2148840" cy="429768"/>
          </a:xfrm>
          <a:prstGeom prst="roundRect">
            <a:avLst>
              <a:gd name="adj" fmla="val 17021"/>
            </a:avLst>
          </a:prstGeom>
          <a:solidFill>
            <a:srgbClr val="0B1926"/>
          </a:solidFill>
          <a:ln w="7620">
            <a:solidFill>
              <a:srgbClr val="1A344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47288" y="3337560"/>
            <a:ext cx="192024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Rotational speed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14400" y="3922776"/>
            <a:ext cx="2148840" cy="429768"/>
          </a:xfrm>
          <a:prstGeom prst="roundRect">
            <a:avLst>
              <a:gd name="adj" fmla="val 17021"/>
            </a:avLst>
          </a:prstGeom>
          <a:solidFill>
            <a:srgbClr val="0B1926"/>
          </a:solidFill>
          <a:ln w="7620">
            <a:solidFill>
              <a:srgbClr val="1A344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24128" y="3995928"/>
            <a:ext cx="192024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Torque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337560" y="3922776"/>
            <a:ext cx="2148840" cy="429768"/>
          </a:xfrm>
          <a:prstGeom prst="roundRect">
            <a:avLst>
              <a:gd name="adj" fmla="val 17021"/>
            </a:avLst>
          </a:prstGeom>
          <a:solidFill>
            <a:srgbClr val="0B1926"/>
          </a:solidFill>
          <a:ln w="7620">
            <a:solidFill>
              <a:srgbClr val="1A344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47288" y="3995928"/>
            <a:ext cx="192024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wear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263640" y="1828800"/>
            <a:ext cx="5257800" cy="3337560"/>
          </a:xfrm>
          <a:prstGeom prst="roundRect">
            <a:avLst>
              <a:gd name="adj" fmla="val 4384"/>
            </a:avLst>
          </a:prstGeom>
          <a:solidFill>
            <a:srgbClr val="0D2030"/>
          </a:solidFill>
          <a:ln w="10795">
            <a:solidFill>
              <a:srgbClr val="00D8C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510528" y="2057400"/>
            <a:ext cx="2011680" cy="256032"/>
          </a:xfrm>
          <a:prstGeom prst="roundRect">
            <a:avLst>
              <a:gd name="adj" fmla="val 28571"/>
            </a:avLst>
          </a:prstGeom>
          <a:solidFill>
            <a:srgbClr val="00D8C0">
              <a:alpha val="17000"/>
            </a:srgbClr>
          </a:solidFill>
          <a:ln w="10160">
            <a:solidFill>
              <a:srgbClr val="00D8C0">
                <a:alpha val="8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65392" y="2075688"/>
            <a:ext cx="1901952" cy="1828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ENGINEERED FEATURES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6565392" y="2670048"/>
            <a:ext cx="4526280" cy="530352"/>
          </a:xfrm>
          <a:prstGeom prst="roundRect">
            <a:avLst>
              <a:gd name="adj" fmla="val 13793"/>
            </a:avLst>
          </a:prstGeom>
          <a:solidFill>
            <a:srgbClr val="0B1926"/>
          </a:solidFill>
          <a:ln w="9525">
            <a:solidFill>
              <a:srgbClr val="00D8C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48272" y="2724912"/>
            <a:ext cx="2240280" cy="21945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Temp_Diff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8961120" y="2743200"/>
            <a:ext cx="1920240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Temperature difference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565392" y="3419856"/>
            <a:ext cx="4526280" cy="530352"/>
          </a:xfrm>
          <a:prstGeom prst="roundRect">
            <a:avLst>
              <a:gd name="adj" fmla="val 13793"/>
            </a:avLst>
          </a:prstGeom>
          <a:solidFill>
            <a:srgbClr val="0B1926"/>
          </a:solidFill>
          <a:ln w="9525">
            <a:solidFill>
              <a:srgbClr val="00D8C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48272" y="3474720"/>
            <a:ext cx="2240280" cy="21945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Mechanical_Power_W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8961120" y="3493008"/>
            <a:ext cx="1920240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Mechanical power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565392" y="4169664"/>
            <a:ext cx="4526280" cy="530352"/>
          </a:xfrm>
          <a:prstGeom prst="roundRect">
            <a:avLst>
              <a:gd name="adj" fmla="val 13793"/>
            </a:avLst>
          </a:prstGeom>
          <a:solidFill>
            <a:srgbClr val="0B1926"/>
          </a:solidFill>
          <a:ln w="9525">
            <a:solidFill>
              <a:srgbClr val="00D8C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748272" y="4224528"/>
            <a:ext cx="2240280" cy="21945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Strain_Index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8961120" y="4242816"/>
            <a:ext cx="1920240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 strain signal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822960" y="5577840"/>
            <a:ext cx="10424160" cy="25603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kept separate: Machine failure  |  ID / leakage columns removed before modeling.</a:t>
            </a:r>
            <a:endParaRPr lang="en-US" sz="1050" dirty="0"/>
          </a:p>
        </p:txBody>
      </p:sp>
      <p:sp>
        <p:nvSpPr>
          <p:cNvPr id="7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D819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B"/>
          </a:solidFill>
          <a:ln w="12700">
            <a:solidFill>
              <a:srgbClr val="0711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26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286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7315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2519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52578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6473952"/>
            <a:ext cx="11320272" cy="0"/>
          </a:xfrm>
          <a:prstGeom prst="line">
            <a:avLst/>
          </a:prstGeom>
          <a:noFill/>
          <a:ln w="10160">
            <a:solidFill>
              <a:srgbClr val="1A34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210312"/>
            <a:ext cx="70408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1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Five models, five different ideas</a:t>
            </a:r>
            <a:endParaRPr lang="en-US" sz="2700" dirty="0"/>
          </a:p>
        </p:txBody>
      </p:sp>
      <p:sp>
        <p:nvSpPr>
          <p:cNvPr id="44" name="Text 42"/>
          <p:cNvSpPr/>
          <p:nvPr/>
        </p:nvSpPr>
        <p:spPr>
          <a:xfrm>
            <a:off x="530352" y="11430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compared different model families to test whether more complex decision boundaries help.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77240" y="1755648"/>
            <a:ext cx="10652760" cy="667512"/>
          </a:xfrm>
          <a:prstGeom prst="roundRect">
            <a:avLst>
              <a:gd name="adj" fmla="val 21918"/>
            </a:avLst>
          </a:prstGeom>
          <a:solidFill>
            <a:srgbClr val="0D2030"/>
          </a:solidFill>
          <a:ln w="10795">
            <a:solidFill>
              <a:srgbClr val="4285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9264" y="1929384"/>
            <a:ext cx="411480" cy="21031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8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572768" y="1892808"/>
            <a:ext cx="237744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023360" y="1892808"/>
            <a:ext cx="301752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decision boundary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178040" y="1892808"/>
            <a:ext cx="388620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 baseline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77240" y="2587752"/>
            <a:ext cx="10652760" cy="667512"/>
          </a:xfrm>
          <a:prstGeom prst="roundRect">
            <a:avLst>
              <a:gd name="adj" fmla="val 21918"/>
            </a:avLst>
          </a:prstGeom>
          <a:solidFill>
            <a:srgbClr val="0D2030"/>
          </a:solidFill>
          <a:ln w="10795">
            <a:solidFill>
              <a:srgbClr val="00D8C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9264" y="2761488"/>
            <a:ext cx="411480" cy="21031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572768" y="2724912"/>
            <a:ext cx="237744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KNN · k = 5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023360" y="2724912"/>
            <a:ext cx="301752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Votes from five nearest machines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178040" y="2724912"/>
            <a:ext cx="388620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similarity of operating conditions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7240" y="3419856"/>
            <a:ext cx="10652760" cy="667512"/>
          </a:xfrm>
          <a:prstGeom prst="roundRect">
            <a:avLst>
              <a:gd name="adj" fmla="val 21918"/>
            </a:avLst>
          </a:prstGeom>
          <a:solidFill>
            <a:srgbClr val="0D2030"/>
          </a:solidFill>
          <a:ln w="10795">
            <a:solidFill>
              <a:srgbClr val="FFB02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9264" y="3593592"/>
            <a:ext cx="411480" cy="21031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B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572768" y="3557016"/>
            <a:ext cx="237744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023360" y="3557016"/>
            <a:ext cx="301752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sequence of if / then rules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178040" y="3557016"/>
            <a:ext cx="388620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Readable non-linear decisions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77240" y="4251960"/>
            <a:ext cx="10652760" cy="667512"/>
          </a:xfrm>
          <a:prstGeom prst="roundRect">
            <a:avLst>
              <a:gd name="adj" fmla="val 21918"/>
            </a:avLst>
          </a:prstGeom>
          <a:solidFill>
            <a:srgbClr val="0D2030"/>
          </a:solidFill>
          <a:ln w="10795">
            <a:solidFill>
              <a:srgbClr val="51D69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69264" y="4425696"/>
            <a:ext cx="411480" cy="21031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1D6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1572768" y="4389120"/>
            <a:ext cx="237744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4023360" y="4389120"/>
            <a:ext cx="301752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decision trees voting together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178040" y="4389120"/>
            <a:ext cx="388620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ensemble; captures interactions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77240" y="5084064"/>
            <a:ext cx="10652760" cy="667512"/>
          </a:xfrm>
          <a:prstGeom prst="roundRect">
            <a:avLst>
              <a:gd name="adj" fmla="val 21918"/>
            </a:avLst>
          </a:prstGeom>
          <a:solidFill>
            <a:srgbClr val="0D2030"/>
          </a:solidFill>
          <a:ln w="10795">
            <a:solidFill>
              <a:srgbClr val="FF647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69264" y="5257800"/>
            <a:ext cx="411480" cy="21031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572768" y="5221224"/>
            <a:ext cx="237744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4023360" y="5221224"/>
            <a:ext cx="301752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Trees built sequentially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7178040" y="5221224"/>
            <a:ext cx="388620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step corrects earlier errors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868680" y="6080760"/>
            <a:ext cx="10332720" cy="1828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Scaling in Pipeline: Logistic Regression and KNN  ·  class_weight="balanced" where supported</a:t>
            </a:r>
            <a:endParaRPr lang="en-US" sz="900" dirty="0"/>
          </a:p>
        </p:txBody>
      </p:sp>
      <p:sp>
        <p:nvSpPr>
          <p:cNvPr id="7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D819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B"/>
          </a:solidFill>
          <a:ln w="12700">
            <a:solidFill>
              <a:srgbClr val="0711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26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286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7315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2519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52578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6473952"/>
            <a:ext cx="11320272" cy="0"/>
          </a:xfrm>
          <a:prstGeom prst="line">
            <a:avLst/>
          </a:prstGeom>
          <a:noFill/>
          <a:ln w="10160">
            <a:solidFill>
              <a:srgbClr val="1A34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210312"/>
            <a:ext cx="70408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&amp; VALIDATION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1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fair comparison — before the final test</a:t>
            </a:r>
            <a:endParaRPr lang="en-US" sz="2700" dirty="0"/>
          </a:p>
        </p:txBody>
      </p:sp>
      <p:sp>
        <p:nvSpPr>
          <p:cNvPr id="44" name="Text 42"/>
          <p:cNvSpPr/>
          <p:nvPr/>
        </p:nvSpPr>
        <p:spPr>
          <a:xfrm>
            <a:off x="530352" y="11430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test set remains untouched until the selected model is ready.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02920" y="2286000"/>
            <a:ext cx="2148840" cy="1828800"/>
          </a:xfrm>
          <a:prstGeom prst="roundRect">
            <a:avLst>
              <a:gd name="adj" fmla="val 8000"/>
            </a:avLst>
          </a:prstGeom>
          <a:solidFill>
            <a:srgbClr val="0D2030"/>
          </a:solidFill>
          <a:ln w="10795">
            <a:solidFill>
              <a:srgbClr val="00D8C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7512" y="2514600"/>
            <a:ext cx="1115568" cy="256032"/>
          </a:xfrm>
          <a:prstGeom prst="roundRect">
            <a:avLst>
              <a:gd name="adj" fmla="val 28571"/>
            </a:avLst>
          </a:prstGeom>
          <a:solidFill>
            <a:srgbClr val="00D8C0">
              <a:alpha val="17000"/>
            </a:srgbClr>
          </a:solidFill>
          <a:ln w="10160">
            <a:solidFill>
              <a:srgbClr val="00D8C0">
                <a:alpha val="8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2376" y="2532888"/>
            <a:ext cx="1005840" cy="1828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667512" y="3063240"/>
            <a:ext cx="1819656" cy="32004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10,000 rows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67512" y="3502152"/>
            <a:ext cx="1819656" cy="32004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data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670048" y="3182112"/>
            <a:ext cx="109728" cy="0"/>
          </a:xfrm>
          <a:prstGeom prst="line">
            <a:avLst/>
          </a:prstGeom>
          <a:noFill/>
          <a:ln w="19050">
            <a:solidFill>
              <a:srgbClr val="00D8C0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2816352" y="2286000"/>
            <a:ext cx="2148840" cy="1828800"/>
          </a:xfrm>
          <a:prstGeom prst="roundRect">
            <a:avLst>
              <a:gd name="adj" fmla="val 8000"/>
            </a:avLst>
          </a:prstGeom>
          <a:solidFill>
            <a:srgbClr val="0D2030"/>
          </a:solidFill>
          <a:ln w="10795">
            <a:solidFill>
              <a:srgbClr val="4285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980944" y="2514600"/>
            <a:ext cx="1115568" cy="256032"/>
          </a:xfrm>
          <a:prstGeom prst="roundRect">
            <a:avLst>
              <a:gd name="adj" fmla="val 28571"/>
            </a:avLst>
          </a:prstGeom>
          <a:solidFill>
            <a:srgbClr val="4285FF">
              <a:alpha val="17000"/>
            </a:srgbClr>
          </a:solidFill>
          <a:ln w="10160">
            <a:solidFill>
              <a:srgbClr val="4285FF">
                <a:alpha val="8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35808" y="2532888"/>
            <a:ext cx="1005840" cy="1828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428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5-FOLD CV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2980944" y="3063240"/>
            <a:ext cx="1819656" cy="32004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stratified folds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2980944" y="3502152"/>
            <a:ext cx="1819656" cy="32004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all 5 models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983480" y="3182112"/>
            <a:ext cx="109728" cy="0"/>
          </a:xfrm>
          <a:prstGeom prst="line">
            <a:avLst/>
          </a:prstGeom>
          <a:noFill/>
          <a:ln w="19050">
            <a:solidFill>
              <a:srgbClr val="00D8C0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5129784" y="2286000"/>
            <a:ext cx="2148840" cy="1828800"/>
          </a:xfrm>
          <a:prstGeom prst="roundRect">
            <a:avLst>
              <a:gd name="adj" fmla="val 8000"/>
            </a:avLst>
          </a:prstGeom>
          <a:solidFill>
            <a:srgbClr val="0D2030"/>
          </a:solidFill>
          <a:ln w="10795">
            <a:solidFill>
              <a:srgbClr val="FFB02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294376" y="2514600"/>
            <a:ext cx="1115568" cy="256032"/>
          </a:xfrm>
          <a:prstGeom prst="roundRect">
            <a:avLst>
              <a:gd name="adj" fmla="val 28571"/>
            </a:avLst>
          </a:prstGeom>
          <a:solidFill>
            <a:srgbClr val="FFB020">
              <a:alpha val="17000"/>
            </a:srgbClr>
          </a:solidFill>
          <a:ln w="10160">
            <a:solidFill>
              <a:srgbClr val="FFB020">
                <a:alpha val="8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49240" y="2532888"/>
            <a:ext cx="1005840" cy="1828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FFB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5294376" y="3063240"/>
            <a:ext cx="1819656" cy="32004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CV F1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5294376" y="3502152"/>
            <a:ext cx="1819656" cy="32004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winner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296912" y="3182112"/>
            <a:ext cx="109728" cy="0"/>
          </a:xfrm>
          <a:prstGeom prst="line">
            <a:avLst/>
          </a:prstGeom>
          <a:noFill/>
          <a:ln w="19050">
            <a:solidFill>
              <a:srgbClr val="00D8C0"/>
            </a:solidFill>
            <a:prstDash val="solid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7443216" y="2286000"/>
            <a:ext cx="2148840" cy="1828800"/>
          </a:xfrm>
          <a:prstGeom prst="roundRect">
            <a:avLst>
              <a:gd name="adj" fmla="val 8000"/>
            </a:avLst>
          </a:prstGeom>
          <a:solidFill>
            <a:srgbClr val="0D2030"/>
          </a:solidFill>
          <a:ln w="10795">
            <a:solidFill>
              <a:srgbClr val="51D69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607808" y="2514600"/>
            <a:ext cx="1115568" cy="256032"/>
          </a:xfrm>
          <a:prstGeom prst="roundRect">
            <a:avLst>
              <a:gd name="adj" fmla="val 28571"/>
            </a:avLst>
          </a:prstGeom>
          <a:solidFill>
            <a:srgbClr val="51D69A">
              <a:alpha val="17000"/>
            </a:srgbClr>
          </a:solidFill>
          <a:ln w="10160">
            <a:solidFill>
              <a:srgbClr val="51D69A">
                <a:alpha val="8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662672" y="2532888"/>
            <a:ext cx="1005840" cy="1828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51D6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REFIT</a:t>
            </a:r>
            <a:endParaRPr lang="en-US" sz="820" dirty="0"/>
          </a:p>
        </p:txBody>
      </p:sp>
      <p:sp>
        <p:nvSpPr>
          <p:cNvPr id="66" name="Text 64"/>
          <p:cNvSpPr/>
          <p:nvPr/>
        </p:nvSpPr>
        <p:spPr>
          <a:xfrm>
            <a:off x="7607808" y="3063240"/>
            <a:ext cx="1819656" cy="32004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training rows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7607808" y="3502152"/>
            <a:ext cx="1819656" cy="32004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selected model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9610344" y="3182112"/>
            <a:ext cx="109728" cy="0"/>
          </a:xfrm>
          <a:prstGeom prst="line">
            <a:avLst/>
          </a:prstGeom>
          <a:noFill/>
          <a:ln w="19050">
            <a:solidFill>
              <a:srgbClr val="00D8C0"/>
            </a:solidFill>
            <a:prstDash val="solid"/>
            <a:headEnd type="none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9756648" y="2286000"/>
            <a:ext cx="2148840" cy="1828800"/>
          </a:xfrm>
          <a:prstGeom prst="roundRect">
            <a:avLst>
              <a:gd name="adj" fmla="val 8000"/>
            </a:avLst>
          </a:prstGeom>
          <a:solidFill>
            <a:srgbClr val="0D2030"/>
          </a:solidFill>
          <a:ln w="10795">
            <a:solidFill>
              <a:srgbClr val="FF647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921240" y="2514600"/>
            <a:ext cx="1115568" cy="256032"/>
          </a:xfrm>
          <a:prstGeom prst="roundRect">
            <a:avLst>
              <a:gd name="adj" fmla="val 28571"/>
            </a:avLst>
          </a:prstGeom>
          <a:solidFill>
            <a:srgbClr val="FF647C">
              <a:alpha val="17000"/>
            </a:srgbClr>
          </a:solidFill>
          <a:ln w="10160">
            <a:solidFill>
              <a:srgbClr val="FF647C">
                <a:alpha val="8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976104" y="2532888"/>
            <a:ext cx="1005840" cy="1828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FF6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ONCE</a:t>
            </a:r>
            <a:endParaRPr lang="en-US" sz="820" dirty="0"/>
          </a:p>
        </p:txBody>
      </p:sp>
      <p:sp>
        <p:nvSpPr>
          <p:cNvPr id="72" name="Text 70"/>
          <p:cNvSpPr/>
          <p:nvPr/>
        </p:nvSpPr>
        <p:spPr>
          <a:xfrm>
            <a:off x="9921240" y="3063240"/>
            <a:ext cx="1819656" cy="32004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2,500 unseen rows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9921240" y="3502152"/>
            <a:ext cx="1819656" cy="32004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performance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1828800" y="4800600"/>
            <a:ext cx="8549640" cy="749808"/>
          </a:xfrm>
          <a:prstGeom prst="roundRect">
            <a:avLst>
              <a:gd name="adj" fmla="val 19512"/>
            </a:avLst>
          </a:prstGeom>
          <a:solidFill>
            <a:srgbClr val="10283A"/>
          </a:solidFill>
          <a:ln w="10795">
            <a:solidFill>
              <a:srgbClr val="00D8C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057400" y="5029200"/>
            <a:ext cx="8092440" cy="25603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folds for every model  ·  Random seed = 42  ·  Selection by mean cross-validated F1</a:t>
            </a:r>
            <a:endParaRPr lang="en-US" sz="1200" dirty="0"/>
          </a:p>
        </p:txBody>
      </p:sp>
      <p:sp>
        <p:nvSpPr>
          <p:cNvPr id="7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D819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B"/>
          </a:solidFill>
          <a:ln w="12700">
            <a:solidFill>
              <a:srgbClr val="0711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26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286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7315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2519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52578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6473952"/>
            <a:ext cx="11320272" cy="0"/>
          </a:xfrm>
          <a:prstGeom prst="line">
            <a:avLst/>
          </a:prstGeom>
          <a:noFill/>
          <a:ln w="10160">
            <a:solidFill>
              <a:srgbClr val="1A34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210312"/>
            <a:ext cx="70408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METRICS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1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accuracy is not enough</a:t>
            </a:r>
            <a:endParaRPr lang="en-US" sz="2700" dirty="0"/>
          </a:p>
        </p:txBody>
      </p:sp>
      <p:sp>
        <p:nvSpPr>
          <p:cNvPr id="44" name="Text 42"/>
          <p:cNvSpPr/>
          <p:nvPr/>
        </p:nvSpPr>
        <p:spPr>
          <a:xfrm>
            <a:off x="530352" y="11430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can look accurate by predicting “no failure” too often.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58368" y="1783080"/>
            <a:ext cx="5102352" cy="1298448"/>
          </a:xfrm>
          <a:prstGeom prst="roundRect">
            <a:avLst>
              <a:gd name="adj" fmla="val 11268"/>
            </a:avLst>
          </a:prstGeom>
          <a:solidFill>
            <a:srgbClr val="0D2030"/>
          </a:solidFill>
          <a:ln w="10795">
            <a:solidFill>
              <a:srgbClr val="4285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9536" y="1965960"/>
            <a:ext cx="164592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28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2532888" y="1938528"/>
            <a:ext cx="292608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correct predictions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859536" y="2468880"/>
            <a:ext cx="45720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overview, but can hide missed failures.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90488" y="1783080"/>
            <a:ext cx="5102352" cy="1298448"/>
          </a:xfrm>
          <a:prstGeom prst="roundRect">
            <a:avLst>
              <a:gd name="adj" fmla="val 11268"/>
            </a:avLst>
          </a:prstGeom>
          <a:solidFill>
            <a:srgbClr val="0D2030"/>
          </a:solidFill>
          <a:ln w="10795">
            <a:solidFill>
              <a:srgbClr val="00D8C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91656" y="1965960"/>
            <a:ext cx="164592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065008" y="1938528"/>
            <a:ext cx="292608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many alarms are real?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6391656" y="2468880"/>
            <a:ext cx="45720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precision means fewer false alarms.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58368" y="3383280"/>
            <a:ext cx="5102352" cy="1298448"/>
          </a:xfrm>
          <a:prstGeom prst="roundRect">
            <a:avLst>
              <a:gd name="adj" fmla="val 11268"/>
            </a:avLst>
          </a:prstGeom>
          <a:solidFill>
            <a:srgbClr val="0D2030"/>
          </a:solidFill>
          <a:ln w="10795">
            <a:solidFill>
              <a:srgbClr val="FFB02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9536" y="3566160"/>
            <a:ext cx="164592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B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2532888" y="3538728"/>
            <a:ext cx="292608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many real failures did we catch?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859536" y="4069080"/>
            <a:ext cx="45720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because missed failures are costly.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190488" y="3383280"/>
            <a:ext cx="5102352" cy="1298448"/>
          </a:xfrm>
          <a:prstGeom prst="roundRect">
            <a:avLst>
              <a:gd name="adj" fmla="val 11268"/>
            </a:avLst>
          </a:prstGeom>
          <a:solidFill>
            <a:srgbClr val="0D2030"/>
          </a:solidFill>
          <a:ln w="10795">
            <a:solidFill>
              <a:srgbClr val="51D69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91656" y="3566160"/>
            <a:ext cx="164592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1D6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F1-SCORE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065008" y="3538728"/>
            <a:ext cx="292608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 of precision and recall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6391656" y="4069080"/>
            <a:ext cx="45720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as the model-selection criterion.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057400" y="5285232"/>
            <a:ext cx="8046720" cy="658368"/>
          </a:xfrm>
          <a:prstGeom prst="roundRect">
            <a:avLst>
              <a:gd name="adj" fmla="val 22222"/>
            </a:avLst>
          </a:prstGeom>
          <a:solidFill>
            <a:srgbClr val="10283A"/>
          </a:solidFill>
          <a:ln w="10795">
            <a:solidFill>
              <a:srgbClr val="FF647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331720" y="5477256"/>
            <a:ext cx="1463040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warning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749040" y="5449824"/>
            <a:ext cx="594360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predicting “no failure” would already score about 77% accuracy.</a:t>
            </a:r>
            <a:endParaRPr lang="en-US" sz="1150" dirty="0"/>
          </a:p>
        </p:txBody>
      </p:sp>
      <p:sp>
        <p:nvSpPr>
          <p:cNvPr id="6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D819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B"/>
          </a:solidFill>
          <a:ln w="12700">
            <a:solidFill>
              <a:srgbClr val="0711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26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286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7315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2519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52578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6473952"/>
            <a:ext cx="11320272" cy="0"/>
          </a:xfrm>
          <a:prstGeom prst="line">
            <a:avLst/>
          </a:prstGeom>
          <a:noFill/>
          <a:ln w="10160">
            <a:solidFill>
              <a:srgbClr val="1A34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210312"/>
            <a:ext cx="70408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CROSS-VALIDATION RESULTS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1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Cross-validation results across all five models</a:t>
            </a:r>
            <a:endParaRPr lang="en-US" sz="2700" dirty="0"/>
          </a:p>
        </p:txBody>
      </p:sp>
      <p:sp>
        <p:nvSpPr>
          <p:cNvPr id="44" name="Text 42"/>
          <p:cNvSpPr/>
          <p:nvPr/>
        </p:nvSpPr>
        <p:spPr>
          <a:xfrm>
            <a:off x="530352" y="11430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scores from stratified 5-fold cross-validation on the training set.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77240" y="1828800"/>
            <a:ext cx="29260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870" dirty="0"/>
          </a:p>
        </p:txBody>
      </p:sp>
      <p:sp>
        <p:nvSpPr>
          <p:cNvPr id="46" name="Text 44"/>
          <p:cNvSpPr/>
          <p:nvPr/>
        </p:nvSpPr>
        <p:spPr>
          <a:xfrm>
            <a:off x="3886200" y="1828800"/>
            <a:ext cx="150876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870" dirty="0"/>
          </a:p>
        </p:txBody>
      </p:sp>
      <p:sp>
        <p:nvSpPr>
          <p:cNvPr id="47" name="Text 45"/>
          <p:cNvSpPr/>
          <p:nvPr/>
        </p:nvSpPr>
        <p:spPr>
          <a:xfrm>
            <a:off x="5577840" y="1828800"/>
            <a:ext cx="150876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</a:t>
            </a:r>
            <a:endParaRPr lang="en-US" sz="870" dirty="0"/>
          </a:p>
        </p:txBody>
      </p:sp>
      <p:sp>
        <p:nvSpPr>
          <p:cNvPr id="48" name="Text 46"/>
          <p:cNvSpPr/>
          <p:nvPr/>
        </p:nvSpPr>
        <p:spPr>
          <a:xfrm>
            <a:off x="7269480" y="1828800"/>
            <a:ext cx="150876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sz="870" dirty="0"/>
          </a:p>
        </p:txBody>
      </p:sp>
      <p:sp>
        <p:nvSpPr>
          <p:cNvPr id="49" name="Text 47"/>
          <p:cNvSpPr/>
          <p:nvPr/>
        </p:nvSpPr>
        <p:spPr>
          <a:xfrm>
            <a:off x="8961120" y="1828800"/>
            <a:ext cx="160020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F1-SCORE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658368" y="2185416"/>
            <a:ext cx="10881360" cy="502920"/>
          </a:xfrm>
          <a:prstGeom prst="roundRect">
            <a:avLst>
              <a:gd name="adj" fmla="val 29091"/>
            </a:avLst>
          </a:prstGeom>
          <a:solidFill>
            <a:srgbClr val="10283A"/>
          </a:solidFill>
          <a:ln w="10795">
            <a:solidFill>
              <a:srgbClr val="00D8C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" y="2267712"/>
            <a:ext cx="292608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060" dirty="0"/>
          </a:p>
        </p:txBody>
      </p:sp>
      <p:sp>
        <p:nvSpPr>
          <p:cNvPr id="52" name="Text 50"/>
          <p:cNvSpPr/>
          <p:nvPr/>
        </p:nvSpPr>
        <p:spPr>
          <a:xfrm>
            <a:off x="3886200" y="2267712"/>
            <a:ext cx="150876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0.9705</a:t>
            </a:r>
            <a:endParaRPr lang="en-US" sz="1060" dirty="0"/>
          </a:p>
        </p:txBody>
      </p:sp>
      <p:sp>
        <p:nvSpPr>
          <p:cNvPr id="53" name="Text 51"/>
          <p:cNvSpPr/>
          <p:nvPr/>
        </p:nvSpPr>
        <p:spPr>
          <a:xfrm>
            <a:off x="5577840" y="2267712"/>
            <a:ext cx="150876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0.9670</a:t>
            </a:r>
            <a:endParaRPr lang="en-US" sz="1060" dirty="0"/>
          </a:p>
        </p:txBody>
      </p:sp>
      <p:sp>
        <p:nvSpPr>
          <p:cNvPr id="54" name="Text 52"/>
          <p:cNvSpPr/>
          <p:nvPr/>
        </p:nvSpPr>
        <p:spPr>
          <a:xfrm>
            <a:off x="7269480" y="2267712"/>
            <a:ext cx="150876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0.9009</a:t>
            </a:r>
            <a:endParaRPr lang="en-US" sz="1060" dirty="0"/>
          </a:p>
        </p:txBody>
      </p:sp>
      <p:sp>
        <p:nvSpPr>
          <p:cNvPr id="55" name="Text 53"/>
          <p:cNvSpPr/>
          <p:nvPr/>
        </p:nvSpPr>
        <p:spPr>
          <a:xfrm>
            <a:off x="8961120" y="2267712"/>
            <a:ext cx="160020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0.9327</a:t>
            </a:r>
            <a:endParaRPr lang="en-US" sz="1060" dirty="0"/>
          </a:p>
        </p:txBody>
      </p:sp>
      <p:sp>
        <p:nvSpPr>
          <p:cNvPr id="56" name="Text 54"/>
          <p:cNvSpPr/>
          <p:nvPr/>
        </p:nvSpPr>
        <p:spPr>
          <a:xfrm>
            <a:off x="777240" y="2889504"/>
            <a:ext cx="292608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Boosting</a:t>
            </a:r>
            <a:endParaRPr lang="en-US" sz="1060" dirty="0"/>
          </a:p>
        </p:txBody>
      </p:sp>
      <p:sp>
        <p:nvSpPr>
          <p:cNvPr id="57" name="Text 55"/>
          <p:cNvSpPr/>
          <p:nvPr/>
        </p:nvSpPr>
        <p:spPr>
          <a:xfrm>
            <a:off x="3886200" y="2889504"/>
            <a:ext cx="150876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0.9658</a:t>
            </a:r>
            <a:endParaRPr lang="en-US" sz="1060" dirty="0"/>
          </a:p>
        </p:txBody>
      </p:sp>
      <p:sp>
        <p:nvSpPr>
          <p:cNvPr id="58" name="Text 56"/>
          <p:cNvSpPr/>
          <p:nvPr/>
        </p:nvSpPr>
        <p:spPr>
          <a:xfrm>
            <a:off x="5577840" y="2889504"/>
            <a:ext cx="150876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0.9701</a:t>
            </a:r>
            <a:endParaRPr lang="en-US" sz="1060" dirty="0"/>
          </a:p>
        </p:txBody>
      </p:sp>
      <p:sp>
        <p:nvSpPr>
          <p:cNvPr id="59" name="Text 57"/>
          <p:cNvSpPr/>
          <p:nvPr/>
        </p:nvSpPr>
        <p:spPr>
          <a:xfrm>
            <a:off x="7269480" y="2889504"/>
            <a:ext cx="150876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0.8767</a:t>
            </a:r>
            <a:endParaRPr lang="en-US" sz="1060" dirty="0"/>
          </a:p>
        </p:txBody>
      </p:sp>
      <p:sp>
        <p:nvSpPr>
          <p:cNvPr id="60" name="Text 58"/>
          <p:cNvSpPr/>
          <p:nvPr/>
        </p:nvSpPr>
        <p:spPr>
          <a:xfrm>
            <a:off x="8961120" y="2889504"/>
            <a:ext cx="160020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0.9208</a:t>
            </a:r>
            <a:endParaRPr lang="en-US" sz="1060" dirty="0"/>
          </a:p>
        </p:txBody>
      </p:sp>
      <p:sp>
        <p:nvSpPr>
          <p:cNvPr id="61" name="Text 59"/>
          <p:cNvSpPr/>
          <p:nvPr/>
        </p:nvSpPr>
        <p:spPr>
          <a:xfrm>
            <a:off x="777240" y="3511296"/>
            <a:ext cx="292608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</a:t>
            </a:r>
            <a:endParaRPr lang="en-US" sz="1060" dirty="0"/>
          </a:p>
        </p:txBody>
      </p:sp>
      <p:sp>
        <p:nvSpPr>
          <p:cNvPr id="62" name="Text 60"/>
          <p:cNvSpPr/>
          <p:nvPr/>
        </p:nvSpPr>
        <p:spPr>
          <a:xfrm>
            <a:off x="3886200" y="3511296"/>
            <a:ext cx="150876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0.9462</a:t>
            </a:r>
            <a:endParaRPr lang="en-US" sz="1060" dirty="0"/>
          </a:p>
        </p:txBody>
      </p:sp>
      <p:sp>
        <p:nvSpPr>
          <p:cNvPr id="63" name="Text 61"/>
          <p:cNvSpPr/>
          <p:nvPr/>
        </p:nvSpPr>
        <p:spPr>
          <a:xfrm>
            <a:off x="5577840" y="3511296"/>
            <a:ext cx="150876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0.8836</a:t>
            </a:r>
            <a:endParaRPr lang="en-US" sz="1060" dirty="0"/>
          </a:p>
        </p:txBody>
      </p:sp>
      <p:sp>
        <p:nvSpPr>
          <p:cNvPr id="64" name="Text 62"/>
          <p:cNvSpPr/>
          <p:nvPr/>
        </p:nvSpPr>
        <p:spPr>
          <a:xfrm>
            <a:off x="7269480" y="3511296"/>
            <a:ext cx="150876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0.8794</a:t>
            </a:r>
            <a:endParaRPr lang="en-US" sz="1060" dirty="0"/>
          </a:p>
        </p:txBody>
      </p:sp>
      <p:sp>
        <p:nvSpPr>
          <p:cNvPr id="65" name="Text 63"/>
          <p:cNvSpPr/>
          <p:nvPr/>
        </p:nvSpPr>
        <p:spPr>
          <a:xfrm>
            <a:off x="8961120" y="3511296"/>
            <a:ext cx="160020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0.8812</a:t>
            </a:r>
            <a:endParaRPr lang="en-US" sz="1060" dirty="0"/>
          </a:p>
        </p:txBody>
      </p:sp>
      <p:sp>
        <p:nvSpPr>
          <p:cNvPr id="66" name="Text 64"/>
          <p:cNvSpPr/>
          <p:nvPr/>
        </p:nvSpPr>
        <p:spPr>
          <a:xfrm>
            <a:off x="777240" y="4133088"/>
            <a:ext cx="292608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KNN</a:t>
            </a:r>
            <a:endParaRPr lang="en-US" sz="1060" dirty="0"/>
          </a:p>
        </p:txBody>
      </p:sp>
      <p:sp>
        <p:nvSpPr>
          <p:cNvPr id="67" name="Text 65"/>
          <p:cNvSpPr/>
          <p:nvPr/>
        </p:nvSpPr>
        <p:spPr>
          <a:xfrm>
            <a:off x="3886200" y="4133088"/>
            <a:ext cx="150876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0.9353</a:t>
            </a:r>
            <a:endParaRPr lang="en-US" sz="1060" dirty="0"/>
          </a:p>
        </p:txBody>
      </p:sp>
      <p:sp>
        <p:nvSpPr>
          <p:cNvPr id="68" name="Text 66"/>
          <p:cNvSpPr/>
          <p:nvPr/>
        </p:nvSpPr>
        <p:spPr>
          <a:xfrm>
            <a:off x="5577840" y="4133088"/>
            <a:ext cx="150876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0.9558</a:t>
            </a:r>
            <a:endParaRPr lang="en-US" sz="1060" dirty="0"/>
          </a:p>
        </p:txBody>
      </p:sp>
      <p:sp>
        <p:nvSpPr>
          <p:cNvPr id="69" name="Text 67"/>
          <p:cNvSpPr/>
          <p:nvPr/>
        </p:nvSpPr>
        <p:spPr>
          <a:xfrm>
            <a:off x="7269480" y="4133088"/>
            <a:ext cx="150876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0.7499</a:t>
            </a:r>
            <a:endParaRPr lang="en-US" sz="1060" dirty="0"/>
          </a:p>
        </p:txBody>
      </p:sp>
      <p:sp>
        <p:nvSpPr>
          <p:cNvPr id="70" name="Text 68"/>
          <p:cNvSpPr/>
          <p:nvPr/>
        </p:nvSpPr>
        <p:spPr>
          <a:xfrm>
            <a:off x="8961120" y="4133088"/>
            <a:ext cx="160020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0.8402</a:t>
            </a:r>
            <a:endParaRPr lang="en-US" sz="1060" dirty="0"/>
          </a:p>
        </p:txBody>
      </p:sp>
      <p:sp>
        <p:nvSpPr>
          <p:cNvPr id="71" name="Text 69"/>
          <p:cNvSpPr/>
          <p:nvPr/>
        </p:nvSpPr>
        <p:spPr>
          <a:xfrm>
            <a:off x="777240" y="4754880"/>
            <a:ext cx="292608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1060" dirty="0"/>
          </a:p>
        </p:txBody>
      </p:sp>
      <p:sp>
        <p:nvSpPr>
          <p:cNvPr id="72" name="Text 70"/>
          <p:cNvSpPr/>
          <p:nvPr/>
        </p:nvSpPr>
        <p:spPr>
          <a:xfrm>
            <a:off x="3886200" y="4754880"/>
            <a:ext cx="150876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0.6993</a:t>
            </a:r>
            <a:endParaRPr lang="en-US" sz="1060" dirty="0"/>
          </a:p>
        </p:txBody>
      </p:sp>
      <p:sp>
        <p:nvSpPr>
          <p:cNvPr id="73" name="Text 71"/>
          <p:cNvSpPr/>
          <p:nvPr/>
        </p:nvSpPr>
        <p:spPr>
          <a:xfrm>
            <a:off x="5577840" y="4754880"/>
            <a:ext cx="150876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0.4074</a:t>
            </a:r>
            <a:endParaRPr lang="en-US" sz="1060" dirty="0"/>
          </a:p>
        </p:txBody>
      </p:sp>
      <p:sp>
        <p:nvSpPr>
          <p:cNvPr id="74" name="Text 72"/>
          <p:cNvSpPr/>
          <p:nvPr/>
        </p:nvSpPr>
        <p:spPr>
          <a:xfrm>
            <a:off x="7269480" y="4754880"/>
            <a:ext cx="150876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0.7111</a:t>
            </a:r>
            <a:endParaRPr lang="en-US" sz="1060" dirty="0"/>
          </a:p>
        </p:txBody>
      </p:sp>
      <p:sp>
        <p:nvSpPr>
          <p:cNvPr id="75" name="Text 73"/>
          <p:cNvSpPr/>
          <p:nvPr/>
        </p:nvSpPr>
        <p:spPr>
          <a:xfrm>
            <a:off x="8961120" y="4754880"/>
            <a:ext cx="160020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0.5179</a:t>
            </a:r>
            <a:endParaRPr lang="en-US" sz="1060" dirty="0"/>
          </a:p>
        </p:txBody>
      </p:sp>
      <p:sp>
        <p:nvSpPr>
          <p:cNvPr id="76" name="Shape 74"/>
          <p:cNvSpPr/>
          <p:nvPr/>
        </p:nvSpPr>
        <p:spPr>
          <a:xfrm>
            <a:off x="960120" y="5577840"/>
            <a:ext cx="10241280" cy="566928"/>
          </a:xfrm>
          <a:prstGeom prst="roundRect">
            <a:avLst>
              <a:gd name="adj" fmla="val 25806"/>
            </a:avLst>
          </a:prstGeom>
          <a:solidFill>
            <a:srgbClr val="0D2030"/>
          </a:solidFill>
          <a:ln w="10795">
            <a:solidFill>
              <a:srgbClr val="1A344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143000" y="5751576"/>
            <a:ext cx="9875520" cy="21945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leads on mean CV F1 (0.9327) and mean CV Recall (0.9009).</a:t>
            </a:r>
            <a:endParaRPr lang="en-US" sz="1150" dirty="0"/>
          </a:p>
        </p:txBody>
      </p:sp>
      <p:sp>
        <p:nvSpPr>
          <p:cNvPr id="7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D819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B"/>
          </a:solidFill>
          <a:ln w="12700">
            <a:solidFill>
              <a:srgbClr val="0711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26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286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7315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2519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52578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6473952"/>
            <a:ext cx="11320272" cy="0"/>
          </a:xfrm>
          <a:prstGeom prst="line">
            <a:avLst/>
          </a:prstGeom>
          <a:noFill/>
          <a:ln w="10160">
            <a:solidFill>
              <a:srgbClr val="1A34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210312"/>
            <a:ext cx="70408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UNSEEN TEST-SET RESULTS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1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comparison on the unseen test set</a:t>
            </a:r>
            <a:endParaRPr lang="en-US" sz="2700" dirty="0"/>
          </a:p>
        </p:txBody>
      </p:sp>
      <p:sp>
        <p:nvSpPr>
          <p:cNvPr id="44" name="Text 42"/>
          <p:cNvSpPr/>
          <p:nvPr/>
        </p:nvSpPr>
        <p:spPr>
          <a:xfrm>
            <a:off x="530352" y="11430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model is evaluated on the same 2,500 held-out records.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77240" y="1828800"/>
            <a:ext cx="29260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870" dirty="0"/>
          </a:p>
        </p:txBody>
      </p:sp>
      <p:sp>
        <p:nvSpPr>
          <p:cNvPr id="46" name="Text 44"/>
          <p:cNvSpPr/>
          <p:nvPr/>
        </p:nvSpPr>
        <p:spPr>
          <a:xfrm>
            <a:off x="3886200" y="1828800"/>
            <a:ext cx="150876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870" dirty="0"/>
          </a:p>
        </p:txBody>
      </p:sp>
      <p:sp>
        <p:nvSpPr>
          <p:cNvPr id="47" name="Text 45"/>
          <p:cNvSpPr/>
          <p:nvPr/>
        </p:nvSpPr>
        <p:spPr>
          <a:xfrm>
            <a:off x="5577840" y="1828800"/>
            <a:ext cx="150876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</a:t>
            </a:r>
            <a:endParaRPr lang="en-US" sz="870" dirty="0"/>
          </a:p>
        </p:txBody>
      </p:sp>
      <p:sp>
        <p:nvSpPr>
          <p:cNvPr id="48" name="Text 46"/>
          <p:cNvSpPr/>
          <p:nvPr/>
        </p:nvSpPr>
        <p:spPr>
          <a:xfrm>
            <a:off x="7269480" y="1828800"/>
            <a:ext cx="150876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sz="870" dirty="0"/>
          </a:p>
        </p:txBody>
      </p:sp>
      <p:sp>
        <p:nvSpPr>
          <p:cNvPr id="49" name="Text 47"/>
          <p:cNvSpPr/>
          <p:nvPr/>
        </p:nvSpPr>
        <p:spPr>
          <a:xfrm>
            <a:off x="8961120" y="1828800"/>
            <a:ext cx="160020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F1-SCORE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658368" y="2185416"/>
            <a:ext cx="10881360" cy="502920"/>
          </a:xfrm>
          <a:prstGeom prst="roundRect">
            <a:avLst>
              <a:gd name="adj" fmla="val 29091"/>
            </a:avLst>
          </a:prstGeom>
          <a:solidFill>
            <a:srgbClr val="10283A"/>
          </a:solidFill>
          <a:ln w="10795">
            <a:solidFill>
              <a:srgbClr val="00D8C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" y="2267712"/>
            <a:ext cx="292608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060" dirty="0"/>
          </a:p>
        </p:txBody>
      </p:sp>
      <p:sp>
        <p:nvSpPr>
          <p:cNvPr id="52" name="Text 50"/>
          <p:cNvSpPr/>
          <p:nvPr/>
        </p:nvSpPr>
        <p:spPr>
          <a:xfrm>
            <a:off x="3886200" y="2267712"/>
            <a:ext cx="150876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0.9708</a:t>
            </a:r>
            <a:endParaRPr lang="en-US" sz="1060" dirty="0"/>
          </a:p>
        </p:txBody>
      </p:sp>
      <p:sp>
        <p:nvSpPr>
          <p:cNvPr id="53" name="Text 51"/>
          <p:cNvSpPr/>
          <p:nvPr/>
        </p:nvSpPr>
        <p:spPr>
          <a:xfrm>
            <a:off x="5577840" y="2267712"/>
            <a:ext cx="150876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0.9626</a:t>
            </a:r>
            <a:endParaRPr lang="en-US" sz="1060" dirty="0"/>
          </a:p>
        </p:txBody>
      </p:sp>
      <p:sp>
        <p:nvSpPr>
          <p:cNvPr id="54" name="Text 52"/>
          <p:cNvSpPr/>
          <p:nvPr/>
        </p:nvSpPr>
        <p:spPr>
          <a:xfrm>
            <a:off x="7269480" y="2267712"/>
            <a:ext cx="150876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0.9067</a:t>
            </a:r>
            <a:endParaRPr lang="en-US" sz="1060" dirty="0"/>
          </a:p>
        </p:txBody>
      </p:sp>
      <p:sp>
        <p:nvSpPr>
          <p:cNvPr id="55" name="Text 53"/>
          <p:cNvSpPr/>
          <p:nvPr/>
        </p:nvSpPr>
        <p:spPr>
          <a:xfrm>
            <a:off x="8961120" y="2267712"/>
            <a:ext cx="160020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0.9338</a:t>
            </a:r>
            <a:endParaRPr lang="en-US" sz="1060" dirty="0"/>
          </a:p>
        </p:txBody>
      </p:sp>
      <p:sp>
        <p:nvSpPr>
          <p:cNvPr id="56" name="Text 54"/>
          <p:cNvSpPr/>
          <p:nvPr/>
        </p:nvSpPr>
        <p:spPr>
          <a:xfrm>
            <a:off x="777240" y="2889504"/>
            <a:ext cx="292608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Boosting</a:t>
            </a:r>
            <a:endParaRPr lang="en-US" sz="1060" dirty="0"/>
          </a:p>
        </p:txBody>
      </p:sp>
      <p:sp>
        <p:nvSpPr>
          <p:cNvPr id="57" name="Text 55"/>
          <p:cNvSpPr/>
          <p:nvPr/>
        </p:nvSpPr>
        <p:spPr>
          <a:xfrm>
            <a:off x="3886200" y="2889504"/>
            <a:ext cx="150876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0.9668</a:t>
            </a:r>
            <a:endParaRPr lang="en-US" sz="1060" dirty="0"/>
          </a:p>
        </p:txBody>
      </p:sp>
      <p:sp>
        <p:nvSpPr>
          <p:cNvPr id="58" name="Text 56"/>
          <p:cNvSpPr/>
          <p:nvPr/>
        </p:nvSpPr>
        <p:spPr>
          <a:xfrm>
            <a:off x="5577840" y="2889504"/>
            <a:ext cx="150876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0.9691</a:t>
            </a:r>
            <a:endParaRPr lang="en-US" sz="1060" dirty="0"/>
          </a:p>
        </p:txBody>
      </p:sp>
      <p:sp>
        <p:nvSpPr>
          <p:cNvPr id="59" name="Text 57"/>
          <p:cNvSpPr/>
          <p:nvPr/>
        </p:nvSpPr>
        <p:spPr>
          <a:xfrm>
            <a:off x="7269480" y="2889504"/>
            <a:ext cx="150876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0.8820</a:t>
            </a:r>
            <a:endParaRPr lang="en-US" sz="1060" dirty="0"/>
          </a:p>
        </p:txBody>
      </p:sp>
      <p:sp>
        <p:nvSpPr>
          <p:cNvPr id="60" name="Text 58"/>
          <p:cNvSpPr/>
          <p:nvPr/>
        </p:nvSpPr>
        <p:spPr>
          <a:xfrm>
            <a:off x="8961120" y="2889504"/>
            <a:ext cx="160020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0.9235</a:t>
            </a:r>
            <a:endParaRPr lang="en-US" sz="1060" dirty="0"/>
          </a:p>
        </p:txBody>
      </p:sp>
      <p:sp>
        <p:nvSpPr>
          <p:cNvPr id="61" name="Text 59"/>
          <p:cNvSpPr/>
          <p:nvPr/>
        </p:nvSpPr>
        <p:spPr>
          <a:xfrm>
            <a:off x="777240" y="3511296"/>
            <a:ext cx="292608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</a:t>
            </a:r>
            <a:endParaRPr lang="en-US" sz="1060" dirty="0"/>
          </a:p>
        </p:txBody>
      </p:sp>
      <p:sp>
        <p:nvSpPr>
          <p:cNvPr id="62" name="Text 60"/>
          <p:cNvSpPr/>
          <p:nvPr/>
        </p:nvSpPr>
        <p:spPr>
          <a:xfrm>
            <a:off x="3886200" y="3511296"/>
            <a:ext cx="150876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0.9428</a:t>
            </a:r>
            <a:endParaRPr lang="en-US" sz="1060" dirty="0"/>
          </a:p>
        </p:txBody>
      </p:sp>
      <p:sp>
        <p:nvSpPr>
          <p:cNvPr id="63" name="Text 61"/>
          <p:cNvSpPr/>
          <p:nvPr/>
        </p:nvSpPr>
        <p:spPr>
          <a:xfrm>
            <a:off x="5577840" y="3511296"/>
            <a:ext cx="150876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0.8645</a:t>
            </a:r>
            <a:endParaRPr lang="en-US" sz="1060" dirty="0"/>
          </a:p>
        </p:txBody>
      </p:sp>
      <p:sp>
        <p:nvSpPr>
          <p:cNvPr id="64" name="Text 62"/>
          <p:cNvSpPr/>
          <p:nvPr/>
        </p:nvSpPr>
        <p:spPr>
          <a:xfrm>
            <a:off x="7269480" y="3511296"/>
            <a:ext cx="150876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0.8873</a:t>
            </a:r>
            <a:endParaRPr lang="en-US" sz="1060" dirty="0"/>
          </a:p>
        </p:txBody>
      </p:sp>
      <p:sp>
        <p:nvSpPr>
          <p:cNvPr id="65" name="Text 63"/>
          <p:cNvSpPr/>
          <p:nvPr/>
        </p:nvSpPr>
        <p:spPr>
          <a:xfrm>
            <a:off x="8961120" y="3511296"/>
            <a:ext cx="160020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0.8758</a:t>
            </a:r>
            <a:endParaRPr lang="en-US" sz="1060" dirty="0"/>
          </a:p>
        </p:txBody>
      </p:sp>
      <p:sp>
        <p:nvSpPr>
          <p:cNvPr id="66" name="Text 64"/>
          <p:cNvSpPr/>
          <p:nvPr/>
        </p:nvSpPr>
        <p:spPr>
          <a:xfrm>
            <a:off x="777240" y="4133088"/>
            <a:ext cx="292608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KNN</a:t>
            </a:r>
            <a:endParaRPr lang="en-US" sz="1060" dirty="0"/>
          </a:p>
        </p:txBody>
      </p:sp>
      <p:sp>
        <p:nvSpPr>
          <p:cNvPr id="67" name="Text 65"/>
          <p:cNvSpPr/>
          <p:nvPr/>
        </p:nvSpPr>
        <p:spPr>
          <a:xfrm>
            <a:off x="3886200" y="4133088"/>
            <a:ext cx="150876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0.9316</a:t>
            </a:r>
            <a:endParaRPr lang="en-US" sz="1060" dirty="0"/>
          </a:p>
        </p:txBody>
      </p:sp>
      <p:sp>
        <p:nvSpPr>
          <p:cNvPr id="68" name="Text 66"/>
          <p:cNvSpPr/>
          <p:nvPr/>
        </p:nvSpPr>
        <p:spPr>
          <a:xfrm>
            <a:off x="5577840" y="4133088"/>
            <a:ext cx="150876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0.9501</a:t>
            </a:r>
            <a:endParaRPr lang="en-US" sz="1060" dirty="0"/>
          </a:p>
        </p:txBody>
      </p:sp>
      <p:sp>
        <p:nvSpPr>
          <p:cNvPr id="69" name="Text 67"/>
          <p:cNvSpPr/>
          <p:nvPr/>
        </p:nvSpPr>
        <p:spPr>
          <a:xfrm>
            <a:off x="7269480" y="4133088"/>
            <a:ext cx="150876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0.7377</a:t>
            </a:r>
            <a:endParaRPr lang="en-US" sz="1060" dirty="0"/>
          </a:p>
        </p:txBody>
      </p:sp>
      <p:sp>
        <p:nvSpPr>
          <p:cNvPr id="70" name="Text 68"/>
          <p:cNvSpPr/>
          <p:nvPr/>
        </p:nvSpPr>
        <p:spPr>
          <a:xfrm>
            <a:off x="8961120" y="4133088"/>
            <a:ext cx="160020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0.8305</a:t>
            </a:r>
            <a:endParaRPr lang="en-US" sz="1060" dirty="0"/>
          </a:p>
        </p:txBody>
      </p:sp>
      <p:sp>
        <p:nvSpPr>
          <p:cNvPr id="71" name="Text 69"/>
          <p:cNvSpPr/>
          <p:nvPr/>
        </p:nvSpPr>
        <p:spPr>
          <a:xfrm>
            <a:off x="777240" y="4754880"/>
            <a:ext cx="292608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1060" dirty="0"/>
          </a:p>
        </p:txBody>
      </p:sp>
      <p:sp>
        <p:nvSpPr>
          <p:cNvPr id="72" name="Text 70"/>
          <p:cNvSpPr/>
          <p:nvPr/>
        </p:nvSpPr>
        <p:spPr>
          <a:xfrm>
            <a:off x="3886200" y="4754880"/>
            <a:ext cx="150876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0.7040</a:t>
            </a:r>
            <a:endParaRPr lang="en-US" sz="1060" dirty="0"/>
          </a:p>
        </p:txBody>
      </p:sp>
      <p:sp>
        <p:nvSpPr>
          <p:cNvPr id="73" name="Text 71"/>
          <p:cNvSpPr/>
          <p:nvPr/>
        </p:nvSpPr>
        <p:spPr>
          <a:xfrm>
            <a:off x="5577840" y="4754880"/>
            <a:ext cx="150876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0.4119</a:t>
            </a:r>
            <a:endParaRPr lang="en-US" sz="1060" dirty="0"/>
          </a:p>
        </p:txBody>
      </p:sp>
      <p:sp>
        <p:nvSpPr>
          <p:cNvPr id="74" name="Text 72"/>
          <p:cNvSpPr/>
          <p:nvPr/>
        </p:nvSpPr>
        <p:spPr>
          <a:xfrm>
            <a:off x="7269480" y="4754880"/>
            <a:ext cx="150876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0.7077</a:t>
            </a:r>
            <a:endParaRPr lang="en-US" sz="1060" dirty="0"/>
          </a:p>
        </p:txBody>
      </p:sp>
      <p:sp>
        <p:nvSpPr>
          <p:cNvPr id="75" name="Text 73"/>
          <p:cNvSpPr/>
          <p:nvPr/>
        </p:nvSpPr>
        <p:spPr>
          <a:xfrm>
            <a:off x="8961120" y="4754880"/>
            <a:ext cx="1600200" cy="24688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0.5207</a:t>
            </a:r>
            <a:endParaRPr lang="en-US" sz="1060" dirty="0"/>
          </a:p>
        </p:txBody>
      </p:sp>
      <p:sp>
        <p:nvSpPr>
          <p:cNvPr id="76" name="Shape 74"/>
          <p:cNvSpPr/>
          <p:nvPr/>
        </p:nvSpPr>
        <p:spPr>
          <a:xfrm>
            <a:off x="868680" y="5577840"/>
            <a:ext cx="10515600" cy="566928"/>
          </a:xfrm>
          <a:prstGeom prst="roundRect">
            <a:avLst>
              <a:gd name="adj" fmla="val 25806"/>
            </a:avLst>
          </a:prstGeom>
          <a:solidFill>
            <a:srgbClr val="0D2030"/>
          </a:solidFill>
          <a:ln w="10795">
            <a:solidFill>
              <a:srgbClr val="1A344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51560" y="5751576"/>
            <a:ext cx="10104120" cy="21945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has the highest test F1 (0.9338); Gradient Boosting has the highest test Precision (0.9691).</a:t>
            </a:r>
            <a:endParaRPr lang="en-US" sz="1080" dirty="0"/>
          </a:p>
        </p:txBody>
      </p:sp>
      <p:sp>
        <p:nvSpPr>
          <p:cNvPr id="7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D819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B"/>
          </a:solidFill>
          <a:ln w="12700">
            <a:solidFill>
              <a:srgbClr val="0711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26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286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7315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2519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52578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6473952"/>
            <a:ext cx="11320272" cy="0"/>
          </a:xfrm>
          <a:prstGeom prst="line">
            <a:avLst/>
          </a:prstGeom>
          <a:noFill/>
          <a:ln w="10160">
            <a:solidFill>
              <a:srgbClr val="1A34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210312"/>
            <a:ext cx="70408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MODEL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1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Random Forest was selected</a:t>
            </a:r>
            <a:endParaRPr lang="en-US" sz="2700" dirty="0"/>
          </a:p>
        </p:txBody>
      </p:sp>
      <p:sp>
        <p:nvSpPr>
          <p:cNvPr id="44" name="Text 42"/>
          <p:cNvSpPr/>
          <p:nvPr/>
        </p:nvSpPr>
        <p:spPr>
          <a:xfrm>
            <a:off x="530352" y="11430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leads on the chosen metric and catches more failures.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13232" y="1828800"/>
            <a:ext cx="3977640" cy="3337560"/>
          </a:xfrm>
          <a:prstGeom prst="roundRect">
            <a:avLst>
              <a:gd name="adj" fmla="val 4384"/>
            </a:avLst>
          </a:prstGeom>
          <a:solidFill>
            <a:srgbClr val="0D2030"/>
          </a:solidFill>
          <a:ln w="10795">
            <a:solidFill>
              <a:srgbClr val="00D8C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87552" y="208483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00D8C0">
              <a:alpha val="17000"/>
            </a:srgbClr>
          </a:solidFill>
          <a:ln w="10160">
            <a:solidFill>
              <a:srgbClr val="00D8C0">
                <a:alpha val="8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42416" y="2103120"/>
            <a:ext cx="1581912" cy="1828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MODEL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1005840" y="2697480"/>
            <a:ext cx="3200400" cy="9144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FOREST</a:t>
            </a:r>
            <a:endParaRPr lang="en-US" sz="3100" dirty="0"/>
          </a:p>
        </p:txBody>
      </p:sp>
      <p:sp>
        <p:nvSpPr>
          <p:cNvPr id="49" name="Text 47"/>
          <p:cNvSpPr/>
          <p:nvPr/>
        </p:nvSpPr>
        <p:spPr>
          <a:xfrm>
            <a:off x="1005840" y="4023360"/>
            <a:ext cx="3337560" cy="27432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trees · class_weight = balanced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074920" y="1874520"/>
            <a:ext cx="1920240" cy="1325880"/>
          </a:xfrm>
          <a:prstGeom prst="roundRect">
            <a:avLst>
              <a:gd name="adj" fmla="val 11034"/>
            </a:avLst>
          </a:prstGeom>
          <a:solidFill>
            <a:srgbClr val="0D2030"/>
          </a:solidFill>
          <a:ln w="10795">
            <a:solidFill>
              <a:srgbClr val="1A344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74920" y="1874520"/>
            <a:ext cx="50292" cy="1325880"/>
          </a:xfrm>
          <a:prstGeom prst="rect">
            <a:avLst/>
          </a:prstGeom>
          <a:solidFill>
            <a:srgbClr val="4285FF"/>
          </a:solidFill>
          <a:ln w="12700">
            <a:solidFill>
              <a:srgbClr val="4285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57800" y="1984248"/>
            <a:ext cx="1627632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28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0.9327</a:t>
            </a:r>
            <a:endParaRPr lang="en-US" sz="2700" dirty="0"/>
          </a:p>
        </p:txBody>
      </p:sp>
      <p:sp>
        <p:nvSpPr>
          <p:cNvPr id="53" name="Text 51"/>
          <p:cNvSpPr/>
          <p:nvPr/>
        </p:nvSpPr>
        <p:spPr>
          <a:xfrm>
            <a:off x="5257800" y="2478024"/>
            <a:ext cx="1627632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 F1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257800" y="2724912"/>
            <a:ext cx="1627632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of five models</a:t>
            </a:r>
            <a:endParaRPr lang="en-US" sz="840" dirty="0"/>
          </a:p>
        </p:txBody>
      </p:sp>
      <p:sp>
        <p:nvSpPr>
          <p:cNvPr id="55" name="Shape 53"/>
          <p:cNvSpPr/>
          <p:nvPr/>
        </p:nvSpPr>
        <p:spPr>
          <a:xfrm>
            <a:off x="7178040" y="1874520"/>
            <a:ext cx="1920240" cy="1325880"/>
          </a:xfrm>
          <a:prstGeom prst="roundRect">
            <a:avLst>
              <a:gd name="adj" fmla="val 11034"/>
            </a:avLst>
          </a:prstGeom>
          <a:solidFill>
            <a:srgbClr val="0D2030"/>
          </a:solidFill>
          <a:ln w="10795">
            <a:solidFill>
              <a:srgbClr val="1A344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78040" y="1874520"/>
            <a:ext cx="50292" cy="1325880"/>
          </a:xfrm>
          <a:prstGeom prst="rect">
            <a:avLst/>
          </a:prstGeom>
          <a:solidFill>
            <a:srgbClr val="00D8C0"/>
          </a:solidFill>
          <a:ln w="12700">
            <a:solidFill>
              <a:srgbClr val="00D8C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60920" y="1984248"/>
            <a:ext cx="1627632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0.9338</a:t>
            </a:r>
            <a:endParaRPr lang="en-US" sz="2700" dirty="0"/>
          </a:p>
        </p:txBody>
      </p:sp>
      <p:sp>
        <p:nvSpPr>
          <p:cNvPr id="58" name="Text 56"/>
          <p:cNvSpPr/>
          <p:nvPr/>
        </p:nvSpPr>
        <p:spPr>
          <a:xfrm>
            <a:off x="7360920" y="2478024"/>
            <a:ext cx="1627632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F1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7360920" y="2724912"/>
            <a:ext cx="1627632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Unseen test set</a:t>
            </a:r>
            <a:endParaRPr lang="en-US" sz="840" dirty="0"/>
          </a:p>
        </p:txBody>
      </p:sp>
      <p:sp>
        <p:nvSpPr>
          <p:cNvPr id="60" name="Shape 58"/>
          <p:cNvSpPr/>
          <p:nvPr/>
        </p:nvSpPr>
        <p:spPr>
          <a:xfrm>
            <a:off x="9281160" y="1874520"/>
            <a:ext cx="1920240" cy="1325880"/>
          </a:xfrm>
          <a:prstGeom prst="roundRect">
            <a:avLst>
              <a:gd name="adj" fmla="val 11034"/>
            </a:avLst>
          </a:prstGeom>
          <a:solidFill>
            <a:srgbClr val="0D2030"/>
          </a:solidFill>
          <a:ln w="10795">
            <a:solidFill>
              <a:srgbClr val="1A344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281160" y="1874520"/>
            <a:ext cx="50292" cy="132588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464040" y="1984248"/>
            <a:ext cx="1627632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B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0.9067</a:t>
            </a:r>
            <a:endParaRPr lang="en-US" sz="2700" dirty="0"/>
          </a:p>
        </p:txBody>
      </p:sp>
      <p:sp>
        <p:nvSpPr>
          <p:cNvPr id="63" name="Text 61"/>
          <p:cNvSpPr/>
          <p:nvPr/>
        </p:nvSpPr>
        <p:spPr>
          <a:xfrm>
            <a:off x="9464040" y="2478024"/>
            <a:ext cx="1627632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RECALL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9464040" y="2724912"/>
            <a:ext cx="1627632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Caught ~9 in 10 failures</a:t>
            </a:r>
            <a:endParaRPr lang="en-US" sz="840" dirty="0"/>
          </a:p>
        </p:txBody>
      </p:sp>
      <p:sp>
        <p:nvSpPr>
          <p:cNvPr id="65" name="Shape 63"/>
          <p:cNvSpPr/>
          <p:nvPr/>
        </p:nvSpPr>
        <p:spPr>
          <a:xfrm>
            <a:off x="5102352" y="3657600"/>
            <a:ext cx="5989320" cy="1325880"/>
          </a:xfrm>
          <a:prstGeom prst="roundRect">
            <a:avLst>
              <a:gd name="adj" fmla="val 11034"/>
            </a:avLst>
          </a:prstGeom>
          <a:solidFill>
            <a:srgbClr val="10283A"/>
          </a:solidFill>
          <a:ln w="10795">
            <a:solidFill>
              <a:srgbClr val="1A344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76672" y="3886200"/>
            <a:ext cx="15544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wins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5376672" y="4315968"/>
            <a:ext cx="5349240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CV F1  ·  Highest CV recall  ·  CV and test F1 are almost identical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5376672" y="4782312"/>
            <a:ext cx="5303520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Boosting is close; recall breaks the tie for maintenance use.</a:t>
            </a:r>
            <a:endParaRPr lang="en-US" sz="950" dirty="0"/>
          </a:p>
        </p:txBody>
      </p:sp>
      <p:sp>
        <p:nvSpPr>
          <p:cNvPr id="6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D819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B"/>
          </a:solidFill>
          <a:ln w="12700">
            <a:solidFill>
              <a:srgbClr val="0711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26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286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7315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2519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52578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6473952"/>
            <a:ext cx="11320272" cy="0"/>
          </a:xfrm>
          <a:prstGeom prst="line">
            <a:avLst/>
          </a:prstGeom>
          <a:noFill/>
          <a:ln w="10160">
            <a:solidFill>
              <a:srgbClr val="1A34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210312"/>
            <a:ext cx="70408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TEST · CONFUSION MATRIX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1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final model got right — and wrong</a:t>
            </a:r>
            <a:endParaRPr lang="en-US" sz="2700" dirty="0"/>
          </a:p>
        </p:txBody>
      </p:sp>
      <p:sp>
        <p:nvSpPr>
          <p:cNvPr id="44" name="Text 42"/>
          <p:cNvSpPr/>
          <p:nvPr/>
        </p:nvSpPr>
        <p:spPr>
          <a:xfrm>
            <a:off x="530352" y="11430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predictions on 2,500 unseen test rows.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3794760" y="1673352"/>
            <a:ext cx="3657600" cy="21945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PREDICTED →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0" y="2057400"/>
            <a:ext cx="2331720" cy="21945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FAILURE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99632" y="2057400"/>
            <a:ext cx="2331720" cy="21945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68680" y="2743200"/>
            <a:ext cx="1965960" cy="50292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FAILURE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68680" y="4251960"/>
            <a:ext cx="1965960" cy="50292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154680" y="2423160"/>
            <a:ext cx="2331720" cy="1298448"/>
          </a:xfrm>
          <a:prstGeom prst="roundRect">
            <a:avLst>
              <a:gd name="adj" fmla="val 11268"/>
            </a:avLst>
          </a:prstGeom>
          <a:solidFill>
            <a:srgbClr val="1B4A52"/>
          </a:solidFill>
          <a:ln w="10795">
            <a:solidFill>
              <a:srgbClr val="00D8C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19272" y="2587752"/>
            <a:ext cx="1965960" cy="43891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1,912</a:t>
            </a:r>
            <a:endParaRPr lang="en-US" sz="2600" dirty="0"/>
          </a:p>
        </p:txBody>
      </p:sp>
      <p:sp>
        <p:nvSpPr>
          <p:cNvPr id="52" name="Text 50"/>
          <p:cNvSpPr/>
          <p:nvPr/>
        </p:nvSpPr>
        <p:spPr>
          <a:xfrm>
            <a:off x="3282696" y="3127248"/>
            <a:ext cx="2057400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 NEGATIVE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264408" y="3410712"/>
            <a:ext cx="2103120" cy="16459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Correctly cleared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806440" y="2423160"/>
            <a:ext cx="2331720" cy="1298448"/>
          </a:xfrm>
          <a:prstGeom prst="roundRect">
            <a:avLst>
              <a:gd name="adj" fmla="val 11268"/>
            </a:avLst>
          </a:prstGeom>
          <a:solidFill>
            <a:srgbClr val="3C2A19"/>
          </a:solidFill>
          <a:ln w="10795">
            <a:solidFill>
              <a:srgbClr val="FFB0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71032" y="2587752"/>
            <a:ext cx="1965960" cy="43891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2600" dirty="0"/>
          </a:p>
        </p:txBody>
      </p:sp>
      <p:sp>
        <p:nvSpPr>
          <p:cNvPr id="56" name="Text 54"/>
          <p:cNvSpPr/>
          <p:nvPr/>
        </p:nvSpPr>
        <p:spPr>
          <a:xfrm>
            <a:off x="5934456" y="3127248"/>
            <a:ext cx="2057400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ALARM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916168" y="3410712"/>
            <a:ext cx="2103120" cy="16459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Healthy machine flagged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154680" y="3977640"/>
            <a:ext cx="2331720" cy="1298448"/>
          </a:xfrm>
          <a:prstGeom prst="roundRect">
            <a:avLst>
              <a:gd name="adj" fmla="val 11268"/>
            </a:avLst>
          </a:prstGeom>
          <a:solidFill>
            <a:srgbClr val="3C202B"/>
          </a:solidFill>
          <a:ln w="10795">
            <a:solidFill>
              <a:srgbClr val="FF647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19272" y="4142232"/>
            <a:ext cx="1965960" cy="43891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</a:t>
            </a:r>
            <a:endParaRPr lang="en-US" sz="2600" dirty="0"/>
          </a:p>
        </p:txBody>
      </p:sp>
      <p:sp>
        <p:nvSpPr>
          <p:cNvPr id="60" name="Text 58"/>
          <p:cNvSpPr/>
          <p:nvPr/>
        </p:nvSpPr>
        <p:spPr>
          <a:xfrm>
            <a:off x="3282696" y="4681728"/>
            <a:ext cx="2057400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MISSED FAILURE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264408" y="4965192"/>
            <a:ext cx="2103120" cy="16459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failure not caught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806440" y="3977640"/>
            <a:ext cx="2331720" cy="1298448"/>
          </a:xfrm>
          <a:prstGeom prst="roundRect">
            <a:avLst>
              <a:gd name="adj" fmla="val 11268"/>
            </a:avLst>
          </a:prstGeom>
          <a:solidFill>
            <a:srgbClr val="103E46"/>
          </a:solidFill>
          <a:ln w="10795">
            <a:solidFill>
              <a:srgbClr val="00D8C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71032" y="4142232"/>
            <a:ext cx="1965960" cy="43891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515</a:t>
            </a:r>
            <a:endParaRPr lang="en-US" sz="2600" dirty="0"/>
          </a:p>
        </p:txBody>
      </p:sp>
      <p:sp>
        <p:nvSpPr>
          <p:cNvPr id="64" name="Text 62"/>
          <p:cNvSpPr/>
          <p:nvPr/>
        </p:nvSpPr>
        <p:spPr>
          <a:xfrm>
            <a:off x="5934456" y="4681728"/>
            <a:ext cx="2057400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CAUGHT FAILURE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916168" y="4965192"/>
            <a:ext cx="2103120" cy="16459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failure alert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828800" y="5806440"/>
            <a:ext cx="868680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false alarms  ·  53 missed failures  ·  2,427 correct predictions</a:t>
            </a:r>
            <a:endParaRPr lang="en-US" sz="1150" dirty="0"/>
          </a:p>
        </p:txBody>
      </p:sp>
      <p:sp>
        <p:nvSpPr>
          <p:cNvPr id="6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D819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B"/>
          </a:solidFill>
          <a:ln w="12700">
            <a:solidFill>
              <a:srgbClr val="0711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26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286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7315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2519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52578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6473952"/>
            <a:ext cx="11320272" cy="0"/>
          </a:xfrm>
          <a:prstGeom prst="line">
            <a:avLst/>
          </a:prstGeom>
          <a:noFill/>
          <a:ln w="10160">
            <a:solidFill>
              <a:srgbClr val="1A34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210312"/>
            <a:ext cx="70408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INTERPRETATION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1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features influenced Random Forest?</a:t>
            </a:r>
            <a:endParaRPr lang="en-US" sz="2700" dirty="0"/>
          </a:p>
        </p:txBody>
      </p:sp>
      <p:sp>
        <p:nvSpPr>
          <p:cNvPr id="44" name="Text 42"/>
          <p:cNvSpPr/>
          <p:nvPr/>
        </p:nvSpPr>
        <p:spPr>
          <a:xfrm>
            <a:off x="530352" y="11430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Built-in feature importance ranks predictive contribution — not causation.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31520" y="1810512"/>
            <a:ext cx="2377440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Rotational speed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3246120" y="1828800"/>
            <a:ext cx="6035040" cy="155448"/>
          </a:xfrm>
          <a:prstGeom prst="roundRect">
            <a:avLst>
              <a:gd name="adj" fmla="val 29412"/>
            </a:avLst>
          </a:prstGeom>
          <a:solidFill>
            <a:srgbClr val="10283A"/>
          </a:solidFill>
          <a:ln w="12700">
            <a:solidFill>
              <a:srgbClr val="10283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46120" y="1828800"/>
            <a:ext cx="5502859" cy="155448"/>
          </a:xfrm>
          <a:prstGeom prst="roundRect">
            <a:avLst>
              <a:gd name="adj" fmla="val 29412"/>
            </a:avLst>
          </a:prstGeom>
          <a:solidFill>
            <a:srgbClr val="4285FF"/>
          </a:solidFill>
          <a:ln w="12700">
            <a:solidFill>
              <a:srgbClr val="4285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64040" y="1792224"/>
            <a:ext cx="640080" cy="21031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428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0.2006</a:t>
            </a:r>
            <a:endParaRPr lang="en-US" sz="940" dirty="0"/>
          </a:p>
        </p:txBody>
      </p:sp>
      <p:sp>
        <p:nvSpPr>
          <p:cNvPr id="49" name="Text 47"/>
          <p:cNvSpPr/>
          <p:nvPr/>
        </p:nvSpPr>
        <p:spPr>
          <a:xfrm>
            <a:off x="731520" y="2240280"/>
            <a:ext cx="2377440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Temp_Diff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3246120" y="2258568"/>
            <a:ext cx="6035040" cy="155448"/>
          </a:xfrm>
          <a:prstGeom prst="roundRect">
            <a:avLst>
              <a:gd name="adj" fmla="val 29412"/>
            </a:avLst>
          </a:prstGeom>
          <a:solidFill>
            <a:srgbClr val="10283A"/>
          </a:solidFill>
          <a:ln w="12700">
            <a:solidFill>
              <a:srgbClr val="10283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46120" y="2258568"/>
            <a:ext cx="5351983" cy="155448"/>
          </a:xfrm>
          <a:prstGeom prst="roundRect">
            <a:avLst>
              <a:gd name="adj" fmla="val 29412"/>
            </a:avLst>
          </a:prstGeom>
          <a:solidFill>
            <a:srgbClr val="00D8C0"/>
          </a:solidFill>
          <a:ln w="12700">
            <a:solidFill>
              <a:srgbClr val="00D8C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464040" y="2221992"/>
            <a:ext cx="640080" cy="21031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0.1951</a:t>
            </a:r>
            <a:endParaRPr lang="en-US" sz="940" dirty="0"/>
          </a:p>
        </p:txBody>
      </p:sp>
      <p:sp>
        <p:nvSpPr>
          <p:cNvPr id="53" name="Text 51"/>
          <p:cNvSpPr/>
          <p:nvPr/>
        </p:nvSpPr>
        <p:spPr>
          <a:xfrm>
            <a:off x="731520" y="2670048"/>
            <a:ext cx="2377440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Mechanical_Power_W</a:t>
            </a:r>
            <a:endParaRPr lang="en-US" sz="980" dirty="0"/>
          </a:p>
        </p:txBody>
      </p:sp>
      <p:sp>
        <p:nvSpPr>
          <p:cNvPr id="54" name="Shape 52"/>
          <p:cNvSpPr/>
          <p:nvPr/>
        </p:nvSpPr>
        <p:spPr>
          <a:xfrm>
            <a:off x="3246120" y="2688336"/>
            <a:ext cx="6035040" cy="155448"/>
          </a:xfrm>
          <a:prstGeom prst="roundRect">
            <a:avLst>
              <a:gd name="adj" fmla="val 29412"/>
            </a:avLst>
          </a:prstGeom>
          <a:solidFill>
            <a:srgbClr val="10283A"/>
          </a:solidFill>
          <a:ln w="12700">
            <a:solidFill>
              <a:srgbClr val="10283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46120" y="2688336"/>
            <a:ext cx="4369918" cy="155448"/>
          </a:xfrm>
          <a:prstGeom prst="roundRect">
            <a:avLst>
              <a:gd name="adj" fmla="val 29412"/>
            </a:avLst>
          </a:prstGeom>
          <a:solidFill>
            <a:srgbClr val="00D8C0"/>
          </a:solidFill>
          <a:ln w="12700">
            <a:solidFill>
              <a:srgbClr val="00D8C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464040" y="2651760"/>
            <a:ext cx="640080" cy="21031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0.1593</a:t>
            </a:r>
            <a:endParaRPr lang="en-US" sz="940" dirty="0"/>
          </a:p>
        </p:txBody>
      </p:sp>
      <p:sp>
        <p:nvSpPr>
          <p:cNvPr id="57" name="Text 55"/>
          <p:cNvSpPr/>
          <p:nvPr/>
        </p:nvSpPr>
        <p:spPr>
          <a:xfrm>
            <a:off x="731520" y="3099816"/>
            <a:ext cx="2377440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Torque</a:t>
            </a:r>
            <a:endParaRPr lang="en-US" sz="980" dirty="0"/>
          </a:p>
        </p:txBody>
      </p:sp>
      <p:sp>
        <p:nvSpPr>
          <p:cNvPr id="58" name="Shape 56"/>
          <p:cNvSpPr/>
          <p:nvPr/>
        </p:nvSpPr>
        <p:spPr>
          <a:xfrm>
            <a:off x="3246120" y="3118104"/>
            <a:ext cx="6035040" cy="155448"/>
          </a:xfrm>
          <a:prstGeom prst="roundRect">
            <a:avLst>
              <a:gd name="adj" fmla="val 29412"/>
            </a:avLst>
          </a:prstGeom>
          <a:solidFill>
            <a:srgbClr val="10283A"/>
          </a:solidFill>
          <a:ln w="12700">
            <a:solidFill>
              <a:srgbClr val="10283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46120" y="3118104"/>
            <a:ext cx="3969410" cy="155448"/>
          </a:xfrm>
          <a:prstGeom prst="roundRect">
            <a:avLst>
              <a:gd name="adj" fmla="val 29412"/>
            </a:avLst>
          </a:prstGeom>
          <a:solidFill>
            <a:srgbClr val="4285FF"/>
          </a:solidFill>
          <a:ln w="12700">
            <a:solidFill>
              <a:srgbClr val="4285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464040" y="3081528"/>
            <a:ext cx="640080" cy="21031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428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0.1447</a:t>
            </a:r>
            <a:endParaRPr lang="en-US" sz="940" dirty="0"/>
          </a:p>
        </p:txBody>
      </p:sp>
      <p:sp>
        <p:nvSpPr>
          <p:cNvPr id="61" name="Text 59"/>
          <p:cNvSpPr/>
          <p:nvPr/>
        </p:nvSpPr>
        <p:spPr>
          <a:xfrm>
            <a:off x="731520" y="3529584"/>
            <a:ext cx="2377440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wear</a:t>
            </a:r>
            <a:endParaRPr lang="en-US" sz="980" dirty="0"/>
          </a:p>
        </p:txBody>
      </p:sp>
      <p:sp>
        <p:nvSpPr>
          <p:cNvPr id="62" name="Shape 60"/>
          <p:cNvSpPr/>
          <p:nvPr/>
        </p:nvSpPr>
        <p:spPr>
          <a:xfrm>
            <a:off x="3246120" y="3547872"/>
            <a:ext cx="6035040" cy="155448"/>
          </a:xfrm>
          <a:prstGeom prst="roundRect">
            <a:avLst>
              <a:gd name="adj" fmla="val 29412"/>
            </a:avLst>
          </a:prstGeom>
          <a:solidFill>
            <a:srgbClr val="10283A"/>
          </a:solidFill>
          <a:ln w="12700">
            <a:solidFill>
              <a:srgbClr val="10283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46120" y="3547872"/>
            <a:ext cx="3500323" cy="155448"/>
          </a:xfrm>
          <a:prstGeom prst="roundRect">
            <a:avLst>
              <a:gd name="adj" fmla="val 29412"/>
            </a:avLst>
          </a:prstGeom>
          <a:solidFill>
            <a:srgbClr val="4285FF"/>
          </a:solidFill>
          <a:ln w="12700">
            <a:solidFill>
              <a:srgbClr val="4285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464040" y="3511296"/>
            <a:ext cx="640080" cy="21031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428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0.1276</a:t>
            </a:r>
            <a:endParaRPr lang="en-US" sz="940" dirty="0"/>
          </a:p>
        </p:txBody>
      </p:sp>
      <p:sp>
        <p:nvSpPr>
          <p:cNvPr id="65" name="Text 63"/>
          <p:cNvSpPr/>
          <p:nvPr/>
        </p:nvSpPr>
        <p:spPr>
          <a:xfrm>
            <a:off x="731520" y="3959352"/>
            <a:ext cx="2377440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Strain_Index</a:t>
            </a:r>
            <a:endParaRPr lang="en-US" sz="980" dirty="0"/>
          </a:p>
        </p:txBody>
      </p:sp>
      <p:sp>
        <p:nvSpPr>
          <p:cNvPr id="66" name="Shape 64"/>
          <p:cNvSpPr/>
          <p:nvPr/>
        </p:nvSpPr>
        <p:spPr>
          <a:xfrm>
            <a:off x="3246120" y="3977640"/>
            <a:ext cx="6035040" cy="155448"/>
          </a:xfrm>
          <a:prstGeom prst="roundRect">
            <a:avLst>
              <a:gd name="adj" fmla="val 29412"/>
            </a:avLst>
          </a:prstGeom>
          <a:solidFill>
            <a:srgbClr val="10283A"/>
          </a:solidFill>
          <a:ln w="12700">
            <a:solidFill>
              <a:srgbClr val="10283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246120" y="3977640"/>
            <a:ext cx="1692554" cy="155448"/>
          </a:xfrm>
          <a:prstGeom prst="roundRect">
            <a:avLst>
              <a:gd name="adj" fmla="val 29412"/>
            </a:avLst>
          </a:prstGeom>
          <a:solidFill>
            <a:srgbClr val="00D8C0"/>
          </a:solidFill>
          <a:ln w="12700">
            <a:solidFill>
              <a:srgbClr val="00D8C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464040" y="3941064"/>
            <a:ext cx="640080" cy="21031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0.0617</a:t>
            </a:r>
            <a:endParaRPr lang="en-US" sz="940" dirty="0"/>
          </a:p>
        </p:txBody>
      </p:sp>
      <p:sp>
        <p:nvSpPr>
          <p:cNvPr id="69" name="Text 67"/>
          <p:cNvSpPr/>
          <p:nvPr/>
        </p:nvSpPr>
        <p:spPr>
          <a:xfrm>
            <a:off x="731520" y="4389120"/>
            <a:ext cx="2377440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 temperature</a:t>
            </a:r>
            <a:endParaRPr lang="en-US" sz="980" dirty="0"/>
          </a:p>
        </p:txBody>
      </p:sp>
      <p:sp>
        <p:nvSpPr>
          <p:cNvPr id="70" name="Shape 68"/>
          <p:cNvSpPr/>
          <p:nvPr/>
        </p:nvSpPr>
        <p:spPr>
          <a:xfrm>
            <a:off x="3246120" y="4407408"/>
            <a:ext cx="6035040" cy="155448"/>
          </a:xfrm>
          <a:prstGeom prst="roundRect">
            <a:avLst>
              <a:gd name="adj" fmla="val 29412"/>
            </a:avLst>
          </a:prstGeom>
          <a:solidFill>
            <a:srgbClr val="10283A"/>
          </a:solidFill>
          <a:ln w="12700">
            <a:solidFill>
              <a:srgbClr val="10283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246120" y="4407408"/>
            <a:ext cx="1522476" cy="155448"/>
          </a:xfrm>
          <a:prstGeom prst="roundRect">
            <a:avLst>
              <a:gd name="adj" fmla="val 29412"/>
            </a:avLst>
          </a:prstGeom>
          <a:solidFill>
            <a:srgbClr val="4285FF"/>
          </a:solidFill>
          <a:ln w="12700">
            <a:solidFill>
              <a:srgbClr val="4285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464040" y="4370832"/>
            <a:ext cx="640080" cy="21031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428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0.0555</a:t>
            </a:r>
            <a:endParaRPr lang="en-US" sz="940" dirty="0"/>
          </a:p>
        </p:txBody>
      </p:sp>
      <p:sp>
        <p:nvSpPr>
          <p:cNvPr id="73" name="Text 71"/>
          <p:cNvSpPr/>
          <p:nvPr/>
        </p:nvSpPr>
        <p:spPr>
          <a:xfrm>
            <a:off x="731520" y="4818888"/>
            <a:ext cx="2377440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temperature</a:t>
            </a:r>
            <a:endParaRPr lang="en-US" sz="980" dirty="0"/>
          </a:p>
        </p:txBody>
      </p:sp>
      <p:sp>
        <p:nvSpPr>
          <p:cNvPr id="74" name="Shape 72"/>
          <p:cNvSpPr/>
          <p:nvPr/>
        </p:nvSpPr>
        <p:spPr>
          <a:xfrm>
            <a:off x="3246120" y="4837176"/>
            <a:ext cx="6035040" cy="155448"/>
          </a:xfrm>
          <a:prstGeom prst="roundRect">
            <a:avLst>
              <a:gd name="adj" fmla="val 29412"/>
            </a:avLst>
          </a:prstGeom>
          <a:solidFill>
            <a:srgbClr val="10283A"/>
          </a:solidFill>
          <a:ln w="12700">
            <a:solidFill>
              <a:srgbClr val="10283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246120" y="4837176"/>
            <a:ext cx="1349654" cy="155448"/>
          </a:xfrm>
          <a:prstGeom prst="roundRect">
            <a:avLst>
              <a:gd name="adj" fmla="val 29412"/>
            </a:avLst>
          </a:prstGeom>
          <a:solidFill>
            <a:srgbClr val="4285FF"/>
          </a:solidFill>
          <a:ln w="12700">
            <a:solidFill>
              <a:srgbClr val="4285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464040" y="4800600"/>
            <a:ext cx="640080" cy="21031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428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0.0492</a:t>
            </a:r>
            <a:endParaRPr lang="en-US" sz="940" dirty="0"/>
          </a:p>
        </p:txBody>
      </p:sp>
      <p:sp>
        <p:nvSpPr>
          <p:cNvPr id="77" name="Text 75"/>
          <p:cNvSpPr/>
          <p:nvPr/>
        </p:nvSpPr>
        <p:spPr>
          <a:xfrm>
            <a:off x="731520" y="5248656"/>
            <a:ext cx="2377440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980" dirty="0"/>
          </a:p>
        </p:txBody>
      </p:sp>
      <p:sp>
        <p:nvSpPr>
          <p:cNvPr id="78" name="Shape 76"/>
          <p:cNvSpPr/>
          <p:nvPr/>
        </p:nvSpPr>
        <p:spPr>
          <a:xfrm>
            <a:off x="3246120" y="5266944"/>
            <a:ext cx="6035040" cy="155448"/>
          </a:xfrm>
          <a:prstGeom prst="roundRect">
            <a:avLst>
              <a:gd name="adj" fmla="val 29412"/>
            </a:avLst>
          </a:prstGeom>
          <a:solidFill>
            <a:srgbClr val="10283A"/>
          </a:solidFill>
          <a:ln w="12700">
            <a:solidFill>
              <a:srgbClr val="10283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246120" y="5266944"/>
            <a:ext cx="172822" cy="155448"/>
          </a:xfrm>
          <a:prstGeom prst="roundRect">
            <a:avLst>
              <a:gd name="adj" fmla="val 29412"/>
            </a:avLst>
          </a:prstGeom>
          <a:solidFill>
            <a:srgbClr val="4285FF"/>
          </a:solidFill>
          <a:ln w="12700">
            <a:solidFill>
              <a:srgbClr val="4285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464040" y="5230368"/>
            <a:ext cx="640080" cy="21031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428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0.0063</a:t>
            </a:r>
            <a:endParaRPr lang="en-US" sz="940" dirty="0"/>
          </a:p>
        </p:txBody>
      </p:sp>
      <p:sp>
        <p:nvSpPr>
          <p:cNvPr id="81" name="Shape 79"/>
          <p:cNvSpPr/>
          <p:nvPr/>
        </p:nvSpPr>
        <p:spPr>
          <a:xfrm>
            <a:off x="10241280" y="1892808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00D8C0">
              <a:alpha val="17000"/>
            </a:srgbClr>
          </a:solidFill>
          <a:ln w="10160">
            <a:solidFill>
              <a:srgbClr val="00D8C0">
                <a:alpha val="80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296144" y="1911096"/>
            <a:ext cx="1216152" cy="1828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ENGINEERED FEATURE</a:t>
            </a:r>
            <a:endParaRPr lang="en-US" sz="820" dirty="0"/>
          </a:p>
        </p:txBody>
      </p:sp>
      <p:sp>
        <p:nvSpPr>
          <p:cNvPr id="83" name="Text 81"/>
          <p:cNvSpPr/>
          <p:nvPr/>
        </p:nvSpPr>
        <p:spPr>
          <a:xfrm>
            <a:off x="7178040" y="5897880"/>
            <a:ext cx="3977640" cy="34747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Temp_Diff and Mechanical_Power_W rank among the top three.</a:t>
            </a:r>
            <a:endParaRPr lang="en-US" sz="1050" dirty="0"/>
          </a:p>
        </p:txBody>
      </p:sp>
      <p:sp>
        <p:nvSpPr>
          <p:cNvPr id="8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D819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B"/>
          </a:solidFill>
          <a:ln w="12700">
            <a:solidFill>
              <a:srgbClr val="0711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26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286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7315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2519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52578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6473952"/>
            <a:ext cx="11320272" cy="0"/>
          </a:xfrm>
          <a:prstGeom prst="line">
            <a:avLst/>
          </a:prstGeom>
          <a:noFill/>
          <a:ln w="10160">
            <a:solidFill>
              <a:srgbClr val="1A34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210312"/>
            <a:ext cx="70408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ERRORS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1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73 wrong predictions — and why the type of error matters</a:t>
            </a:r>
            <a:endParaRPr lang="en-US" sz="2700" dirty="0"/>
          </a:p>
        </p:txBody>
      </p:sp>
      <p:sp>
        <p:nvSpPr>
          <p:cNvPr id="44" name="Text 42"/>
          <p:cNvSpPr/>
          <p:nvPr/>
        </p:nvSpPr>
        <p:spPr>
          <a:xfrm>
            <a:off x="530352" y="11430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2,427 of 2,500 test predictions were correct.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22960" y="1874520"/>
            <a:ext cx="2743200" cy="1417320"/>
          </a:xfrm>
          <a:prstGeom prst="roundRect">
            <a:avLst>
              <a:gd name="adj" fmla="val 10323"/>
            </a:avLst>
          </a:prstGeom>
          <a:solidFill>
            <a:srgbClr val="0D2030"/>
          </a:solidFill>
          <a:ln w="10795">
            <a:solidFill>
              <a:srgbClr val="1A344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2960" y="1874520"/>
            <a:ext cx="50292" cy="1417320"/>
          </a:xfrm>
          <a:prstGeom prst="rect">
            <a:avLst/>
          </a:prstGeom>
          <a:solidFill>
            <a:srgbClr val="00D8C0"/>
          </a:solidFill>
          <a:ln w="12700">
            <a:solidFill>
              <a:srgbClr val="00D8C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5840" y="1984248"/>
            <a:ext cx="2450592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2,427</a:t>
            </a:r>
            <a:endParaRPr lang="en-US" sz="2700" dirty="0"/>
          </a:p>
        </p:txBody>
      </p:sp>
      <p:sp>
        <p:nvSpPr>
          <p:cNvPr id="48" name="Text 46"/>
          <p:cNvSpPr/>
          <p:nvPr/>
        </p:nvSpPr>
        <p:spPr>
          <a:xfrm>
            <a:off x="1005840" y="2478024"/>
            <a:ext cx="2450592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005840" y="2724912"/>
            <a:ext cx="2450592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97.1% of the test set</a:t>
            </a:r>
            <a:endParaRPr lang="en-US" sz="840" dirty="0"/>
          </a:p>
        </p:txBody>
      </p:sp>
      <p:sp>
        <p:nvSpPr>
          <p:cNvPr id="50" name="Shape 48"/>
          <p:cNvSpPr/>
          <p:nvPr/>
        </p:nvSpPr>
        <p:spPr>
          <a:xfrm>
            <a:off x="3794760" y="1874520"/>
            <a:ext cx="2743200" cy="1417320"/>
          </a:xfrm>
          <a:prstGeom prst="roundRect">
            <a:avLst>
              <a:gd name="adj" fmla="val 10323"/>
            </a:avLst>
          </a:prstGeom>
          <a:solidFill>
            <a:srgbClr val="0D2030"/>
          </a:solidFill>
          <a:ln w="10795">
            <a:solidFill>
              <a:srgbClr val="1A344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794760" y="1874520"/>
            <a:ext cx="50292" cy="1417320"/>
          </a:xfrm>
          <a:prstGeom prst="rect">
            <a:avLst/>
          </a:prstGeom>
          <a:solidFill>
            <a:srgbClr val="FF647C"/>
          </a:solidFill>
          <a:ln w="12700">
            <a:solidFill>
              <a:srgbClr val="FF647C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77640" y="1984248"/>
            <a:ext cx="2450592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6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73</a:t>
            </a:r>
            <a:endParaRPr lang="en-US" sz="2700" dirty="0"/>
          </a:p>
        </p:txBody>
      </p:sp>
      <p:sp>
        <p:nvSpPr>
          <p:cNvPr id="53" name="Text 51"/>
          <p:cNvSpPr/>
          <p:nvPr/>
        </p:nvSpPr>
        <p:spPr>
          <a:xfrm>
            <a:off x="3977640" y="2478024"/>
            <a:ext cx="2450592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INCORRECT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977640" y="2724912"/>
            <a:ext cx="2450592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2.9% of the test set</a:t>
            </a:r>
            <a:endParaRPr lang="en-US" sz="840" dirty="0"/>
          </a:p>
        </p:txBody>
      </p:sp>
      <p:sp>
        <p:nvSpPr>
          <p:cNvPr id="55" name="Shape 53"/>
          <p:cNvSpPr/>
          <p:nvPr/>
        </p:nvSpPr>
        <p:spPr>
          <a:xfrm>
            <a:off x="6766560" y="1874520"/>
            <a:ext cx="2103120" cy="1417320"/>
          </a:xfrm>
          <a:prstGeom prst="roundRect">
            <a:avLst>
              <a:gd name="adj" fmla="val 10323"/>
            </a:avLst>
          </a:prstGeom>
          <a:solidFill>
            <a:srgbClr val="0D2030"/>
          </a:solidFill>
          <a:ln w="10795">
            <a:solidFill>
              <a:srgbClr val="1A344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66560" y="1874520"/>
            <a:ext cx="50292" cy="1417320"/>
          </a:xfrm>
          <a:prstGeom prst="rect">
            <a:avLst/>
          </a:prstGeom>
          <a:solidFill>
            <a:srgbClr val="FF647C"/>
          </a:solidFill>
          <a:ln w="12700">
            <a:solidFill>
              <a:srgbClr val="FF647C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49440" y="1984248"/>
            <a:ext cx="1810512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6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</a:t>
            </a:r>
            <a:endParaRPr lang="en-US" sz="2700" dirty="0"/>
          </a:p>
        </p:txBody>
      </p:sp>
      <p:sp>
        <p:nvSpPr>
          <p:cNvPr id="58" name="Text 56"/>
          <p:cNvSpPr/>
          <p:nvPr/>
        </p:nvSpPr>
        <p:spPr>
          <a:xfrm>
            <a:off x="6949440" y="2478024"/>
            <a:ext cx="1810512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MISSED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949440" y="2724912"/>
            <a:ext cx="1810512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negatives</a:t>
            </a:r>
            <a:endParaRPr lang="en-US" sz="840" dirty="0"/>
          </a:p>
        </p:txBody>
      </p:sp>
      <p:sp>
        <p:nvSpPr>
          <p:cNvPr id="60" name="Shape 58"/>
          <p:cNvSpPr/>
          <p:nvPr/>
        </p:nvSpPr>
        <p:spPr>
          <a:xfrm>
            <a:off x="9098280" y="1874520"/>
            <a:ext cx="2103120" cy="1417320"/>
          </a:xfrm>
          <a:prstGeom prst="roundRect">
            <a:avLst>
              <a:gd name="adj" fmla="val 10323"/>
            </a:avLst>
          </a:prstGeom>
          <a:solidFill>
            <a:srgbClr val="0D2030"/>
          </a:solidFill>
          <a:ln w="10795">
            <a:solidFill>
              <a:srgbClr val="1A344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098280" y="1874520"/>
            <a:ext cx="50292" cy="141732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281160" y="1984248"/>
            <a:ext cx="1810512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B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2700" dirty="0"/>
          </a:p>
        </p:txBody>
      </p:sp>
      <p:sp>
        <p:nvSpPr>
          <p:cNvPr id="63" name="Text 61"/>
          <p:cNvSpPr/>
          <p:nvPr/>
        </p:nvSpPr>
        <p:spPr>
          <a:xfrm>
            <a:off x="9281160" y="2478024"/>
            <a:ext cx="1810512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ALARMS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9281160" y="2724912"/>
            <a:ext cx="1810512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positives</a:t>
            </a:r>
            <a:endParaRPr lang="en-US" sz="840" dirty="0"/>
          </a:p>
        </p:txBody>
      </p:sp>
      <p:sp>
        <p:nvSpPr>
          <p:cNvPr id="65" name="Shape 63"/>
          <p:cNvSpPr/>
          <p:nvPr/>
        </p:nvSpPr>
        <p:spPr>
          <a:xfrm>
            <a:off x="1005840" y="3977640"/>
            <a:ext cx="10195560" cy="1143000"/>
          </a:xfrm>
          <a:prstGeom prst="roundRect">
            <a:avLst>
              <a:gd name="adj" fmla="val 12800"/>
            </a:avLst>
          </a:prstGeom>
          <a:solidFill>
            <a:srgbClr val="0D2030"/>
          </a:solidFill>
          <a:ln w="10795">
            <a:solidFill>
              <a:srgbClr val="1A344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280160" y="4279392"/>
            <a:ext cx="1828800" cy="21031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73 TOTAL ERRORS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246120" y="4315968"/>
            <a:ext cx="7223760" cy="256032"/>
          </a:xfrm>
          <a:prstGeom prst="roundRect">
            <a:avLst>
              <a:gd name="adj" fmla="val 21429"/>
            </a:avLst>
          </a:prstGeom>
          <a:solidFill>
            <a:srgbClr val="10283A"/>
          </a:solidFill>
          <a:ln w="12700">
            <a:solidFill>
              <a:srgbClr val="10283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46120" y="4315968"/>
            <a:ext cx="5244648" cy="256032"/>
          </a:xfrm>
          <a:prstGeom prst="roundRect">
            <a:avLst>
              <a:gd name="adj" fmla="val 21429"/>
            </a:avLst>
          </a:prstGeom>
          <a:solidFill>
            <a:srgbClr val="FF647C"/>
          </a:solidFill>
          <a:ln w="12700">
            <a:solidFill>
              <a:srgbClr val="FF647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91840" y="4690872"/>
            <a:ext cx="3063240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FF6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73% missed failures</a:t>
            </a:r>
            <a:endParaRPr lang="en-US" sz="970" dirty="0"/>
          </a:p>
        </p:txBody>
      </p:sp>
      <p:sp>
        <p:nvSpPr>
          <p:cNvPr id="70" name="Text 68"/>
          <p:cNvSpPr/>
          <p:nvPr/>
        </p:nvSpPr>
        <p:spPr>
          <a:xfrm>
            <a:off x="7543800" y="4690872"/>
            <a:ext cx="2560320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970" b="1" dirty="0">
                <a:solidFill>
                  <a:srgbClr val="FFB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27% false alarms</a:t>
            </a:r>
            <a:endParaRPr lang="en-US" sz="970" dirty="0"/>
          </a:p>
        </p:txBody>
      </p:sp>
      <p:sp>
        <p:nvSpPr>
          <p:cNvPr id="71" name="Text 69"/>
          <p:cNvSpPr/>
          <p:nvPr/>
        </p:nvSpPr>
        <p:spPr>
          <a:xfrm>
            <a:off x="1143000" y="5669280"/>
            <a:ext cx="9875520" cy="32004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lever: tune the decision threshold to trade fewer missed failures for more false alarms.</a:t>
            </a:r>
            <a:endParaRPr lang="en-US" sz="1150" dirty="0"/>
          </a:p>
        </p:txBody>
      </p:sp>
      <p:sp>
        <p:nvSpPr>
          <p:cNvPr id="7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D819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B"/>
          </a:solidFill>
          <a:ln w="12700">
            <a:solidFill>
              <a:srgbClr val="0711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26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286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7315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2519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52578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6473952"/>
            <a:ext cx="11320272" cy="0"/>
          </a:xfrm>
          <a:prstGeom prst="line">
            <a:avLst/>
          </a:prstGeom>
          <a:noFill/>
          <a:ln w="10160">
            <a:solidFill>
              <a:srgbClr val="1A34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210312"/>
            <a:ext cx="70408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EVALUATION · DATA LIMITATION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1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test score reflects the prepared dataset</a:t>
            </a:r>
            <a:endParaRPr lang="en-US" sz="2700" dirty="0"/>
          </a:p>
        </p:txBody>
      </p:sp>
      <p:sp>
        <p:nvSpPr>
          <p:cNvPr id="44" name="Text 42"/>
          <p:cNvSpPr/>
          <p:nvPr/>
        </p:nvSpPr>
        <p:spPr>
          <a:xfrm>
            <a:off x="530352" y="11430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Milestone 3 working file contains 12,500 rows, including 2,500 synthetic failure rows.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31520" y="1828800"/>
            <a:ext cx="3246120" cy="3063240"/>
          </a:xfrm>
          <a:prstGeom prst="roundRect">
            <a:avLst>
              <a:gd name="adj" fmla="val 4776"/>
            </a:avLst>
          </a:prstGeom>
          <a:solidFill>
            <a:srgbClr val="0D2030"/>
          </a:solidFill>
          <a:ln w="10795">
            <a:solidFill>
              <a:srgbClr val="1A344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4128" y="2176272"/>
            <a:ext cx="2651760" cy="59436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12,500</a:t>
            </a:r>
            <a:endParaRPr lang="en-US" sz="3400" dirty="0"/>
          </a:p>
        </p:txBody>
      </p:sp>
      <p:sp>
        <p:nvSpPr>
          <p:cNvPr id="47" name="Text 45"/>
          <p:cNvSpPr/>
          <p:nvPr/>
        </p:nvSpPr>
        <p:spPr>
          <a:xfrm>
            <a:off x="1051560" y="2816352"/>
            <a:ext cx="2606040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ROWS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78992" y="3337560"/>
            <a:ext cx="2560320" cy="310896"/>
          </a:xfrm>
          <a:prstGeom prst="roundRect">
            <a:avLst>
              <a:gd name="adj" fmla="val 17647"/>
            </a:avLst>
          </a:prstGeom>
          <a:solidFill>
            <a:srgbClr val="10283A"/>
          </a:solidFill>
          <a:ln w="12700">
            <a:solidFill>
              <a:srgbClr val="10283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78992" y="3337560"/>
            <a:ext cx="2048256" cy="310896"/>
          </a:xfrm>
          <a:prstGeom prst="roundRect">
            <a:avLst>
              <a:gd name="adj" fmla="val 17647"/>
            </a:avLst>
          </a:prstGeom>
          <a:solidFill>
            <a:srgbClr val="4285FF"/>
          </a:solidFill>
          <a:ln w="12700">
            <a:solidFill>
              <a:srgbClr val="4285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51560" y="3840480"/>
            <a:ext cx="1371600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28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10,000 original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423160" y="3840480"/>
            <a:ext cx="1325880" cy="20116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2,500 synthetic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343400" y="1828800"/>
            <a:ext cx="7086600" cy="3063240"/>
          </a:xfrm>
          <a:prstGeom prst="roundRect">
            <a:avLst>
              <a:gd name="adj" fmla="val 4776"/>
            </a:avLst>
          </a:prstGeom>
          <a:solidFill>
            <a:srgbClr val="0D2030"/>
          </a:solidFill>
          <a:ln w="10795">
            <a:solidFill>
              <a:srgbClr val="FF647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3440" y="2148840"/>
            <a:ext cx="3383280" cy="21945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FAILURE RATE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663440" y="2514600"/>
            <a:ext cx="1965960" cy="50292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3.39%</a:t>
            </a:r>
            <a:endParaRPr lang="en-US" sz="3100" dirty="0"/>
          </a:p>
        </p:txBody>
      </p:sp>
      <p:sp>
        <p:nvSpPr>
          <p:cNvPr id="55" name="Text 53"/>
          <p:cNvSpPr/>
          <p:nvPr/>
        </p:nvSpPr>
        <p:spPr>
          <a:xfrm>
            <a:off x="7315200" y="2148840"/>
            <a:ext cx="3383280" cy="21945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FILE FAILURE RATE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315200" y="2514600"/>
            <a:ext cx="1965960" cy="50292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22.71%</a:t>
            </a:r>
            <a:endParaRPr lang="en-US" sz="3100" dirty="0"/>
          </a:p>
        </p:txBody>
      </p:sp>
      <p:sp>
        <p:nvSpPr>
          <p:cNvPr id="57" name="Shape 55"/>
          <p:cNvSpPr/>
          <p:nvPr/>
        </p:nvSpPr>
        <p:spPr>
          <a:xfrm>
            <a:off x="4663440" y="3310128"/>
            <a:ext cx="6126480" cy="0"/>
          </a:xfrm>
          <a:prstGeom prst="line">
            <a:avLst/>
          </a:prstGeom>
          <a:noFill/>
          <a:ln w="12700">
            <a:solidFill>
              <a:srgbClr val="1A344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63440" y="3547872"/>
            <a:ext cx="594360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current notebook reports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663440" y="3913632"/>
            <a:ext cx="612648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test metrics are calculated on the prepared test set.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663440" y="4297680"/>
            <a:ext cx="612648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B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separate original-only test score is not reported in this notebook.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914400" y="5321808"/>
            <a:ext cx="10378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 the headline metrics as performance on this prepared dataset; validate on more real failures before real-world deployment.</a:t>
            </a:r>
            <a:endParaRPr lang="en-US" sz="1100" dirty="0"/>
          </a:p>
        </p:txBody>
      </p:sp>
      <p:sp>
        <p:nvSpPr>
          <p:cNvPr id="6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D819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B"/>
          </a:solidFill>
          <a:ln w="12700">
            <a:solidFill>
              <a:srgbClr val="0711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26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286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7315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2519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52578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6473952"/>
            <a:ext cx="11320272" cy="0"/>
          </a:xfrm>
          <a:prstGeom prst="line">
            <a:avLst/>
          </a:prstGeom>
          <a:noFill/>
          <a:ln w="10160">
            <a:solidFill>
              <a:srgbClr val="1A34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210312"/>
            <a:ext cx="70408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CHALLENGES &amp; NEXT STEPS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1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was difficult — and what we would improve next</a:t>
            </a:r>
            <a:endParaRPr lang="en-US" sz="2700" dirty="0"/>
          </a:p>
        </p:txBody>
      </p:sp>
      <p:sp>
        <p:nvSpPr>
          <p:cNvPr id="44" name="Text 42"/>
          <p:cNvSpPr/>
          <p:nvPr/>
        </p:nvSpPr>
        <p:spPr>
          <a:xfrm>
            <a:off x="530352" y="11430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Improvements are concrete follow-ups, not claims that they are already implemented.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31520" y="1737360"/>
            <a:ext cx="192024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834640" y="1737360"/>
            <a:ext cx="352044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DID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629400" y="1737360"/>
            <a:ext cx="466344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 IMPROVEMENT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58368" y="2121408"/>
            <a:ext cx="10835640" cy="685800"/>
          </a:xfrm>
          <a:prstGeom prst="roundRect">
            <a:avLst>
              <a:gd name="adj" fmla="val 21333"/>
            </a:avLst>
          </a:prstGeom>
          <a:solidFill>
            <a:srgbClr val="0D2030"/>
          </a:solidFill>
          <a:ln w="10795">
            <a:solidFill>
              <a:srgbClr val="1A344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2276856"/>
            <a:ext cx="1920240" cy="3291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 original failures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2834640" y="2231136"/>
            <a:ext cx="3520440" cy="42062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class weights where supported; judged with F1 and Recall.</a:t>
            </a:r>
            <a:endParaRPr lang="en-US" sz="940" dirty="0"/>
          </a:p>
        </p:txBody>
      </p:sp>
      <p:sp>
        <p:nvSpPr>
          <p:cNvPr id="51" name="Text 49"/>
          <p:cNvSpPr/>
          <p:nvPr/>
        </p:nvSpPr>
        <p:spPr>
          <a:xfrm>
            <a:off x="6629400" y="2231136"/>
            <a:ext cx="4663440" cy="42062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more observed, real failure cases.</a:t>
            </a:r>
            <a:endParaRPr lang="en-US" sz="940" dirty="0"/>
          </a:p>
        </p:txBody>
      </p:sp>
      <p:sp>
        <p:nvSpPr>
          <p:cNvPr id="52" name="Shape 50"/>
          <p:cNvSpPr/>
          <p:nvPr/>
        </p:nvSpPr>
        <p:spPr>
          <a:xfrm>
            <a:off x="658368" y="2962656"/>
            <a:ext cx="10835640" cy="685800"/>
          </a:xfrm>
          <a:prstGeom prst="roundRect">
            <a:avLst>
              <a:gd name="adj" fmla="val 21333"/>
            </a:avLst>
          </a:prstGeom>
          <a:solidFill>
            <a:srgbClr val="0D2030"/>
          </a:solidFill>
          <a:ln w="10795">
            <a:solidFill>
              <a:srgbClr val="1A344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3118104"/>
            <a:ext cx="1920240" cy="3291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rows affect evaluation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2834640" y="3072384"/>
            <a:ext cx="3520440" cy="42062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 the dataset composition and its limitation.</a:t>
            </a:r>
            <a:endParaRPr lang="en-US" sz="940" dirty="0"/>
          </a:p>
        </p:txBody>
      </p:sp>
      <p:sp>
        <p:nvSpPr>
          <p:cNvPr id="55" name="Text 53"/>
          <p:cNvSpPr/>
          <p:nvPr/>
        </p:nvSpPr>
        <p:spPr>
          <a:xfrm>
            <a:off x="6629400" y="3072384"/>
            <a:ext cx="4663440" cy="42062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separately on original-only data.</a:t>
            </a:r>
            <a:endParaRPr lang="en-US" sz="940" dirty="0"/>
          </a:p>
        </p:txBody>
      </p:sp>
      <p:sp>
        <p:nvSpPr>
          <p:cNvPr id="56" name="Shape 54"/>
          <p:cNvSpPr/>
          <p:nvPr/>
        </p:nvSpPr>
        <p:spPr>
          <a:xfrm>
            <a:off x="658368" y="3803904"/>
            <a:ext cx="10835640" cy="685800"/>
          </a:xfrm>
          <a:prstGeom prst="roundRect">
            <a:avLst>
              <a:gd name="adj" fmla="val 21333"/>
            </a:avLst>
          </a:prstGeom>
          <a:solidFill>
            <a:srgbClr val="0D2030"/>
          </a:solidFill>
          <a:ln w="10795">
            <a:solidFill>
              <a:srgbClr val="1A344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1520" y="3959352"/>
            <a:ext cx="1920240" cy="3291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model settings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2834640" y="3913632"/>
            <a:ext cx="3520440" cy="42062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consistent folds for a fair baseline comparison.</a:t>
            </a:r>
            <a:endParaRPr lang="en-US" sz="940" dirty="0"/>
          </a:p>
        </p:txBody>
      </p:sp>
      <p:sp>
        <p:nvSpPr>
          <p:cNvPr id="59" name="Text 57"/>
          <p:cNvSpPr/>
          <p:nvPr/>
        </p:nvSpPr>
        <p:spPr>
          <a:xfrm>
            <a:off x="6629400" y="3913632"/>
            <a:ext cx="4663440" cy="42062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 hyperparameters with Grid Search.</a:t>
            </a:r>
            <a:endParaRPr lang="en-US" sz="940" dirty="0"/>
          </a:p>
        </p:txBody>
      </p:sp>
      <p:sp>
        <p:nvSpPr>
          <p:cNvPr id="60" name="Shape 58"/>
          <p:cNvSpPr/>
          <p:nvPr/>
        </p:nvSpPr>
        <p:spPr>
          <a:xfrm>
            <a:off x="658368" y="4645152"/>
            <a:ext cx="10835640" cy="685800"/>
          </a:xfrm>
          <a:prstGeom prst="roundRect">
            <a:avLst>
              <a:gd name="adj" fmla="val 21333"/>
            </a:avLst>
          </a:prstGeom>
          <a:solidFill>
            <a:srgbClr val="0D2030"/>
          </a:solidFill>
          <a:ln w="10795">
            <a:solidFill>
              <a:srgbClr val="1A344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" y="4800600"/>
            <a:ext cx="1920240" cy="3291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 missed failures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2834640" y="4754880"/>
            <a:ext cx="3520440" cy="42062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Reviewed Recall alongside Precision.</a:t>
            </a:r>
            <a:endParaRPr lang="en-US" sz="940" dirty="0"/>
          </a:p>
        </p:txBody>
      </p:sp>
      <p:sp>
        <p:nvSpPr>
          <p:cNvPr id="63" name="Text 61"/>
          <p:cNvSpPr/>
          <p:nvPr/>
        </p:nvSpPr>
        <p:spPr>
          <a:xfrm>
            <a:off x="6629400" y="4754880"/>
            <a:ext cx="4663440" cy="42062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 the decision threshold to the cost of a miss.</a:t>
            </a:r>
            <a:endParaRPr lang="en-US" sz="940" dirty="0"/>
          </a:p>
        </p:txBody>
      </p:sp>
      <p:sp>
        <p:nvSpPr>
          <p:cNvPr id="64" name="Text 62"/>
          <p:cNvSpPr/>
          <p:nvPr/>
        </p:nvSpPr>
        <p:spPr>
          <a:xfrm>
            <a:off x="868680" y="5715000"/>
            <a:ext cx="10241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830" i="1" dirty="0">
                <a:solidFill>
                  <a:srgbClr val="9AA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the current notebook uses StandardScaler inside Pipeline for Logistic Regression and KNN during cross-validation.</a:t>
            </a:r>
            <a:endParaRPr lang="en-US" sz="830" dirty="0"/>
          </a:p>
        </p:txBody>
      </p:sp>
      <p:sp>
        <p:nvSpPr>
          <p:cNvPr id="6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D819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B"/>
          </a:solidFill>
          <a:ln w="12700">
            <a:solidFill>
              <a:srgbClr val="07111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258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3317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375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8463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3550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8638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3667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8696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3726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0" y="2286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0" y="7315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0" y="42519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0" y="52578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438912" y="6473952"/>
            <a:ext cx="11320272" cy="0"/>
          </a:xfrm>
          <a:prstGeom prst="line">
            <a:avLst/>
          </a:prstGeom>
          <a:noFill/>
          <a:ln w="10160">
            <a:solidFill>
              <a:srgbClr val="1A3447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02920" y="210312"/>
            <a:ext cx="70408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1520" y="731520"/>
            <a:ext cx="7132320" cy="100584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predictor —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limits we can name.</a:t>
            </a:r>
            <a:endParaRPr lang="en-US" sz="3100" dirty="0"/>
          </a:p>
        </p:txBody>
      </p:sp>
      <p:sp>
        <p:nvSpPr>
          <p:cNvPr id="44" name="Shape 42"/>
          <p:cNvSpPr/>
          <p:nvPr/>
        </p:nvSpPr>
        <p:spPr>
          <a:xfrm>
            <a:off x="822960" y="2176272"/>
            <a:ext cx="384048" cy="384048"/>
          </a:xfrm>
          <a:prstGeom prst="ellipse">
            <a:avLst/>
          </a:prstGeom>
          <a:solidFill>
            <a:srgbClr val="10283A"/>
          </a:solidFill>
          <a:ln w="12700">
            <a:solidFill>
              <a:srgbClr val="00D8C0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859536" y="2267712"/>
            <a:ext cx="310896" cy="16459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444752" y="2203704"/>
            <a:ext cx="896112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models compared fairly with the same stratified 5-fold CV.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22960" y="2935224"/>
            <a:ext cx="384048" cy="384048"/>
          </a:xfrm>
          <a:prstGeom prst="ellipse">
            <a:avLst/>
          </a:prstGeom>
          <a:solidFill>
            <a:srgbClr val="10283A"/>
          </a:solidFill>
          <a:ln w="12700">
            <a:solidFill>
              <a:srgbClr val="00D8C0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859536" y="3026664"/>
            <a:ext cx="310896" cy="16459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444752" y="2962656"/>
            <a:ext cx="896112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selected: CV F1 0.9327 · Test F1 0.9338 · Test Recall 0.9067.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22960" y="3694176"/>
            <a:ext cx="384048" cy="384048"/>
          </a:xfrm>
          <a:prstGeom prst="ellipse">
            <a:avLst/>
          </a:prstGeom>
          <a:solidFill>
            <a:srgbClr val="10283A"/>
          </a:solidFill>
          <a:ln w="12700">
            <a:solidFill>
              <a:srgbClr val="00D8C0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859536" y="3785616"/>
            <a:ext cx="310896" cy="16459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444752" y="3721608"/>
            <a:ext cx="896112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Engineered features rank among the most influential predictors.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822960" y="4453128"/>
            <a:ext cx="384048" cy="384048"/>
          </a:xfrm>
          <a:prstGeom prst="ellipse">
            <a:avLst/>
          </a:prstGeom>
          <a:solidFill>
            <a:srgbClr val="10283A"/>
          </a:solidFill>
          <a:ln w="12700">
            <a:solidFill>
              <a:srgbClr val="00D8C0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859536" y="4544568"/>
            <a:ext cx="310896" cy="16459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444752" y="4480560"/>
            <a:ext cx="896112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1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prepared dataset includes synthetic failures; original-only test performance is not reported.</a:t>
            </a:r>
            <a:endParaRPr lang="en-US" sz="1300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D819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B"/>
          </a:solidFill>
          <a:ln w="12700">
            <a:solidFill>
              <a:srgbClr val="07111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258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3317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375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8463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3550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8638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3667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8696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3726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037844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0" y="2286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0" y="7315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0" y="22402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0" y="42519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0" y="525780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0" y="626364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4445">
            <a:solidFill>
              <a:srgbClr val="102131">
                <a:alpha val="7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438912" y="6473952"/>
            <a:ext cx="11320272" cy="0"/>
          </a:xfrm>
          <a:prstGeom prst="line">
            <a:avLst/>
          </a:prstGeom>
          <a:noFill/>
          <a:ln w="10160">
            <a:solidFill>
              <a:srgbClr val="1A3447"/>
            </a:solidFill>
            <a:prstDash val="solid"/>
          </a:ln>
        </p:spPr>
        <p:txBody>
          <a:bodyPr/>
          <a:p/>
        </p:txBody>
      </p:sp>
      <p:sp>
        <p:nvSpPr>
          <p:cNvPr id="42" name="TextBox 41"/>
          <p:cNvSpPr txBox="1"/>
          <p:nvPr/>
        </p:nvSpPr>
        <p:spPr>
          <a:xfrm>
            <a:off x="502920" y="210312"/>
            <a:ext cx="7040880" cy="2103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00D8C0"/>
                </a:solidFill>
                <a:latin typeface="Aptos"/>
              </a:rPr>
              <a:t>MAKINA_SENSE  ·  MILESTONE 4</a:t>
            </a:r>
            <a:endParaRPr sz="900" b="1">
              <a:solidFill>
                <a:srgbClr val="00D8C0"/>
              </a:solidFill>
              <a:latin typeface="Apto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285232" y="2057400"/>
            <a:ext cx="1627632" cy="32004"/>
          </a:xfrm>
          <a:prstGeom prst="rect">
            <a:avLst/>
          </a:prstGeom>
          <a:solidFill>
            <a:srgbClr val="00D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7280" y="2468880"/>
            <a:ext cx="9994392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4200" b="1">
                <a:solidFill>
                  <a:srgbClr val="F1F6FA"/>
                </a:solidFill>
                <a:latin typeface="Aptos Display"/>
              </a:rPr>
              <a:t>THANK YOU</a:t>
            </a:r>
            <a:endParaRPr sz="4200" b="1">
              <a:solidFill>
                <a:srgbClr val="F1F6FA"/>
              </a:solidFill>
              <a:latin typeface="Aptos Display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828800" y="3657600"/>
            <a:ext cx="8531352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000" b="1">
                <a:solidFill>
                  <a:srgbClr val="00D8C0"/>
                </a:solidFill>
                <a:latin typeface="Aptos"/>
              </a:rPr>
              <a:t>Questions &amp; Discussion</a:t>
            </a:r>
            <a:endParaRPr sz="2000" b="1">
              <a:solidFill>
                <a:srgbClr val="00D8C0"/>
              </a:solidFill>
              <a:latin typeface="Apto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45920" y="4315968"/>
            <a:ext cx="88971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>
                <a:solidFill>
                  <a:srgbClr val="9AAEBC"/>
                </a:solidFill>
                <a:latin typeface="Aptos"/>
              </a:rPr>
              <a:t>AI4I Predictive Maintenance  ·  Model Training &amp; Evaluation</a:t>
            </a:r>
            <a:endParaRPr sz="1100">
              <a:solidFill>
                <a:srgbClr val="9AAEBC"/>
              </a:solidFill>
              <a:latin typeface="Aptos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5961888" y="5596128"/>
            <a:ext cx="91440" cy="91440"/>
          </a:xfrm>
          <a:prstGeom prst="ellipse">
            <a:avLst/>
          </a:prstGeom>
          <a:solidFill>
            <a:srgbClr val="00D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9AAEBC"/>
                </a:solidFill>
                <a:latin typeface="Aptos"/>
              </a:rPr>
              <a:t>17</a:t>
            </a:r>
            <a:endParaRPr sz="800">
              <a:solidFill>
                <a:srgbClr val="9AAEBC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7437</Words>
  <Application>WPS Presentation</Application>
  <PresentationFormat>On-screen Show (16:9)</PresentationFormat>
  <Paragraphs>680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4" baseType="lpstr">
      <vt:lpstr>Arial</vt:lpstr>
      <vt:lpstr>SimSun</vt:lpstr>
      <vt:lpstr>Wingdings</vt:lpstr>
      <vt:lpstr>Aptos</vt:lpstr>
      <vt:lpstr>Segoe UI</vt:lpstr>
      <vt:lpstr>Aptos</vt:lpstr>
      <vt:lpstr>Aptos</vt:lpstr>
      <vt:lpstr>Aptos</vt:lpstr>
      <vt:lpstr>Aptos Display</vt:lpstr>
      <vt:lpstr>Aptos Display</vt:lpstr>
      <vt:lpstr>Aptos Display</vt:lpstr>
      <vt:lpstr>Aptos Display</vt:lpstr>
      <vt:lpstr>Segoe UI Variable Display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AI4I Predictive Maintenance Project Team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Makina_Sense – AI4I Predictive Maintenance | Milestone 4</dc:title>
  <dc:creator>OpenAI</dc:creator>
  <cp:keywords>Makina_Sense, AI4I, Predictive Maintenance, Machine Learning</cp:keywords>
  <dc:subject>Model Training &amp; Evaluation</dc:subject>
  <cp:lastModifiedBy>Reem Amin</cp:lastModifiedBy>
  <cp:revision>4</cp:revision>
  <dcterms:created xsi:type="dcterms:W3CDTF">2026-10-30T15:07:00Z</dcterms:created>
  <dcterms:modified xsi:type="dcterms:W3CDTF">2026-10-30T19:21:35Z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C9F51DBC50B54ED684529E9F0C1D6198_13</vt:lpwstr>
  </property>
  <property fmtid="{D5CDD505-2E9C-101B-9397-08002B2CF9AE}" pid="3" name="KSOProductBuildVer">
    <vt:lpwstr>1033-12.1.0.28485</vt:lpwstr>
  </property>
</Properties>
</file>