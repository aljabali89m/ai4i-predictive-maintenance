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DF7DF3-12EC-49D6-AD99-35BEB26225F0}" v="131" dt="2026-09-25T19:56:38.854"/>
    <p1510:client id="{8DE5C1F6-E1BC-4FD3-945F-D18482D0F326}" v="11" dt="2026-09-25T19:39:29.149"/>
    <p1510:client id="{906EB3AD-C091-4ABB-A89B-6D8780BCC3D9}" v="10" dt="2026-09-25T19:44:44.572"/>
    <p1510:client id="{9593A1F5-E34B-48AC-9380-62131B9706E0}" v="43" dt="2026-09-25T19:17:30.994"/>
    <p1510:client id="{A98D8721-3918-41B6-9B35-2BB7B1CEDE2D}" v="77" dt="2026-09-25T19:34:44.496"/>
    <p1510:client id="{D89E5006-52E4-41EF-AE21-C6BFE09229C5}" v="2" dt="2026-09-25T19:45:41.1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-55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C52E5-575D-48AF-8EFE-638137026223}" type="datetimeFigureOut"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EC266-3C36-4FB0-8FAC-29BB1C9BB1E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97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365760"/>
            <a:ext cx="2560320" cy="256032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6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 Using Machine Learning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AI4I 2020 Predictive Maintenance Dataset  •  UCI Machine Learning Repository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0786" y="5313017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0786" y="531301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5146" y="5313017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Shahed Alkhawaga</a:t>
            </a:r>
          </a:p>
        </p:txBody>
      </p:sp>
      <p:sp>
        <p:nvSpPr>
          <p:cNvPr id="11" name="Shape 9"/>
          <p:cNvSpPr/>
          <p:nvPr/>
        </p:nvSpPr>
        <p:spPr>
          <a:xfrm>
            <a:off x="2785386" y="5313017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85386" y="531301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379746" y="5313017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ea typeface="Calibri"/>
                <a:cs typeface="Calibri"/>
              </a:rPr>
              <a:t>Aiham Bawaneh</a:t>
            </a:r>
          </a:p>
        </p:txBody>
      </p:sp>
      <p:sp>
        <p:nvSpPr>
          <p:cNvPr id="14" name="Shape 12"/>
          <p:cNvSpPr/>
          <p:nvPr/>
        </p:nvSpPr>
        <p:spPr>
          <a:xfrm>
            <a:off x="5299986" y="5313017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99986" y="531301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894346" y="5313017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ea typeface="Calibri"/>
                <a:cs typeface="Calibri"/>
              </a:rPr>
              <a:t>Mohammad Aljabali</a:t>
            </a:r>
          </a:p>
        </p:txBody>
      </p:sp>
      <p:sp>
        <p:nvSpPr>
          <p:cNvPr id="17" name="Shape 15"/>
          <p:cNvSpPr/>
          <p:nvPr/>
        </p:nvSpPr>
        <p:spPr>
          <a:xfrm>
            <a:off x="7814586" y="5313017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14586" y="531301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08946" y="5313017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ea typeface="Calibri"/>
                <a:cs typeface="Calibri"/>
              </a:rPr>
              <a:t>Mahmoud Bani-Hani</a:t>
            </a:r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Using Machine Learning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xmlns="" id="{5792A440-3E54-0C56-4836-D43AF19D1ADC}"/>
              </a:ext>
            </a:extLst>
          </p:cNvPr>
          <p:cNvSpPr/>
          <p:nvPr/>
        </p:nvSpPr>
        <p:spPr>
          <a:xfrm>
            <a:off x="9923890" y="5346147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6">
            <a:extLst>
              <a:ext uri="{FF2B5EF4-FFF2-40B4-BE49-F238E27FC236}">
                <a16:creationId xmlns:a16="http://schemas.microsoft.com/office/drawing/2014/main" xmlns="" id="{9E478A9F-EB59-2821-C041-2F9288AAF1DC}"/>
              </a:ext>
            </a:extLst>
          </p:cNvPr>
          <p:cNvSpPr txBox="1"/>
          <p:nvPr/>
        </p:nvSpPr>
        <p:spPr>
          <a:xfrm>
            <a:off x="9968064" y="544553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ea typeface="Calibri"/>
                <a:cs typeface="Calibri"/>
              </a:rPr>
              <a:t>5</a:t>
            </a:r>
            <a:endParaRPr lang="en-US" sz="14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14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xmlns="" id="{D95E06E2-F304-D283-0D73-E456FE5C3092}"/>
              </a:ext>
            </a:extLst>
          </p:cNvPr>
          <p:cNvSpPr txBox="1"/>
          <p:nvPr/>
        </p:nvSpPr>
        <p:spPr>
          <a:xfrm>
            <a:off x="10518250" y="5346147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ea typeface="Calibri"/>
                <a:cs typeface="Calibri"/>
              </a:rPr>
              <a:t>Reem </a:t>
            </a:r>
            <a:r>
              <a:rPr lang="en-US" sz="1300" dirty="0" err="1">
                <a:solidFill>
                  <a:srgbClr val="FFFFFF"/>
                </a:solidFill>
                <a:ea typeface="Calibri"/>
                <a:cs typeface="Calibri"/>
              </a:rPr>
              <a:t>Aldelki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0350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38100" dir="5400000" algn="bl" rotWithShape="0">
              <a:srgbClr val="1B2A3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234086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22345" y="22128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downtime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5420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stop without warning, halting the production 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30098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31729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delays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22345" y="35021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schedules and unmet delivery deadlines.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426110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41330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4622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repairs cost far more than planned upkeep.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522122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34440" y="5093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damage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4223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faults escalate into major, costly breakdowns.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417320"/>
            <a:ext cx="4800600" cy="4663440"/>
          </a:xfrm>
          <a:prstGeom prst="roundRect">
            <a:avLst>
              <a:gd name="adj" fmla="val 2353"/>
            </a:avLst>
          </a:prstGeom>
          <a:solidFill>
            <a:srgbClr val="21295C"/>
          </a:solidFill>
          <a:ln/>
          <a:effectLst>
            <a:outerShdw blurRad="101600" dist="38100" dir="5400000" algn="bl" rotWithShape="0">
              <a:srgbClr val="1B2A3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2376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23760" y="17105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24231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2880360"/>
            <a:ext cx="4069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Machine Learning to predict whether a machine is likely to fail before the failure occurs, allowing maintenance teams to take action early.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223760" y="5166360"/>
            <a:ext cx="4069080" cy="18288"/>
          </a:xfrm>
          <a:prstGeom prst="rect">
            <a:avLst/>
          </a:prstGeom>
          <a:solidFill>
            <a:srgbClr val="3E547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23760" y="53035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early  •  Act early  •  Avoid downtime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Using Machine Learning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9" grpId="0" animBg="1"/>
      <p:bldP spid="20" grpId="0" animBg="1"/>
      <p:bldP spid="21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5087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61288" y="1463040"/>
            <a:ext cx="4828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machine will experience a failure.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3500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61288" y="2304288"/>
            <a:ext cx="4828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main factors associated with machine failure.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19125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3145536"/>
            <a:ext cx="4828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understandable explanation for the prediction.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30568" y="1463040"/>
            <a:ext cx="4828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an appropriate maintenance action.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3500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30568" y="2304288"/>
            <a:ext cx="4828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machine condition and failure risk through a simple dashboard.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5376" y="4490869"/>
            <a:ext cx="111099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blurRad="76200" dist="25400" dir="5400000" algn="bl" rotWithShape="0">
              <a:srgbClr val="1B2A3A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0052" y="50749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70052" y="50749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653132" y="507492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037180" y="50749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037180" y="50749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820260" y="507492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04308" y="50749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204308" y="50749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987388" y="507492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71436" y="50749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71436" y="50749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154516" y="5074920"/>
            <a:ext cx="384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538564" y="50749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39417" y="50749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Using Machine Learning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AI4I 2020 Predictive Maintenance Dataset  •  Source: UCI Machine Learning Repository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733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23360" y="16002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023360" y="16733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286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dirty="0" smtClean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0" y="160020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0" y="167335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2860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 smtClean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FEATURES used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6674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42900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Temperature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3429000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366674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54880" y="342900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Temperature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0" y="3429000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366674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03920" y="342900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Speed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215384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45312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5840" y="421538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0" y="4215384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445312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754880" y="421538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4215384"/>
            <a:ext cx="36118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E2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453128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03920" y="421538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11109960" cy="777240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8680" y="4983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— whether a machine failure occurred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Using Machine Learning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9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9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9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9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5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6" grpId="0" animBg="1"/>
      <p:bldP spid="19" grpId="0" animBg="1"/>
      <p:bldP spid="22" grpId="0" animBg="1"/>
      <p:bldP spid="25" grpId="0" animBg="1"/>
      <p:bldP spid="28" grpId="0" animBg="1"/>
      <p:bldP spid="31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69774" y="4322859"/>
            <a:ext cx="3840480" cy="384048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Extension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Streamlit dashboard for real-time monitoring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109960" cy="4343400"/>
          </a:xfrm>
          <a:prstGeom prst="roundRect">
            <a:avLst>
              <a:gd name="adj" fmla="val 2526"/>
            </a:avLst>
          </a:prstGeom>
          <a:solidFill>
            <a:srgbClr val="142B45"/>
          </a:solidFill>
          <a:ln w="12700">
            <a:solidFill>
              <a:srgbClr val="2440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11109960" cy="457200"/>
          </a:xfrm>
          <a:prstGeom prst="roundRect">
            <a:avLst>
              <a:gd name="adj" fmla="val 24000"/>
            </a:avLst>
          </a:prstGeom>
          <a:solidFill>
            <a:srgbClr val="1B3A5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12848"/>
            <a:ext cx="11109960" cy="164592"/>
          </a:xfrm>
          <a:prstGeom prst="rect">
            <a:avLst/>
          </a:prstGeom>
          <a:solidFill>
            <a:srgbClr val="1B3A57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075688"/>
            <a:ext cx="146304" cy="146304"/>
          </a:xfrm>
          <a:prstGeom prst="ellipse">
            <a:avLst/>
          </a:prstGeom>
          <a:solidFill>
            <a:srgbClr val="E4626F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2075688"/>
            <a:ext cx="146304" cy="14630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Shape 8"/>
          <p:cNvSpPr/>
          <p:nvPr/>
        </p:nvSpPr>
        <p:spPr>
          <a:xfrm>
            <a:off x="1316736" y="2075688"/>
            <a:ext cx="146304" cy="146304"/>
          </a:xfrm>
          <a:prstGeom prst="ellipse">
            <a:avLst/>
          </a:prstGeom>
          <a:solidFill>
            <a:srgbClr val="5BC0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73736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dashboard.streamlit.app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6974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642616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status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008376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indicator of normal operation vs. at-risk condition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353872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483864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probability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849624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Model-estimated likelihood of failure, updated in real time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43799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39101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325112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contributing factors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690872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 readings driving the current risk score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4400" y="522122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166360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maintenance action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5532120"/>
            <a:ext cx="9646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next step for the maintenance team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Using Machine Learning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365760"/>
            <a:ext cx="2560320" cy="256032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6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time and feedback on our Milestone 1 proposal.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F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100" dirty="0"/>
          </a:p>
        </p:txBody>
      </p:sp>
      <p:sp>
        <p:nvSpPr>
          <p:cNvPr id="25" name="Text 25"/>
          <p:cNvSpPr txBox="1"/>
          <p:nvPr/>
        </p:nvSpPr>
        <p:spPr>
          <a:xfrm>
            <a:off x="822960" y="5313017"/>
            <a:ext cx="969264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about 3.4% of records representing an actual machine failure, should our model prioritize catching every failure (higher recall), or minimizing false alarms (higher precision)?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Using Machine Learning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380</Words>
  <Application>Microsoft Office PowerPoint</Application>
  <PresentationFormat>مخصص</PresentationFormat>
  <Paragraphs>106</Paragraphs>
  <Slides>6</Slides>
  <Notes>5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6</vt:i4>
      </vt:variant>
    </vt:vector>
  </HeadingPairs>
  <TitlesOfParts>
    <vt:vector size="7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160</cp:revision>
  <dcterms:created xsi:type="dcterms:W3CDTF">2026-09-25T18:59:29Z</dcterms:created>
  <dcterms:modified xsi:type="dcterms:W3CDTF">2026-09-26T08:49:40Z</dcterms:modified>
</cp:coreProperties>
</file>