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-558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507873-AE60-4A02-A4F3-08A9F04A19AD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26C1FF-F2C8-4849-85AE-83B02FA7C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777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38251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85"/>
                </a:solidFill>
              </a:rPr>
              <a:t>Data Understanding &amp; Cleaning · Milestone 2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7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15"/>
          <p:cNvSpPr/>
          <p:nvPr/>
        </p:nvSpPr>
        <p:spPr>
          <a:xfrm>
            <a:off x="713232" y="1417320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C8F23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17142B"/>
                </a:solidFill>
              </a:rPr>
              <a:t>MILESTONE 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20574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56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32004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C2F0"/>
                </a:solidFill>
              </a:rPr>
              <a:t>Predictive Maintenance Using Machine Learning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" y="374904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C97B8"/>
                </a:solidFill>
              </a:rPr>
              <a:t>Dataset: AI4I 2020 Predictive Maintenance Dataset — UCI Machine Learning Repository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5029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F23D"/>
                </a:solidFill>
              </a:rPr>
              <a:t>TEAM</a:t>
            </a:r>
            <a:endParaRPr lang="en-US" sz="1100" dirty="0"/>
          </a:p>
        </p:txBody>
      </p:sp>
      <p:sp>
        <p:nvSpPr>
          <p:cNvPr id="22" name="team-1"/>
          <p:cNvSpPr/>
          <p:nvPr/>
        </p:nvSpPr>
        <p:spPr>
          <a:xfrm>
            <a:off x="713232" y="5394960"/>
            <a:ext cx="1622146" cy="457200"/>
          </a:xfrm>
          <a:prstGeom prst="roundRect">
            <a:avLst>
              <a:gd name="adj" fmla="val 50000"/>
            </a:avLst>
          </a:prstGeom>
          <a:solidFill>
            <a:srgbClr val="2A254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Aiham Bawaneh</a:t>
            </a:r>
            <a:endParaRPr lang="en-US" sz="1300" dirty="0"/>
          </a:p>
        </p:txBody>
      </p:sp>
      <p:sp>
        <p:nvSpPr>
          <p:cNvPr id="23" name="team-2"/>
          <p:cNvSpPr/>
          <p:nvPr/>
        </p:nvSpPr>
        <p:spPr>
          <a:xfrm>
            <a:off x="2472538" y="5394960"/>
            <a:ext cx="1980590" cy="457200"/>
          </a:xfrm>
          <a:prstGeom prst="roundRect">
            <a:avLst>
              <a:gd name="adj" fmla="val 50000"/>
            </a:avLst>
          </a:prstGeom>
          <a:solidFill>
            <a:srgbClr val="2A254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Mahmoud Bani-Hani</a:t>
            </a:r>
            <a:endParaRPr lang="en-US" sz="1300" dirty="0"/>
          </a:p>
        </p:txBody>
      </p:sp>
      <p:sp>
        <p:nvSpPr>
          <p:cNvPr id="24" name="team-3"/>
          <p:cNvSpPr/>
          <p:nvPr/>
        </p:nvSpPr>
        <p:spPr>
          <a:xfrm>
            <a:off x="4590288" y="5394960"/>
            <a:ext cx="1980590" cy="457200"/>
          </a:xfrm>
          <a:prstGeom prst="roundRect">
            <a:avLst>
              <a:gd name="adj" fmla="val 50000"/>
            </a:avLst>
          </a:prstGeom>
          <a:solidFill>
            <a:srgbClr val="2A254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Mohammad Aljabali</a:t>
            </a:r>
            <a:endParaRPr lang="en-US" sz="1300" dirty="0"/>
          </a:p>
        </p:txBody>
      </p:sp>
      <p:sp>
        <p:nvSpPr>
          <p:cNvPr id="25" name="team-4"/>
          <p:cNvSpPr/>
          <p:nvPr/>
        </p:nvSpPr>
        <p:spPr>
          <a:xfrm>
            <a:off x="6708038" y="5394960"/>
            <a:ext cx="1890979" cy="457200"/>
          </a:xfrm>
          <a:prstGeom prst="roundRect">
            <a:avLst>
              <a:gd name="adj" fmla="val 50000"/>
            </a:avLst>
          </a:prstGeom>
          <a:solidFill>
            <a:srgbClr val="2A254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Shahed Alkhawaga</a:t>
            </a:r>
            <a:endParaRPr lang="en-US" sz="1300" dirty="0"/>
          </a:p>
        </p:txBody>
      </p:sp>
      <p:sp>
        <p:nvSpPr>
          <p:cNvPr id="26" name="team-5"/>
          <p:cNvSpPr/>
          <p:nvPr/>
        </p:nvSpPr>
        <p:spPr>
          <a:xfrm>
            <a:off x="8736178" y="5394960"/>
            <a:ext cx="1532534" cy="457200"/>
          </a:xfrm>
          <a:prstGeom prst="roundRect">
            <a:avLst>
              <a:gd name="adj" fmla="val 50000"/>
            </a:avLst>
          </a:prstGeom>
          <a:solidFill>
            <a:srgbClr val="2A254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</a:rPr>
              <a:t>Reem Aldelki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713232" y="457200"/>
            <a:ext cx="2711196" cy="310896"/>
          </a:xfrm>
          <a:prstGeom prst="roundRect">
            <a:avLst>
              <a:gd name="adj" fmla="val 50000"/>
            </a:avLst>
          </a:prstGeom>
          <a:solidFill>
            <a:srgbClr val="E6E1F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5B3FD9"/>
                </a:solidFill>
              </a:rPr>
              <a:t>02 · DATASET OVERVIEW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713232" y="89611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11" name="page-number"/>
          <p:cNvSpPr/>
          <p:nvPr/>
        </p:nvSpPr>
        <p:spPr>
          <a:xfrm>
            <a:off x="10954512" y="6364224"/>
            <a:ext cx="530352" cy="274320"/>
          </a:xfrm>
          <a:prstGeom prst="roundRect">
            <a:avLst>
              <a:gd name="adj" fmla="val 50000"/>
            </a:avLst>
          </a:prstGeom>
          <a:solidFill>
            <a:srgbClr val="17142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point-card-1"/>
          <p:cNvSpPr/>
          <p:nvPr/>
        </p:nvSpPr>
        <p:spPr>
          <a:xfrm>
            <a:off x="713232" y="1783080"/>
            <a:ext cx="7040880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1B174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87552" y="2167128"/>
            <a:ext cx="146304" cy="146304"/>
          </a:xfrm>
          <a:prstGeom prst="ellipse">
            <a:avLst/>
          </a:prstGeom>
          <a:solidFill>
            <a:srgbClr val="5B3FD9"/>
          </a:solidFill>
          <a:ln w="12700">
            <a:solidFill>
              <a:srgbClr val="5B3F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71600" y="1856232"/>
            <a:ext cx="6126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F3A"/>
                </a:solidFill>
              </a:rPr>
              <a:t>Source.</a:t>
            </a:r>
            <a:r>
              <a:rPr lang="en-US" sz="1400" dirty="0">
                <a:solidFill>
                  <a:srgbClr val="241F3A"/>
                </a:solidFill>
              </a:rPr>
              <a:t> AI4I 2020 Predictive Maintenance Dataset, UCI Machine Learning Repository (CC BY 4.0).</a:t>
            </a:r>
            <a:endParaRPr lang="en-US" sz="1400" dirty="0"/>
          </a:p>
        </p:txBody>
      </p:sp>
      <p:sp>
        <p:nvSpPr>
          <p:cNvPr id="15" name="point-card-2"/>
          <p:cNvSpPr/>
          <p:nvPr/>
        </p:nvSpPr>
        <p:spPr>
          <a:xfrm>
            <a:off x="713232" y="2903220"/>
            <a:ext cx="7040880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1B174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87552" y="3287268"/>
            <a:ext cx="146304" cy="146304"/>
          </a:xfrm>
          <a:prstGeom prst="ellipse">
            <a:avLst/>
          </a:prstGeom>
          <a:solidFill>
            <a:srgbClr val="5B3FD9"/>
          </a:solidFill>
          <a:ln w="12700">
            <a:solidFill>
              <a:srgbClr val="5B3F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71600" y="2976372"/>
            <a:ext cx="6126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F3A"/>
                </a:solidFill>
              </a:rPr>
              <a:t>Nature.</a:t>
            </a:r>
            <a:r>
              <a:rPr lang="en-US" sz="1400" dirty="0">
                <a:solidFill>
                  <a:srgbClr val="241F3A"/>
                </a:solidFill>
              </a:rPr>
              <a:t> A synthetic dataset (per UCI) designed to reflect real industrial data.</a:t>
            </a:r>
            <a:endParaRPr lang="en-US" sz="1400" dirty="0"/>
          </a:p>
        </p:txBody>
      </p:sp>
      <p:sp>
        <p:nvSpPr>
          <p:cNvPr id="18" name="point-card-3"/>
          <p:cNvSpPr/>
          <p:nvPr/>
        </p:nvSpPr>
        <p:spPr>
          <a:xfrm>
            <a:off x="713232" y="4023360"/>
            <a:ext cx="7040880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1B174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87552" y="4407408"/>
            <a:ext cx="146304" cy="146304"/>
          </a:xfrm>
          <a:prstGeom prst="ellipse">
            <a:avLst/>
          </a:prstGeom>
          <a:solidFill>
            <a:srgbClr val="5B3FD9"/>
          </a:solidFill>
          <a:ln w="12700">
            <a:solidFill>
              <a:srgbClr val="5B3F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71600" y="4096512"/>
            <a:ext cx="6126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F3A"/>
                </a:solidFill>
              </a:rPr>
              <a:t>Target variable.</a:t>
            </a:r>
            <a:r>
              <a:rPr lang="en-US" sz="1400" dirty="0">
                <a:solidFill>
                  <a:srgbClr val="241F3A"/>
                </a:solidFill>
              </a:rPr>
              <a:t> Machine failure (0 = Normal, 1 = Failure).</a:t>
            </a:r>
            <a:endParaRPr lang="en-US" sz="1400" dirty="0"/>
          </a:p>
        </p:txBody>
      </p:sp>
      <p:sp>
        <p:nvSpPr>
          <p:cNvPr id="21" name="stat-panel"/>
          <p:cNvSpPr/>
          <p:nvPr/>
        </p:nvSpPr>
        <p:spPr>
          <a:xfrm>
            <a:off x="8001000" y="1783080"/>
            <a:ext cx="3474720" cy="3154680"/>
          </a:xfrm>
          <a:prstGeom prst="roundRect">
            <a:avLst>
              <a:gd name="adj" fmla="val 4638"/>
            </a:avLst>
          </a:prstGeom>
          <a:solidFill>
            <a:srgbClr val="17142B"/>
          </a:solidFill>
          <a:ln w="12700">
            <a:solidFill>
              <a:srgbClr val="17142B"/>
            </a:solidFill>
            <a:prstDash val="solid"/>
          </a:ln>
          <a:effectLst>
            <a:outerShdw blurRad="127000" dist="25400" dir="5400000" algn="bl" rotWithShape="0">
              <a:srgbClr val="1B1740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366760" y="1920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8F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2468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2F0"/>
                </a:solidFill>
              </a:rPr>
              <a:t>rows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66760" y="2834640"/>
            <a:ext cx="2743200" cy="0"/>
          </a:xfrm>
          <a:prstGeom prst="line">
            <a:avLst/>
          </a:prstGeom>
          <a:noFill/>
          <a:ln w="9525">
            <a:solidFill>
              <a:srgbClr val="3A35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66760" y="2926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8F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34747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2F0"/>
                </a:solidFill>
              </a:rPr>
              <a:t>columns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366760" y="3840480"/>
            <a:ext cx="2743200" cy="0"/>
          </a:xfrm>
          <a:prstGeom prst="line">
            <a:avLst/>
          </a:prstGeom>
          <a:noFill/>
          <a:ln w="9525">
            <a:solidFill>
              <a:srgbClr val="3A356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66760" y="3931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8F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29" name="Text 27"/>
          <p:cNvSpPr txBox="1"/>
          <p:nvPr/>
        </p:nvSpPr>
        <p:spPr>
          <a:xfrm>
            <a:off x="8366760" y="4480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2F0"/>
                </a:solidFill>
              </a:rPr>
              <a:t>numeric sensor features</a:t>
            </a:r>
            <a:endParaRPr lang="en-US" sz="1200" dirty="0"/>
          </a:p>
        </p:txBody>
      </p:sp>
      <p:sp>
        <p:nvSpPr>
          <p:cNvPr id="30" name="simulation-callout"/>
          <p:cNvSpPr/>
          <p:nvPr/>
        </p:nvSpPr>
        <p:spPr>
          <a:xfrm>
            <a:off x="713232" y="5212080"/>
            <a:ext cx="10771632" cy="960120"/>
          </a:xfrm>
          <a:prstGeom prst="roundRect">
            <a:avLst>
              <a:gd name="adj" fmla="val 15238"/>
            </a:avLst>
          </a:prstGeom>
          <a:solidFill>
            <a:srgbClr val="E6E1FA"/>
          </a:solidFill>
          <a:ln w="12700">
            <a:solidFill>
              <a:srgbClr val="E6E1F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05840" y="5285232"/>
            <a:ext cx="10195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1F3A"/>
                </a:solidFill>
              </a:rPr>
              <a:t>The simulation.</a:t>
            </a:r>
            <a:r>
              <a:rPr lang="en-US" sz="1350" dirty="0">
                <a:solidFill>
                  <a:srgbClr val="241F3A"/>
                </a:solidFill>
              </a:rPr>
              <a:t> The original file was already clean. To practice real-world data engineering, we introduced realistic issues (missing values and structural duplicates) into a copy : </a:t>
            </a:r>
            <a:r>
              <a:rPr lang="en-US" sz="1350" b="1" dirty="0">
                <a:solidFill>
                  <a:srgbClr val="5B3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ai4i2020_dirty.csv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713232" y="457200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E6E1F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5B3FD9"/>
                </a:solidFill>
              </a:rPr>
              <a:t>03 · DATA DICTIONARY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713232" y="89611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Dictionary</a:t>
            </a:r>
            <a:endParaRPr lang="en-US" sz="3200" dirty="0"/>
          </a:p>
        </p:txBody>
      </p:sp>
      <p:sp>
        <p:nvSpPr>
          <p:cNvPr id="11" name="page-number"/>
          <p:cNvSpPr/>
          <p:nvPr/>
        </p:nvSpPr>
        <p:spPr>
          <a:xfrm>
            <a:off x="10954512" y="6364224"/>
            <a:ext cx="530352" cy="274320"/>
          </a:xfrm>
          <a:prstGeom prst="roundRect">
            <a:avLst>
              <a:gd name="adj" fmla="val 50000"/>
            </a:avLst>
          </a:prstGeom>
          <a:solidFill>
            <a:srgbClr val="17142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graphicFrame>
        <p:nvGraphicFramePr>
          <p:cNvPr id="12" name="dictionary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737360"/>
          <a:ext cx="10771632" cy="4325112"/>
        </p:xfrm>
        <a:graphic>
          <a:graphicData uri="http://schemas.openxmlformats.org/drawingml/2006/table">
            <a:tbl>
              <a:tblPr/>
              <a:tblGrid>
                <a:gridCol w="3291840"/>
                <a:gridCol w="5577840"/>
                <a:gridCol w="1901952"/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4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4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42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7142B"/>
                          </a:solidFill>
                        </a:rPr>
                        <a:t>UDI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1F3A"/>
                          </a:solidFill>
                        </a:rPr>
                        <a:t>Unique row identifier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B6685"/>
                          </a:solidFill>
                        </a:rPr>
                        <a:t>ID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7142B"/>
                          </a:solidFill>
                        </a:rPr>
                        <a:t>Product ID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1F3A"/>
                          </a:solidFill>
                        </a:rPr>
                        <a:t>Quality letter + serial number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B6685"/>
                          </a:solidFill>
                        </a:rPr>
                        <a:t>ID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7142B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1F3A"/>
                          </a:solidFill>
                        </a:rPr>
                        <a:t>Product quality: L , M , H 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B3FD9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7142B"/>
                          </a:solidFill>
                        </a:rPr>
                        <a:t>Air temperature [K]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1F3A"/>
                          </a:solidFill>
                        </a:rPr>
                        <a:t>Ambient temperature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B3FD9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7142B"/>
                          </a:solidFill>
                        </a:rPr>
                        <a:t>Process temperature [K]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1F3A"/>
                          </a:solidFill>
                        </a:rPr>
                        <a:t>Temperature during the process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B3FD9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7142B"/>
                          </a:solidFill>
                        </a:rPr>
                        <a:t>Rotational speed [rpm]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1F3A"/>
                          </a:solidFill>
                        </a:rPr>
                        <a:t>Spindle speed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B3FD9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7142B"/>
                          </a:solidFill>
                        </a:rPr>
                        <a:t>Torque [Nm]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1F3A"/>
                          </a:solidFill>
                        </a:rPr>
                        <a:t>Turning force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B3FD9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7142B"/>
                          </a:solidFill>
                        </a:rPr>
                        <a:t>Tool wear [min]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1F3A"/>
                          </a:solidFill>
                        </a:rPr>
                        <a:t>Minutes the tool has been used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B3FD9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7142B"/>
                          </a:solidFill>
                        </a:rPr>
                        <a:t>Machine failure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1F3A"/>
                          </a:solidFill>
                        </a:rPr>
                        <a:t>Failure occurred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6B4A"/>
                          </a:solidFill>
                        </a:rPr>
                        <a:t>Target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7142B"/>
                          </a:solidFill>
                        </a:rPr>
                        <a:t>TWF, HDF, PWF, OSF, RNF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1F3A"/>
                          </a:solidFill>
                        </a:rPr>
                        <a:t>Tool wear, heat dissipation, power, overstrain, random failure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7142B"/>
                          </a:solidFill>
                        </a:rPr>
                        <a:t>Failure flags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713232" y="457200"/>
            <a:ext cx="2290572" cy="310896"/>
          </a:xfrm>
          <a:prstGeom prst="roundRect">
            <a:avLst>
              <a:gd name="adj" fmla="val 50000"/>
            </a:avLst>
          </a:prstGeom>
          <a:solidFill>
            <a:srgbClr val="E6E1F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5B3FD9"/>
                </a:solidFill>
              </a:rPr>
              <a:t>04 · DATA QUALITY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713232" y="89611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Check — Before Cleaning</a:t>
            </a:r>
            <a:endParaRPr lang="en-US" sz="3200" dirty="0"/>
          </a:p>
        </p:txBody>
      </p:sp>
      <p:sp>
        <p:nvSpPr>
          <p:cNvPr id="11" name="page-number"/>
          <p:cNvSpPr/>
          <p:nvPr/>
        </p:nvSpPr>
        <p:spPr>
          <a:xfrm>
            <a:off x="10954512" y="6364224"/>
            <a:ext cx="530352" cy="274320"/>
          </a:xfrm>
          <a:prstGeom prst="roundRect">
            <a:avLst>
              <a:gd name="adj" fmla="val 50000"/>
            </a:avLst>
          </a:prstGeom>
          <a:solidFill>
            <a:srgbClr val="17142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12" name="stat-tile-1"/>
          <p:cNvSpPr/>
          <p:nvPr/>
        </p:nvSpPr>
        <p:spPr>
          <a:xfrm>
            <a:off x="713232" y="1783080"/>
            <a:ext cx="3438144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1B174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87552" y="1965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7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10,100</a:t>
            </a:r>
            <a:endParaRPr lang="en-US" sz="42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" y="2788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B6685"/>
                </a:solidFill>
              </a:rPr>
              <a:t>total rows loaded</a:t>
            </a:r>
            <a:endParaRPr lang="en-US" sz="1500" dirty="0"/>
          </a:p>
        </p:txBody>
      </p:sp>
      <p:sp>
        <p:nvSpPr>
          <p:cNvPr id="15" name="stat-tile-2"/>
          <p:cNvSpPr/>
          <p:nvPr/>
        </p:nvSpPr>
        <p:spPr>
          <a:xfrm>
            <a:off x="4379976" y="1783080"/>
            <a:ext cx="3438144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1B174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654296" y="1965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4,040</a:t>
            </a:r>
            <a:endParaRPr lang="en-US" sz="4200" dirty="0"/>
          </a:p>
        </p:txBody>
      </p:sp>
      <p:sp>
        <p:nvSpPr>
          <p:cNvPr id="17" name="Text 15"/>
          <p:cNvSpPr txBox="1"/>
          <p:nvPr/>
        </p:nvSpPr>
        <p:spPr>
          <a:xfrm>
            <a:off x="4654296" y="2788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B6685"/>
                </a:solidFill>
              </a:rPr>
              <a:t>missing cells across the 5 numeric columns</a:t>
            </a:r>
            <a:endParaRPr lang="en-US" sz="1500" dirty="0"/>
          </a:p>
        </p:txBody>
      </p:sp>
      <p:sp>
        <p:nvSpPr>
          <p:cNvPr id="18" name="stat-tile-3"/>
          <p:cNvSpPr/>
          <p:nvPr/>
        </p:nvSpPr>
        <p:spPr>
          <a:xfrm>
            <a:off x="8046720" y="1783080"/>
            <a:ext cx="3438144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1B1740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321040" y="1965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2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788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B6685"/>
                </a:solidFill>
              </a:rPr>
              <a:t>100 duplicate rows: exact copies of existing rows (100 UDIs appear twice).</a:t>
            </a:r>
            <a:endParaRPr lang="en-US" sz="1500" dirty="0"/>
          </a:p>
        </p:txBody>
      </p:sp>
      <p:sp>
        <p:nvSpPr>
          <p:cNvPr id="21" name="note-card-1"/>
          <p:cNvSpPr/>
          <p:nvPr/>
        </p:nvSpPr>
        <p:spPr>
          <a:xfrm>
            <a:off x="713232" y="4206240"/>
            <a:ext cx="5294376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1B1740">
                <a:alpha val="10000"/>
              </a:srgbClr>
            </a:outerShdw>
          </a:effectLst>
        </p:spPr>
      </p:sp>
      <p:sp>
        <p:nvSpPr>
          <p:cNvPr id="22" name="note-icon-1"/>
          <p:cNvSpPr/>
          <p:nvPr/>
        </p:nvSpPr>
        <p:spPr>
          <a:xfrm>
            <a:off x="1033272" y="4869180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!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719072" y="4343400"/>
            <a:ext cx="3977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F3A"/>
                </a:solidFill>
              </a:rPr>
              <a:t>Statistical Outliers: </a:t>
            </a:r>
            <a:r>
              <a:rPr lang="en-US" sz="1600" dirty="0">
                <a:solidFill>
                  <a:srgbClr val="241F3A"/>
                </a:solidFill>
              </a:rPr>
              <a:t>Boxplots and the 1.5×IQR rule revealed extreme values: 394 in Rotational speed and 66 in Torque (none in the other three).</a:t>
            </a:r>
            <a:endParaRPr lang="en-US" sz="1600" dirty="0"/>
          </a:p>
        </p:txBody>
      </p:sp>
      <p:sp>
        <p:nvSpPr>
          <p:cNvPr id="24" name="note-card-2"/>
          <p:cNvSpPr/>
          <p:nvPr/>
        </p:nvSpPr>
        <p:spPr>
          <a:xfrm>
            <a:off x="6190488" y="4206240"/>
            <a:ext cx="5294376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1B1740">
                <a:alpha val="10000"/>
              </a:srgbClr>
            </a:outerShdw>
          </a:effectLst>
        </p:spPr>
      </p:sp>
      <p:sp>
        <p:nvSpPr>
          <p:cNvPr id="25" name="note-icon-2"/>
          <p:cNvSpPr/>
          <p:nvPr/>
        </p:nvSpPr>
        <p:spPr>
          <a:xfrm>
            <a:off x="6510528" y="4869180"/>
            <a:ext cx="457200" cy="457200"/>
          </a:xfrm>
          <a:prstGeom prst="ellipse">
            <a:avLst/>
          </a:prstGeom>
          <a:solidFill>
            <a:srgbClr val="5B3FD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196328" y="4343400"/>
            <a:ext cx="3977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F3A"/>
                </a:solidFill>
              </a:rPr>
              <a:t>Checked and clean.</a:t>
            </a:r>
            <a:r>
              <a:rPr lang="en-US" sz="1600" dirty="0">
                <a:solidFill>
                  <a:srgbClr val="241F3A"/>
                </a:solidFill>
              </a:rPr>
              <a:t> Type and Product ID — no blanks, valid categories.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713232" y="457200"/>
            <a:ext cx="3867912" cy="310896"/>
          </a:xfrm>
          <a:prstGeom prst="roundRect">
            <a:avLst>
              <a:gd name="adj" fmla="val 50000"/>
            </a:avLst>
          </a:prstGeom>
          <a:solidFill>
            <a:srgbClr val="E6E1F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5B3FD9"/>
                </a:solidFill>
              </a:rPr>
              <a:t>05 · CLEANING DECISIONS — PART 1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713232" y="89611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Decisions: Outliers &amp; Imputation</a:t>
            </a:r>
            <a:endParaRPr lang="en-US" sz="3200" dirty="0"/>
          </a:p>
        </p:txBody>
      </p:sp>
      <p:sp>
        <p:nvSpPr>
          <p:cNvPr id="11" name="page-number"/>
          <p:cNvSpPr/>
          <p:nvPr/>
        </p:nvSpPr>
        <p:spPr>
          <a:xfrm>
            <a:off x="10954512" y="6364224"/>
            <a:ext cx="530352" cy="274320"/>
          </a:xfrm>
          <a:prstGeom prst="roundRect">
            <a:avLst>
              <a:gd name="adj" fmla="val 50000"/>
            </a:avLst>
          </a:prstGeom>
          <a:solidFill>
            <a:srgbClr val="17142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12" name="decision-card-1"/>
          <p:cNvSpPr/>
          <p:nvPr/>
        </p:nvSpPr>
        <p:spPr>
          <a:xfrm>
            <a:off x="713232" y="1783080"/>
            <a:ext cx="10771632" cy="20574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1B174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20574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5B3FD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DECISION 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46888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7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statistical outliers using IQR Clipping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1965960"/>
            <a:ext cx="6675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200" b="1" kern="0" spc="200" dirty="0">
                <a:solidFill>
                  <a:srgbClr val="5B3FD9"/>
                </a:solidFill>
              </a:rPr>
              <a:t>ACTION</a:t>
            </a:r>
            <a:r>
              <a:rPr lang="en-US" sz="1350" dirty="0">
                <a:solidFill>
                  <a:srgbClr val="241F3A"/>
                </a:solidFill>
              </a:rPr>
              <a:t>   Computed Q1, Q3, and IQR for each numeric sensor feature, then capped extremes with df[col].clip(lower, upper).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b="1" kern="0" spc="200" dirty="0">
                <a:solidFill>
                  <a:srgbClr val="5B3FD9"/>
                </a:solidFill>
              </a:rPr>
              <a:t>REASON</a:t>
            </a:r>
            <a:r>
              <a:rPr lang="en-US" sz="1350" dirty="0">
                <a:solidFill>
                  <a:srgbClr val="241F3A"/>
                </a:solidFill>
              </a:rPr>
              <a:t>   To prevent extreme statistical outliers from disproportionately skewing the machine learning model while preserving the core data distribution.</a:t>
            </a:r>
            <a:endParaRPr lang="en-US" sz="1350" dirty="0"/>
          </a:p>
        </p:txBody>
      </p:sp>
      <p:sp>
        <p:nvSpPr>
          <p:cNvPr id="16" name="decision-card-2"/>
          <p:cNvSpPr/>
          <p:nvPr/>
        </p:nvSpPr>
        <p:spPr>
          <a:xfrm>
            <a:off x="713232" y="4069080"/>
            <a:ext cx="10771632" cy="20574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1B174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43434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5B3FD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DECISION 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75488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7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 Missing Values with the Mean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251960"/>
            <a:ext cx="6675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200" b="1" kern="0" spc="200" dirty="0">
                <a:solidFill>
                  <a:srgbClr val="5B3FD9"/>
                </a:solidFill>
              </a:rPr>
              <a:t>ACTION</a:t>
            </a:r>
            <a:r>
              <a:rPr lang="en-US" sz="1350" dirty="0">
                <a:solidFill>
                  <a:srgbClr val="241F3A"/>
                </a:solidFill>
              </a:rPr>
              <a:t>   Imputed the missing cells using df[col].fillna(df[col].mean()).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b="1" kern="0" spc="200" dirty="0">
                <a:solidFill>
                  <a:srgbClr val="5B3FD9"/>
                </a:solidFill>
              </a:rPr>
              <a:t>REASON</a:t>
            </a:r>
            <a:r>
              <a:rPr lang="en-US" sz="1350" dirty="0">
                <a:solidFill>
                  <a:srgbClr val="241F3A"/>
                </a:solidFill>
              </a:rPr>
              <a:t>   About 34% of our rows (3,437) had a blank, so dropping them would remove a third of the dataset. We chose the Mean to preserve the average of the sensor readings, which represents the typical operational baseline of the machines.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713232" y="457200"/>
            <a:ext cx="3867912" cy="310896"/>
          </a:xfrm>
          <a:prstGeom prst="roundRect">
            <a:avLst>
              <a:gd name="adj" fmla="val 50000"/>
            </a:avLst>
          </a:prstGeom>
          <a:solidFill>
            <a:srgbClr val="E6E1F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5B3FD9"/>
                </a:solidFill>
              </a:rPr>
              <a:t>06 · CLEANING DECISIONS — PART 2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713232" y="89611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Decisions: Duplicates</a:t>
            </a:r>
            <a:endParaRPr lang="en-US" sz="3200" dirty="0"/>
          </a:p>
        </p:txBody>
      </p:sp>
      <p:sp>
        <p:nvSpPr>
          <p:cNvPr id="11" name="page-number"/>
          <p:cNvSpPr/>
          <p:nvPr/>
        </p:nvSpPr>
        <p:spPr>
          <a:xfrm>
            <a:off x="10954512" y="6364224"/>
            <a:ext cx="530352" cy="274320"/>
          </a:xfrm>
          <a:prstGeom prst="roundRect">
            <a:avLst>
              <a:gd name="adj" fmla="val 50000"/>
            </a:avLst>
          </a:prstGeom>
          <a:solidFill>
            <a:srgbClr val="17142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12" name="decision-card-3"/>
          <p:cNvSpPr/>
          <p:nvPr/>
        </p:nvSpPr>
        <p:spPr>
          <a:xfrm>
            <a:off x="713232" y="1783080"/>
            <a:ext cx="704088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1B174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97280" y="21488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5B3FD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DECISION 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69748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duplicate rows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52044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800"/>
              </a:spcAft>
              <a:buNone/>
            </a:pPr>
            <a:r>
              <a:rPr lang="en-US" sz="1200" b="1" kern="0" spc="200" dirty="0">
                <a:solidFill>
                  <a:srgbClr val="5B3FD9"/>
                </a:solidFill>
              </a:rPr>
              <a:t>ACTION</a:t>
            </a:r>
            <a:r>
              <a:rPr lang="en-US" sz="1700" dirty="0">
                <a:solidFill>
                  <a:srgbClr val="241F3A"/>
                </a:solidFill>
              </a:rPr>
              <a:t>   Applied df.drop_duplicates() and removed 100 exact duplicate rows (10,100 → 10,000, one row per UDI).</a:t>
            </a:r>
            <a:endParaRPr lang="en-US" sz="17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1200" b="1" kern="0" spc="200" dirty="0">
                <a:solidFill>
                  <a:srgbClr val="5B3FD9"/>
                </a:solidFill>
              </a:rPr>
              <a:t>REASON</a:t>
            </a:r>
            <a:r>
              <a:rPr lang="en-US" sz="1700" dirty="0">
                <a:solidFill>
                  <a:srgbClr val="241F3A"/>
                </a:solidFill>
              </a:rPr>
              <a:t>   All 100 duplicates were exact copies, so comparing full rows removes them safely. This step runs last, after outliers and missing values are handled.</a:t>
            </a:r>
            <a:endParaRPr lang="en-US" sz="1700" dirty="0"/>
          </a:p>
        </p:txBody>
      </p:sp>
      <p:sp>
        <p:nvSpPr>
          <p:cNvPr id="16" name="before-after-panel"/>
          <p:cNvSpPr/>
          <p:nvPr/>
        </p:nvSpPr>
        <p:spPr>
          <a:xfrm>
            <a:off x="8001000" y="1783080"/>
            <a:ext cx="3474720" cy="4114800"/>
          </a:xfrm>
          <a:prstGeom prst="roundRect">
            <a:avLst>
              <a:gd name="adj" fmla="val 4211"/>
            </a:avLst>
          </a:prstGeom>
          <a:solidFill>
            <a:srgbClr val="17142B"/>
          </a:solidFill>
          <a:ln w="12700">
            <a:solidFill>
              <a:srgbClr val="17142B"/>
            </a:solidFill>
            <a:prstDash val="solid"/>
          </a:ln>
          <a:effectLst>
            <a:outerShdw blurRad="127000" dist="25400" dir="5400000" algn="bl" rotWithShape="0">
              <a:srgbClr val="1B174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366760" y="24688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9C97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10,100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291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6B4A"/>
                </a:solidFill>
              </a:rPr>
              <a:t>→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40233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8F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2F0"/>
                </a:solidFill>
              </a:rPr>
              <a:t>rows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713232" y="457200"/>
            <a:ext cx="1659636" cy="310896"/>
          </a:xfrm>
          <a:prstGeom prst="roundRect">
            <a:avLst>
              <a:gd name="adj" fmla="val 50000"/>
            </a:avLst>
          </a:prstGeom>
          <a:solidFill>
            <a:srgbClr val="E6E1F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5B3FD9"/>
                </a:solidFill>
              </a:rPr>
              <a:t>07 · RESULT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713232" y="89611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&amp; After Snapshot</a:t>
            </a:r>
            <a:endParaRPr lang="en-US" sz="3200" dirty="0"/>
          </a:p>
        </p:txBody>
      </p:sp>
      <p:sp>
        <p:nvSpPr>
          <p:cNvPr id="11" name="page-number"/>
          <p:cNvSpPr/>
          <p:nvPr/>
        </p:nvSpPr>
        <p:spPr>
          <a:xfrm>
            <a:off x="10954512" y="6364224"/>
            <a:ext cx="530352" cy="274320"/>
          </a:xfrm>
          <a:prstGeom prst="roundRect">
            <a:avLst>
              <a:gd name="adj" fmla="val 50000"/>
            </a:avLst>
          </a:prstGeom>
          <a:solidFill>
            <a:srgbClr val="17142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graphicFrame>
        <p:nvGraphicFramePr>
          <p:cNvPr id="12" name="before-after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783080"/>
          <a:ext cx="10771632" cy="3383280"/>
        </p:xfrm>
        <a:graphic>
          <a:graphicData uri="http://schemas.openxmlformats.org/drawingml/2006/table">
            <a:tbl>
              <a:tblPr/>
              <a:tblGrid>
                <a:gridCol w="4754880"/>
                <a:gridCol w="2743200"/>
                <a:gridCol w="3273552"/>
              </a:tblGrid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4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Before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6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After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B3FD9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7142B"/>
                          </a:solidFill>
                        </a:rPr>
                        <a:t>Total rows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6B4A"/>
                          </a:solidFill>
                        </a:rPr>
                        <a:t>10,100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B3FD9"/>
                          </a:solidFill>
                        </a:rPr>
                        <a:t>10,000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7142B"/>
                          </a:solidFill>
                        </a:rPr>
                        <a:t>Missing cells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6B4A"/>
                          </a:solidFill>
                        </a:rPr>
                        <a:t>4,040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B3FD9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7142B"/>
                          </a:solidFill>
                        </a:rPr>
                        <a:t>Duplicate rows (exact copies)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6B4A"/>
                          </a:solidFill>
                        </a:rPr>
                        <a:t>100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B3FD9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7142B"/>
                          </a:solidFill>
                        </a:rPr>
                        <a:t>Machine failure rate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6B4A"/>
                          </a:solidFill>
                        </a:rPr>
                        <a:t>3.37%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B3FD9"/>
                          </a:solidFill>
                        </a:rPr>
                        <a:t>3.39% (matches the original)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</a:tbl>
          </a:graphicData>
        </a:graphic>
      </p:graphicFrame>
      <p:sp>
        <p:nvSpPr>
          <p:cNvPr id="13" name="net-effect"/>
          <p:cNvSpPr/>
          <p:nvPr/>
        </p:nvSpPr>
        <p:spPr>
          <a:xfrm>
            <a:off x="713232" y="5486400"/>
            <a:ext cx="10771632" cy="658368"/>
          </a:xfrm>
          <a:prstGeom prst="roundRect">
            <a:avLst>
              <a:gd name="adj" fmla="val 22222"/>
            </a:avLst>
          </a:prstGeom>
          <a:solidFill>
            <a:srgbClr val="E6E1FA"/>
          </a:solidFill>
          <a:ln w="12700">
            <a:solidFill>
              <a:srgbClr val="E6E1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05840" y="548640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142B"/>
                </a:solidFill>
              </a:rPr>
              <a:t>Net effect: 460 outlier values capped · 4,040 cells filled · 100 duplicate rows removed — failure rate back to the original 3.39%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713232" y="457200"/>
            <a:ext cx="2711196" cy="310896"/>
          </a:xfrm>
          <a:prstGeom prst="roundRect">
            <a:avLst>
              <a:gd name="adj" fmla="val 50000"/>
            </a:avLst>
          </a:prstGeom>
          <a:solidFill>
            <a:srgbClr val="E6E1F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5B3FD9"/>
                </a:solidFill>
              </a:rPr>
              <a:t>08 · REMAINING ISSUES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713232" y="89611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 Data Quality Issues</a:t>
            </a:r>
            <a:endParaRPr lang="en-US" sz="3200" dirty="0"/>
          </a:p>
        </p:txBody>
      </p:sp>
      <p:sp>
        <p:nvSpPr>
          <p:cNvPr id="11" name="page-number"/>
          <p:cNvSpPr/>
          <p:nvPr/>
        </p:nvSpPr>
        <p:spPr>
          <a:xfrm>
            <a:off x="10954512" y="6364224"/>
            <a:ext cx="530352" cy="274320"/>
          </a:xfrm>
          <a:prstGeom prst="roundRect">
            <a:avLst>
              <a:gd name="adj" fmla="val 50000"/>
            </a:avLst>
          </a:prstGeom>
          <a:solidFill>
            <a:srgbClr val="17142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12" name="issue-card-1"/>
          <p:cNvSpPr/>
          <p:nvPr/>
        </p:nvSpPr>
        <p:spPr>
          <a:xfrm>
            <a:off x="713232" y="1783080"/>
            <a:ext cx="3438144" cy="43434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1B174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87552" y="205740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ISSUE 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" y="2514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7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flags no longer match some readings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3291840"/>
            <a:ext cx="2926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150" b="1" kern="0" spc="200" dirty="0">
                <a:solidFill>
                  <a:srgbClr val="FF6B4A"/>
                </a:solidFill>
              </a:rPr>
              <a:t>FOUND</a:t>
            </a:r>
            <a:r>
              <a:rPr lang="en-US" sz="1400" dirty="0">
                <a:solidFill>
                  <a:srgbClr val="241F3A"/>
                </a:solidFill>
              </a:rPr>
              <a:t>   In 213 rows (2.1%), imputed or clipped values no longer mathematically reproduce the original HDF, PWF, or OSF flag.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50" b="1" kern="0" spc="200" dirty="0">
                <a:solidFill>
                  <a:srgbClr val="5B3FD9"/>
                </a:solidFill>
              </a:rPr>
              <a:t>WHY WE LEFT IT</a:t>
            </a:r>
            <a:r>
              <a:rPr lang="en-US" sz="1400" dirty="0">
                <a:solidFill>
                  <a:srgbClr val="241F3A"/>
                </a:solidFill>
              </a:rPr>
              <a:t>   Mean-filling and clipping give statistical stand-ins, not the true physical readings. Recalculating flags from them would alter the real historical outcome, so we kept the original ground-truth labels.</a:t>
            </a:r>
            <a:endParaRPr lang="en-US" sz="1400" dirty="0"/>
          </a:p>
        </p:txBody>
      </p:sp>
      <p:sp>
        <p:nvSpPr>
          <p:cNvPr id="16" name="issue-card-2"/>
          <p:cNvSpPr/>
          <p:nvPr/>
        </p:nvSpPr>
        <p:spPr>
          <a:xfrm>
            <a:off x="4379976" y="1783080"/>
            <a:ext cx="3438144" cy="43434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1B174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54296" y="205740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ISSUE 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654296" y="2514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7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quirk of the public dataset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654296" y="3291840"/>
            <a:ext cx="2926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150" b="1" kern="0" spc="200" dirty="0">
                <a:solidFill>
                  <a:srgbClr val="FF6B4A"/>
                </a:solidFill>
              </a:rPr>
              <a:t>FOUND</a:t>
            </a:r>
            <a:r>
              <a:rPr lang="en-US" sz="1400" dirty="0">
                <a:solidFill>
                  <a:srgbClr val="241F3A"/>
                </a:solidFill>
              </a:rPr>
              <a:t>   </a:t>
            </a:r>
            <a:r>
              <a:rPr lang="en-US" sz="1400" b="1" dirty="0">
                <a:solidFill>
                  <a:srgbClr val="241F3A"/>
                </a:solidFill>
              </a:rPr>
              <a:t>27 rows</a:t>
            </a:r>
            <a:r>
              <a:rPr lang="en-US" sz="1400" dirty="0">
                <a:solidFill>
                  <a:srgbClr val="241F3A"/>
                </a:solidFill>
              </a:rPr>
              <a:t> where Machine failure does not match the five failure flags.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50" b="1" kern="0" spc="200" dirty="0">
                <a:solidFill>
                  <a:srgbClr val="5B3FD9"/>
                </a:solidFill>
              </a:rPr>
              <a:t>WHY WE LEFT IT</a:t>
            </a:r>
            <a:r>
              <a:rPr lang="en-US" sz="1400" dirty="0">
                <a:solidFill>
                  <a:srgbClr val="241F3A"/>
                </a:solidFill>
              </a:rPr>
              <a:t>   it exists in the original UCI file, so we document it without altering the ground truth.</a:t>
            </a:r>
            <a:endParaRPr lang="en-US" sz="1400" dirty="0"/>
          </a:p>
        </p:txBody>
      </p:sp>
      <p:sp>
        <p:nvSpPr>
          <p:cNvPr id="20" name="issue-card-3"/>
          <p:cNvSpPr/>
          <p:nvPr/>
        </p:nvSpPr>
        <p:spPr>
          <a:xfrm>
            <a:off x="8046720" y="1783080"/>
            <a:ext cx="3438144" cy="43434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1B174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21040" y="205740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5B3FD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ISSUE 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2514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7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imbalance — 3.39% failures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3291840"/>
            <a:ext cx="2926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41F3A"/>
                </a:solidFill>
              </a:rPr>
              <a:t>A property of the problem, </a:t>
            </a:r>
            <a:r>
              <a:rPr lang="en-US" sz="1400" b="1" dirty="0">
                <a:solidFill>
                  <a:srgbClr val="241F3A"/>
                </a:solidFill>
              </a:rPr>
              <a:t>not a data error</a:t>
            </a:r>
            <a:r>
              <a:rPr lang="en-US" sz="1400" dirty="0">
                <a:solidFill>
                  <a:srgbClr val="241F3A"/>
                </a:solidFill>
              </a:rPr>
              <a:t>. It will be handled at the modeling stage.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13"/>
          <p:cNvSpPr/>
          <p:nvPr/>
        </p:nvSpPr>
        <p:spPr>
          <a:xfrm>
            <a:off x="713232" y="640080"/>
            <a:ext cx="3447288" cy="310896"/>
          </a:xfrm>
          <a:prstGeom prst="roundRect">
            <a:avLst>
              <a:gd name="adj" fmla="val 50000"/>
            </a:avLst>
          </a:prstGeom>
          <a:solidFill>
            <a:srgbClr val="2A254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C8F23D"/>
                </a:solidFill>
              </a:rPr>
              <a:t>09 · CONCLUSION &amp; DISCUSSION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11430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Next</a:t>
            </a:r>
            <a:endParaRPr lang="en-US" sz="46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9C2F0"/>
                </a:solidFill>
              </a:rPr>
              <a:t>The dataset is ready for modeling, with documented limitations.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2697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F23D"/>
                </a:solidFill>
              </a:rPr>
              <a:t>DELIVERABLES</a:t>
            </a:r>
            <a:endParaRPr lang="en-US" sz="1100" dirty="0"/>
          </a:p>
        </p:txBody>
      </p:sp>
      <p:sp>
        <p:nvSpPr>
          <p:cNvPr id="19" name="deliverable-num-1"/>
          <p:cNvSpPr/>
          <p:nvPr/>
        </p:nvSpPr>
        <p:spPr>
          <a:xfrm>
            <a:off x="713232" y="3063240"/>
            <a:ext cx="457200" cy="384048"/>
          </a:xfrm>
          <a:prstGeom prst="roundRect">
            <a:avLst>
              <a:gd name="adj" fmla="val 28571"/>
            </a:avLst>
          </a:prstGeom>
          <a:solidFill>
            <a:srgbClr val="C8F23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142B"/>
                </a:solidFill>
              </a:rPr>
              <a:t>01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306324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cleaned_data.csv</a:t>
            </a:r>
            <a:r>
              <a:rPr lang="en-US" sz="1500" dirty="0">
                <a:solidFill>
                  <a:srgbClr val="FFFFFF"/>
                </a:solidFill>
              </a:rPr>
              <a:t> pushed to GitHub</a:t>
            </a:r>
            <a:endParaRPr lang="en-US" sz="1500" dirty="0"/>
          </a:p>
        </p:txBody>
      </p:sp>
      <p:sp>
        <p:nvSpPr>
          <p:cNvPr id="21" name="deliverable-num-2"/>
          <p:cNvSpPr/>
          <p:nvPr/>
        </p:nvSpPr>
        <p:spPr>
          <a:xfrm>
            <a:off x="713232" y="3593592"/>
            <a:ext cx="457200" cy="384048"/>
          </a:xfrm>
          <a:prstGeom prst="roundRect">
            <a:avLst>
              <a:gd name="adj" fmla="val 28571"/>
            </a:avLst>
          </a:prstGeom>
          <a:solidFill>
            <a:srgbClr val="C8F23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142B"/>
                </a:solidFill>
              </a:rPr>
              <a:t>02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359359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Cleaning notebook showing every step</a:t>
            </a:r>
            <a:endParaRPr lang="en-US" sz="1500" dirty="0"/>
          </a:p>
        </p:txBody>
      </p:sp>
      <p:sp>
        <p:nvSpPr>
          <p:cNvPr id="23" name="deliverable-num-3"/>
          <p:cNvSpPr/>
          <p:nvPr/>
        </p:nvSpPr>
        <p:spPr>
          <a:xfrm>
            <a:off x="713232" y="4123944"/>
            <a:ext cx="457200" cy="384048"/>
          </a:xfrm>
          <a:prstGeom prst="roundRect">
            <a:avLst>
              <a:gd name="adj" fmla="val 28571"/>
            </a:avLst>
          </a:prstGeom>
          <a:solidFill>
            <a:srgbClr val="C8F23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142B"/>
                </a:solidFill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12394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Presentation and documentation</a:t>
            </a:r>
            <a:endParaRPr lang="en-US" sz="1500" dirty="0"/>
          </a:p>
        </p:txBody>
      </p:sp>
      <p:sp>
        <p:nvSpPr>
          <p:cNvPr id="25" name="discussion-card"/>
          <p:cNvSpPr/>
          <p:nvPr/>
        </p:nvSpPr>
        <p:spPr>
          <a:xfrm>
            <a:off x="713232" y="4800600"/>
            <a:ext cx="10771632" cy="1463040"/>
          </a:xfrm>
          <a:prstGeom prst="roundRect">
            <a:avLst>
              <a:gd name="adj" fmla="val 10000"/>
            </a:avLst>
          </a:prstGeom>
          <a:solidFill>
            <a:srgbClr val="2A2547"/>
          </a:solidFill>
          <a:ln w="12700">
            <a:solidFill>
              <a:srgbClr val="2A254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5840" y="4965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F23D"/>
                </a:solidFill>
              </a:rPr>
              <a:t>DISCUSSION QUESTION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" y="5285232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“Only 66 rows have extreme Torque, yet 88% of them failed (vs. 3.4% overall) and they hold 17% of all failures. We capped these values with IQR clipping. Did we lose an important warning sign?”</a:t>
            </a:r>
            <a:endParaRPr lang="en-US" sz="1700" dirty="0"/>
          </a:p>
        </p:txBody>
      </p:sp>
      <p:sp>
        <p:nvSpPr>
          <p:cNvPr id="28" name="page-number"/>
          <p:cNvSpPr/>
          <p:nvPr/>
        </p:nvSpPr>
        <p:spPr>
          <a:xfrm>
            <a:off x="10954512" y="6364224"/>
            <a:ext cx="530352" cy="274320"/>
          </a:xfrm>
          <a:prstGeom prst="roundRect">
            <a:avLst>
              <a:gd name="adj" fmla="val 50000"/>
            </a:avLst>
          </a:prstGeom>
          <a:solidFill>
            <a:srgbClr val="2A254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F23D"/>
                </a:solidFill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sor Violet">
  <a:themeElements>
    <a:clrScheme name="Sensor Violet">
      <a:dk1>
        <a:srgbClr val="241F3A"/>
      </a:dk1>
      <a:lt1>
        <a:srgbClr val="FFFFFF"/>
      </a:lt1>
      <a:dk2>
        <a:srgbClr val="17142B"/>
      </a:dk2>
      <a:lt2>
        <a:srgbClr val="F5F4FA"/>
      </a:lt2>
      <a:accent1>
        <a:srgbClr val="5B3FD9"/>
      </a:accent1>
      <a:accent2>
        <a:srgbClr val="FF6B4A"/>
      </a:accent2>
      <a:accent3>
        <a:srgbClr val="C8F23D"/>
      </a:accent3>
      <a:accent4>
        <a:srgbClr val="E6E1FA"/>
      </a:accent4>
      <a:accent5>
        <a:srgbClr val="6B6685"/>
      </a:accent5>
      <a:accent6>
        <a:srgbClr val="9C97B8"/>
      </a:accent6>
      <a:hlink>
        <a:srgbClr val="5B3FD9"/>
      </a:hlink>
      <a:folHlink>
        <a:srgbClr val="6B6685"/>
      </a:folHlink>
    </a:clrScheme>
    <a:fontScheme name="Sensor Viole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827</Words>
  <Application>Microsoft Office PowerPoint</Application>
  <PresentationFormat>مخصص</PresentationFormat>
  <Paragraphs>149</Paragraphs>
  <Slides>9</Slides>
  <Notes>9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9</vt:i4>
      </vt:variant>
    </vt:vector>
  </HeadingPairs>
  <TitlesOfParts>
    <vt:vector size="10" baseType="lpstr">
      <vt:lpstr>Sensor Violet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Cleaning — Milestone 2</dc:title>
  <dc:subject>PptxGenJS Presentation</dc:subject>
  <dc:creator>PptxGenJS</dc:creator>
  <cp:lastModifiedBy>user</cp:lastModifiedBy>
  <cp:revision>6</cp:revision>
  <dcterms:created xsi:type="dcterms:W3CDTF">2026-10-10T09:04:10Z</dcterms:created>
  <dcterms:modified xsi:type="dcterms:W3CDTF">2026-10-10T09:16:13Z</dcterms:modified>
</cp:coreProperties>
</file>