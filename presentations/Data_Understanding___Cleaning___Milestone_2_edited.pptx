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12192000" cy="6858000"/>
  <p:embeddedFontLst>
    <p:embeddedFont>
      <p:font typeface="JetBrains Mono" charset="0"/>
      <p:regular r:id="rId11"/>
    </p:embeddedFont>
    <p:embeddedFont>
      <p:font typeface="Archivo" charset="0"/>
      <p:regular r:id="rId12"/>
    </p:embeddedFont>
    <p:embeddedFont>
      <p:font typeface="Inter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1"/>
          <p:cNvSpPr/>
          <p:nvPr/>
        </p:nvSpPr>
        <p:spPr>
          <a:xfrm>
            <a:off x="9601200" y="914400"/>
            <a:ext cx="1905000" cy="1905000"/>
          </a:xfrm>
          <a:prstGeom prst="ellipse">
            <a:avLst/>
          </a:prstGeom>
          <a:noFill/>
          <a:ln w="19050">
            <a:solidFill>
              <a:srgbClr val="14A39B">
                <a:alpha val="35000"/>
              </a:srgbClr>
            </a:solidFill>
          </a:ln>
        </p:spPr>
      </p:sp>
      <p:sp>
        <p:nvSpPr>
          <p:cNvPr id="3" name="ring-2"/>
          <p:cNvSpPr/>
          <p:nvPr/>
        </p:nvSpPr>
        <p:spPr>
          <a:xfrm>
            <a:off x="10617200" y="355600"/>
            <a:ext cx="711200" cy="711200"/>
          </a:xfrm>
          <a:prstGeom prst="ellipse">
            <a:avLst/>
          </a:prstGeom>
          <a:noFill/>
          <a:ln w="12700">
            <a:solidFill>
              <a:srgbClr val="14A39B">
                <a:alpha val="20000"/>
              </a:srgbClr>
            </a:solidFill>
          </a:ln>
        </p:spPr>
      </p:sp>
      <p:sp>
        <p:nvSpPr>
          <p:cNvPr id="4" name="ring-3"/>
          <p:cNvSpPr/>
          <p:nvPr/>
        </p:nvSpPr>
        <p:spPr>
          <a:xfrm>
            <a:off x="8890000" y="2286000"/>
            <a:ext cx="330200" cy="330200"/>
          </a:xfrm>
          <a:prstGeom prst="ellipse">
            <a:avLst/>
          </a:prstGeom>
          <a:solidFill>
            <a:srgbClr val="14A39B">
              <a:alpha val="50000"/>
            </a:srgbClr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1879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400" noProof="1">
                <a:solidFill>
                  <a:srgbClr val="14A39B"/>
                </a:solidFill>
                <a:latin typeface="Archivo"/>
                <a:ea typeface="Archivo"/>
              </a:rPr>
              <a:t>MILESTONE 2</a:t>
            </a:r>
            <a:endParaRPr lang="en-US" sz="1300" noProof="1"/>
          </a:p>
        </p:txBody>
      </p:sp>
      <p:sp>
        <p:nvSpPr>
          <p:cNvPr id="6" name="accent-bar"/>
          <p:cNvSpPr/>
          <p:nvPr/>
        </p:nvSpPr>
        <p:spPr>
          <a:xfrm>
            <a:off x="711200" y="2311400"/>
            <a:ext cx="711200" cy="508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7" name="title"/>
          <p:cNvSpPr txBox="1"/>
          <p:nvPr/>
        </p:nvSpPr>
        <p:spPr>
          <a:xfrm>
            <a:off x="711200" y="2540000"/>
            <a:ext cx="101600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 smtClean="0">
                <a:solidFill>
                  <a:srgbClr val="FFFFFF"/>
                </a:solidFill>
                <a:latin typeface="Archivo"/>
                <a:ea typeface="Archivo"/>
              </a:rPr>
              <a:t>Data Cleaning</a:t>
            </a:r>
            <a:endParaRPr lang="en-US" sz="4200" noProof="1"/>
          </a:p>
        </p:txBody>
      </p:sp>
      <p:sp>
        <p:nvSpPr>
          <p:cNvPr id="8" name="subtitle"/>
          <p:cNvSpPr txBox="1"/>
          <p:nvPr/>
        </p:nvSpPr>
        <p:spPr>
          <a:xfrm>
            <a:off x="711200" y="34036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noProof="1">
                <a:solidFill>
                  <a:srgbClr val="9FD8D2"/>
                </a:solidFill>
                <a:latin typeface="Inter"/>
                <a:ea typeface="Inter"/>
              </a:rPr>
              <a:t>Predictive Maintenance Using Machine Learning</a:t>
            </a:r>
            <a:endParaRPr lang="en-US" sz="1900" noProof="1"/>
          </a:p>
        </p:txBody>
      </p:sp>
      <p:sp>
        <p:nvSpPr>
          <p:cNvPr id="9" name="dataset"/>
          <p:cNvSpPr txBox="1"/>
          <p:nvPr/>
        </p:nvSpPr>
        <p:spPr>
          <a:xfrm>
            <a:off x="711200" y="38608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FA9BB"/>
                </a:solidFill>
                <a:latin typeface="Inter"/>
                <a:ea typeface="Inter"/>
              </a:rPr>
              <a:t>Dataset: AI4I 2020 Predictive Maintenance Dataset — UCI Machine Learning Repository</a:t>
            </a:r>
            <a:endParaRPr lang="en-US" sz="1300" noProof="1"/>
          </a:p>
        </p:txBody>
      </p:sp>
      <p:sp>
        <p:nvSpPr>
          <p:cNvPr id="10" name="divider"/>
          <p:cNvSpPr/>
          <p:nvPr/>
        </p:nvSpPr>
        <p:spPr>
          <a:xfrm>
            <a:off x="711200" y="5486400"/>
            <a:ext cx="10769600" cy="12700"/>
          </a:xfrm>
          <a:prstGeom prst="rect">
            <a:avLst/>
          </a:prstGeom>
          <a:solidFill>
            <a:srgbClr val="1E4A63"/>
          </a:solidFill>
          <a:ln>
            <a:noFill/>
          </a:ln>
        </p:spPr>
      </p:sp>
      <p:sp>
        <p:nvSpPr>
          <p:cNvPr id="11" name="team-label"/>
          <p:cNvSpPr txBox="1"/>
          <p:nvPr/>
        </p:nvSpPr>
        <p:spPr>
          <a:xfrm>
            <a:off x="711200" y="5715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TEAM</a:t>
            </a:r>
            <a:endParaRPr lang="en-US" sz="1100" noProof="1"/>
          </a:p>
        </p:txBody>
      </p:sp>
      <p:sp>
        <p:nvSpPr>
          <p:cNvPr id="12" name="team-names"/>
          <p:cNvSpPr txBox="1"/>
          <p:nvPr/>
        </p:nvSpPr>
        <p:spPr>
          <a:xfrm>
            <a:off x="711200" y="59690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 smtClean="0">
                <a:solidFill>
                  <a:srgbClr val="FFFFFF"/>
                </a:solidFill>
                <a:latin typeface="Inter"/>
                <a:ea typeface="Inter"/>
              </a:rPr>
              <a:t>Aiham Bawaneh   ·   Mahmoud Bani-Hani   </a:t>
            </a: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·   Mohammad Aljabali   · Shahed Alkhawaga   ·   </a:t>
            </a:r>
            <a:r>
              <a:rPr lang="en-US" sz="1350" noProof="1" smtClean="0">
                <a:solidFill>
                  <a:srgbClr val="FF0000"/>
                </a:solidFill>
                <a:latin typeface="Inter"/>
                <a:ea typeface="Inter"/>
              </a:rPr>
              <a:t>Reem Aldelki</a:t>
            </a:r>
            <a:endParaRPr lang="en-US" sz="1350" noProof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02 · DATASET OVERVIEW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Dataset Overview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11200" y="1854200"/>
            <a:ext cx="101600" cy="1016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990600" y="177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Source.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AI4I 2020 Predictive Maintenance Dataset, UCI Machine Learning Repository (CC BY 4.0).</a:t>
            </a:r>
            <a:endParaRPr lang="en-US" sz="1300" noProof="1"/>
          </a:p>
        </p:txBody>
      </p:sp>
      <p:sp>
        <p:nvSpPr>
          <p:cNvPr id="7" name="bullet-mark-2"/>
          <p:cNvSpPr/>
          <p:nvPr/>
        </p:nvSpPr>
        <p:spPr>
          <a:xfrm>
            <a:off x="711200" y="2743200"/>
            <a:ext cx="101600" cy="1016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990600" y="2667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Nature.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A synthetic dataset (per UCI) designed to reflect real industrial data.</a:t>
            </a:r>
            <a:endParaRPr lang="en-US" sz="1300" noProof="1"/>
          </a:p>
        </p:txBody>
      </p:sp>
      <p:sp>
        <p:nvSpPr>
          <p:cNvPr id="9" name="bullet-mark-3"/>
          <p:cNvSpPr/>
          <p:nvPr/>
        </p:nvSpPr>
        <p:spPr>
          <a:xfrm>
            <a:off x="711200" y="3632200"/>
            <a:ext cx="101600" cy="1016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990600" y="3556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Target variable.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Machine failure (0 = Normal, 1 = Failure).</a:t>
            </a:r>
            <a:endParaRPr lang="en-US" sz="1300" noProof="1"/>
          </a:p>
        </p:txBody>
      </p:sp>
      <p:sp>
        <p:nvSpPr>
          <p:cNvPr id="11" name="stat-1-num"/>
          <p:cNvSpPr txBox="1"/>
          <p:nvPr/>
        </p:nvSpPr>
        <p:spPr>
          <a:xfrm>
            <a:off x="8229600" y="17526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0F2B46"/>
                </a:solidFill>
                <a:latin typeface="Archivo"/>
                <a:ea typeface="Archivo"/>
              </a:rPr>
              <a:t>10,000</a:t>
            </a:r>
            <a:endParaRPr lang="en-US" sz="3200" noProof="1"/>
          </a:p>
        </p:txBody>
      </p:sp>
      <p:sp>
        <p:nvSpPr>
          <p:cNvPr id="12" name="stat-1-label"/>
          <p:cNvSpPr txBox="1"/>
          <p:nvPr/>
        </p:nvSpPr>
        <p:spPr>
          <a:xfrm>
            <a:off x="8229600" y="22860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rows</a:t>
            </a:r>
            <a:endParaRPr lang="en-US" sz="1150" noProof="1"/>
          </a:p>
        </p:txBody>
      </p:sp>
      <p:sp>
        <p:nvSpPr>
          <p:cNvPr id="13" name="stat-rule-1"/>
          <p:cNvSpPr/>
          <p:nvPr/>
        </p:nvSpPr>
        <p:spPr>
          <a:xfrm>
            <a:off x="8229600" y="2692400"/>
            <a:ext cx="32512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4" name="stat-2-num"/>
          <p:cNvSpPr txBox="1"/>
          <p:nvPr/>
        </p:nvSpPr>
        <p:spPr>
          <a:xfrm>
            <a:off x="8229600" y="29464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0F2B46"/>
                </a:solidFill>
                <a:latin typeface="Archivo"/>
                <a:ea typeface="Archivo"/>
              </a:rPr>
              <a:t>14</a:t>
            </a:r>
            <a:endParaRPr lang="en-US" sz="3200" noProof="1"/>
          </a:p>
        </p:txBody>
      </p:sp>
      <p:sp>
        <p:nvSpPr>
          <p:cNvPr id="15" name="stat-2-label"/>
          <p:cNvSpPr txBox="1"/>
          <p:nvPr/>
        </p:nvSpPr>
        <p:spPr>
          <a:xfrm>
            <a:off x="8229600" y="34798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columns</a:t>
            </a:r>
            <a:endParaRPr lang="en-US" sz="1150" noProof="1"/>
          </a:p>
        </p:txBody>
      </p:sp>
      <p:sp>
        <p:nvSpPr>
          <p:cNvPr id="16" name="stat-rule-2"/>
          <p:cNvSpPr/>
          <p:nvPr/>
        </p:nvSpPr>
        <p:spPr>
          <a:xfrm>
            <a:off x="8229600" y="3886200"/>
            <a:ext cx="32512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7" name="stat-3-num"/>
          <p:cNvSpPr txBox="1"/>
          <p:nvPr/>
        </p:nvSpPr>
        <p:spPr>
          <a:xfrm>
            <a:off x="8229600" y="41402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0F2B46"/>
                </a:solidFill>
                <a:latin typeface="Archivo"/>
                <a:ea typeface="Archivo"/>
              </a:rPr>
              <a:t>5</a:t>
            </a:r>
            <a:endParaRPr lang="en-US" sz="3200" noProof="1"/>
          </a:p>
        </p:txBody>
      </p:sp>
      <p:sp>
        <p:nvSpPr>
          <p:cNvPr id="18" name="stat-3-label"/>
          <p:cNvSpPr txBox="1"/>
          <p:nvPr/>
        </p:nvSpPr>
        <p:spPr>
          <a:xfrm>
            <a:off x="8229600" y="46736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numeric sensor features</a:t>
            </a:r>
            <a:endParaRPr lang="en-US" sz="1150" noProof="1"/>
          </a:p>
        </p:txBody>
      </p:sp>
      <p:sp>
        <p:nvSpPr>
          <p:cNvPr id="19" name="sim-panel"/>
          <p:cNvSpPr/>
          <p:nvPr/>
        </p:nvSpPr>
        <p:spPr>
          <a:xfrm>
            <a:off x="711200" y="5257800"/>
            <a:ext cx="10769600" cy="914400"/>
          </a:xfrm>
          <a:prstGeom prst="rect">
            <a:avLst/>
          </a:prstGeom>
          <a:solidFill>
            <a:srgbClr val="E4F4F2"/>
          </a:solidFill>
          <a:ln>
            <a:noFill/>
          </a:ln>
        </p:spPr>
      </p:sp>
      <p:sp>
        <p:nvSpPr>
          <p:cNvPr id="20" name="sim-bar"/>
          <p:cNvSpPr/>
          <p:nvPr/>
        </p:nvSpPr>
        <p:spPr>
          <a:xfrm>
            <a:off x="711200" y="5257800"/>
            <a:ext cx="50800" cy="9144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21" name="sim-text"/>
          <p:cNvSpPr txBox="1"/>
          <p:nvPr/>
        </p:nvSpPr>
        <p:spPr>
          <a:xfrm>
            <a:off x="990600" y="54102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The simulation.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The original file was already clean. To practice real-world data engineering, we introduced realistic issues (missing values and structural duplicates) into a </a:t>
            </a:r>
            <a:r>
              <a:rPr lang="en-US" sz="1250" noProof="1" smtClean="0">
                <a:solidFill>
                  <a:srgbClr val="22303C"/>
                </a:solidFill>
                <a:latin typeface="Inter"/>
                <a:ea typeface="Inter"/>
              </a:rPr>
              <a:t>copy</a:t>
            </a:r>
            <a:r>
              <a:rPr lang="ar-JO" sz="1250" noProof="1" smtClean="0">
                <a:solidFill>
                  <a:srgbClr val="22303C"/>
                </a:solidFill>
                <a:latin typeface="Inter"/>
                <a:ea typeface="Inter"/>
              </a:rPr>
              <a:t> </a:t>
            </a:r>
            <a:r>
              <a:rPr lang="en-US" sz="1250" noProof="1" smtClean="0">
                <a:solidFill>
                  <a:srgbClr val="22303C"/>
                </a:solidFill>
                <a:latin typeface="Inter"/>
                <a:ea typeface="Inter"/>
              </a:rPr>
              <a:t>:</a:t>
            </a:r>
            <a:r>
              <a:rPr lang="ar-JO" sz="1250" noProof="1" smtClean="0">
                <a:solidFill>
                  <a:srgbClr val="22303C"/>
                </a:solidFill>
                <a:latin typeface="Inter"/>
                <a:ea typeface="Inter"/>
              </a:rPr>
              <a:t> </a:t>
            </a:r>
            <a:r>
              <a:rPr lang="en-US" sz="1250" noProof="1" smtClean="0">
                <a:solidFill>
                  <a:srgbClr val="22303C"/>
                </a:solidFill>
                <a:latin typeface="Inter"/>
                <a:ea typeface="Inter"/>
              </a:rPr>
              <a:t>ai4i2020_dirty.csv</a:t>
            </a:r>
            <a:endParaRPr lang="en-US" sz="1250" noProof="1"/>
          </a:p>
        </p:txBody>
      </p:sp>
      <p:sp>
        <p:nvSpPr>
          <p:cNvPr id="22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23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03 · DATA DICTIONARY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Data Dictionary 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graphicFrame>
        <p:nvGraphicFramePr>
          <p:cNvPr id="5" name="dictionar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475691"/>
              </p:ext>
            </p:extLst>
          </p:nvPr>
        </p:nvGraphicFramePr>
        <p:xfrm>
          <a:off x="711200" y="1574800"/>
          <a:ext cx="7754112" cy="4255770"/>
        </p:xfrm>
        <a:graphic>
          <a:graphicData uri="http://schemas.openxmlformats.org/drawingml/2006/table">
            <a:tbl>
              <a:tblPr/>
              <a:tblGrid>
                <a:gridCol w="2369312"/>
                <a:gridCol w="3984752"/>
                <a:gridCol w="1400048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UDI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Unique row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Product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Quality letter + serial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Product quality: L </a:t>
                      </a:r>
                      <a:r>
                        <a:rPr lang="en-US" sz="1150" noProof="1" smtClean="0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, </a:t>
                      </a:r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M </a:t>
                      </a:r>
                      <a:r>
                        <a:rPr lang="en-US" sz="1150" noProof="1" smtClean="0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, </a:t>
                      </a:r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H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Air temperature [K]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Ambient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Process temperature [K]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Temperature during the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Rotational speed [rpm]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Spindle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Torque [Nm]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Turning 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Tool wear [min]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Minutes the tool has been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Machine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E4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Failure occurred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E4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A39B"/>
                          </a:solidFill>
                          <a:latin typeface="Inter"/>
                          <a:ea typeface="Inter"/>
                        </a:rPr>
                        <a:t>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E4F4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TWF, HDF, PWF, OSF, RNF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Tool wear, heat dissipation, power, overstrain, random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Failure flags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7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04 · DATA QUALITY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Data Quality Check — Before Cleaning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stat-1-num"/>
          <p:cNvSpPr txBox="1"/>
          <p:nvPr/>
        </p:nvSpPr>
        <p:spPr>
          <a:xfrm>
            <a:off x="711200" y="1778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 smtClean="0">
                <a:solidFill>
                  <a:srgbClr val="0F2B46"/>
                </a:solidFill>
                <a:latin typeface="Archivo"/>
                <a:ea typeface="Archivo"/>
              </a:rPr>
              <a:t>10,100</a:t>
            </a:r>
            <a:endParaRPr lang="en-US" sz="3000" noProof="1"/>
          </a:p>
        </p:txBody>
      </p:sp>
      <p:sp>
        <p:nvSpPr>
          <p:cNvPr id="6" name="stat-1-label"/>
          <p:cNvSpPr txBox="1"/>
          <p:nvPr/>
        </p:nvSpPr>
        <p:spPr>
          <a:xfrm>
            <a:off x="711200" y="23114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total rows loaded</a:t>
            </a:r>
            <a:endParaRPr lang="en-US" sz="1150" noProof="1"/>
          </a:p>
        </p:txBody>
      </p:sp>
      <p:sp>
        <p:nvSpPr>
          <p:cNvPr id="7" name="stat-rule-1"/>
          <p:cNvSpPr/>
          <p:nvPr/>
        </p:nvSpPr>
        <p:spPr>
          <a:xfrm>
            <a:off x="711200" y="3149600"/>
            <a:ext cx="38100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8" name="stat-2-num"/>
          <p:cNvSpPr txBox="1"/>
          <p:nvPr/>
        </p:nvSpPr>
        <p:spPr>
          <a:xfrm>
            <a:off x="711200" y="34036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 smtClean="0">
                <a:solidFill>
                  <a:srgbClr val="D96C2C"/>
                </a:solidFill>
                <a:latin typeface="Archivo"/>
                <a:ea typeface="Archivo"/>
              </a:rPr>
              <a:t>4,040</a:t>
            </a:r>
            <a:endParaRPr lang="en-US" sz="3000" noProof="1"/>
          </a:p>
        </p:txBody>
      </p:sp>
      <p:sp>
        <p:nvSpPr>
          <p:cNvPr id="9" name="stat-2-label"/>
          <p:cNvSpPr txBox="1"/>
          <p:nvPr/>
        </p:nvSpPr>
        <p:spPr>
          <a:xfrm>
            <a:off x="711200" y="39370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missing cells across the 5 numeric columns</a:t>
            </a:r>
            <a:endParaRPr lang="en-US" sz="1150" noProof="1"/>
          </a:p>
        </p:txBody>
      </p:sp>
      <p:sp>
        <p:nvSpPr>
          <p:cNvPr id="10" name="stat-rule-2"/>
          <p:cNvSpPr/>
          <p:nvPr/>
        </p:nvSpPr>
        <p:spPr>
          <a:xfrm>
            <a:off x="711200" y="4775200"/>
            <a:ext cx="38100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1" name="stat-3-num"/>
          <p:cNvSpPr txBox="1"/>
          <p:nvPr/>
        </p:nvSpPr>
        <p:spPr>
          <a:xfrm>
            <a:off x="711200" y="5029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 smtClean="0">
                <a:solidFill>
                  <a:srgbClr val="D96C2C"/>
                </a:solidFill>
                <a:latin typeface="Archivo"/>
                <a:ea typeface="Archivo"/>
              </a:rPr>
              <a:t>100</a:t>
            </a:r>
            <a:endParaRPr lang="en-US" sz="3000" noProof="1"/>
          </a:p>
        </p:txBody>
      </p:sp>
      <p:sp>
        <p:nvSpPr>
          <p:cNvPr id="12" name="stat-3-label"/>
          <p:cNvSpPr txBox="1"/>
          <p:nvPr/>
        </p:nvSpPr>
        <p:spPr>
          <a:xfrm>
            <a:off x="711200" y="55626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 smtClean="0">
                <a:solidFill>
                  <a:srgbClr val="5C6E7E"/>
                </a:solidFill>
                <a:latin typeface="Inter"/>
                <a:ea typeface="Inter"/>
              </a:rPr>
              <a:t>100 </a:t>
            </a: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duplicate rows: exact copies of existing rows (100 UDIs appear twice</a:t>
            </a:r>
            <a:r>
              <a:rPr lang="en-US" sz="1150" noProof="1" smtClean="0">
                <a:solidFill>
                  <a:srgbClr val="5C6E7E"/>
                </a:solidFill>
                <a:latin typeface="Inter"/>
                <a:ea typeface="Inter"/>
              </a:rPr>
              <a:t>).</a:t>
            </a:r>
            <a:endParaRPr lang="en-US" sz="1150" noProof="1"/>
          </a:p>
        </p:txBody>
      </p:sp>
      <p:sp>
        <p:nvSpPr>
          <p:cNvPr id="13" name="finding-icon-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5461000" y="1816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D96C2C"/>
          </a:solidFill>
          <a:ln>
            <a:noFill/>
          </a:ln>
        </p:spPr>
      </p:sp>
      <p:sp>
        <p:nvSpPr>
          <p:cNvPr id="14" name="finding-1"/>
          <p:cNvSpPr txBox="1"/>
          <p:nvPr/>
        </p:nvSpPr>
        <p:spPr>
          <a:xfrm>
            <a:off x="5816600" y="1752600"/>
            <a:ext cx="5664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Statistical Outliers: </a:t>
            </a:r>
            <a:r>
              <a:rPr lang="en-US" sz="1250" noProof="1" smtClean="0">
                <a:solidFill>
                  <a:srgbClr val="22303C"/>
                </a:solidFill>
                <a:latin typeface="Inter"/>
                <a:ea typeface="Inter"/>
              </a:rPr>
              <a:t>Boxplots 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and the 1.5×IQR rule revealed extreme values: 394 in Rotational speed and 66 in Torque (none in the other three</a:t>
            </a:r>
            <a:r>
              <a:rPr lang="en-US" sz="1250" noProof="1" smtClean="0">
                <a:solidFill>
                  <a:srgbClr val="22303C"/>
                </a:solidFill>
                <a:latin typeface="Inter"/>
                <a:ea typeface="Inter"/>
              </a:rPr>
              <a:t>).</a:t>
            </a:r>
            <a:endParaRPr lang="en-US" sz="1250" noProof="1"/>
          </a:p>
        </p:txBody>
      </p:sp>
      <p:sp>
        <p:nvSpPr>
          <p:cNvPr id="17" name="finding-icon-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5461000" y="336083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4A39B"/>
          </a:solidFill>
          <a:ln>
            <a:noFill/>
          </a:ln>
        </p:spPr>
      </p:sp>
      <p:sp>
        <p:nvSpPr>
          <p:cNvPr id="18" name="finding-3"/>
          <p:cNvSpPr txBox="1"/>
          <p:nvPr/>
        </p:nvSpPr>
        <p:spPr>
          <a:xfrm>
            <a:off x="5816600" y="3297337"/>
            <a:ext cx="566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Checked and clean.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Type and Product ID — no blanks, valid categories.</a:t>
            </a:r>
            <a:endParaRPr lang="en-US" sz="1250" noProof="1"/>
          </a:p>
        </p:txBody>
      </p:sp>
      <p:sp>
        <p:nvSpPr>
          <p:cNvPr id="19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20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05 · CLEANING DECISIONS — PART 1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Cleaning Decisions: Outliers &amp; Imputation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d1-label"/>
          <p:cNvSpPr txBox="1"/>
          <p:nvPr/>
        </p:nvSpPr>
        <p:spPr>
          <a:xfrm>
            <a:off x="711200" y="1676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1</a:t>
            </a:r>
            <a:endParaRPr lang="en-US" sz="1100" noProof="1"/>
          </a:p>
        </p:txBody>
      </p:sp>
      <p:sp>
        <p:nvSpPr>
          <p:cNvPr id="6" name="d1-headline"/>
          <p:cNvSpPr txBox="1"/>
          <p:nvPr/>
        </p:nvSpPr>
        <p:spPr>
          <a:xfrm>
            <a:off x="711200" y="1905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0F2B46"/>
                </a:solidFill>
                <a:latin typeface="Archivo"/>
                <a:ea typeface="Archivo"/>
              </a:rPr>
              <a:t>Treat statistical outliers using IQR Clipping</a:t>
            </a:r>
            <a:endParaRPr lang="en-US" sz="1800" noProof="1"/>
          </a:p>
        </p:txBody>
      </p:sp>
      <p:sp>
        <p:nvSpPr>
          <p:cNvPr id="7" name="d1-body"/>
          <p:cNvSpPr txBox="1"/>
          <p:nvPr/>
        </p:nvSpPr>
        <p:spPr>
          <a:xfrm>
            <a:off x="711200" y="2336800"/>
            <a:ext cx="10769600" cy="7927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Computed Q1, Q3, and IQR for each numeric sensor feature, then capped extremes with df[col].clip(lower, upper).</a:t>
            </a:r>
            <a:endParaRPr lang="ar-JO" sz="1300" noProof="1" smtClean="0">
              <a:solidFill>
                <a:srgbClr val="22303C"/>
              </a:solidFill>
              <a:latin typeface="Inter"/>
              <a:ea typeface="Inter"/>
            </a:endParaRPr>
          </a:p>
          <a:p>
            <a:pPr>
              <a:lnSpc>
                <a:spcPct val="155000"/>
              </a:lnSpc>
            </a:pPr>
            <a:r>
              <a:rPr lang="en-US" sz="1100" b="1" noProof="1" smtClean="0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To prevent extreme statistical outliers from disproportionately skewing the machine learning model while preserving the core data distribution.</a:t>
            </a:r>
            <a:endParaRPr lang="en-US" sz="1300" noProof="1"/>
          </a:p>
        </p:txBody>
      </p:sp>
      <p:sp>
        <p:nvSpPr>
          <p:cNvPr id="8" name="divider"/>
          <p:cNvSpPr/>
          <p:nvPr/>
        </p:nvSpPr>
        <p:spPr>
          <a:xfrm>
            <a:off x="711200" y="3436151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9" name="d2-label"/>
          <p:cNvSpPr txBox="1"/>
          <p:nvPr/>
        </p:nvSpPr>
        <p:spPr>
          <a:xfrm>
            <a:off x="711200" y="4089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2</a:t>
            </a:r>
            <a:endParaRPr lang="en-US" sz="1100" noProof="1"/>
          </a:p>
        </p:txBody>
      </p:sp>
      <p:sp>
        <p:nvSpPr>
          <p:cNvPr id="10" name="d2-headline"/>
          <p:cNvSpPr txBox="1"/>
          <p:nvPr/>
        </p:nvSpPr>
        <p:spPr>
          <a:xfrm>
            <a:off x="711200" y="4318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0F2B46"/>
                </a:solidFill>
                <a:latin typeface="Archivo"/>
                <a:ea typeface="Archivo"/>
              </a:rPr>
              <a:t>Fill Missing Values with the Mean</a:t>
            </a:r>
            <a:endParaRPr lang="en-US" sz="1800" noProof="1"/>
          </a:p>
        </p:txBody>
      </p:sp>
      <p:sp>
        <p:nvSpPr>
          <p:cNvPr id="11" name="d2-body"/>
          <p:cNvSpPr txBox="1"/>
          <p:nvPr/>
        </p:nvSpPr>
        <p:spPr>
          <a:xfrm>
            <a:off x="711200" y="4749800"/>
            <a:ext cx="10769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Imputed the missing cells using df[col].fillna(df[col].mean()).</a:t>
            </a:r>
            <a:endParaRPr lang="ar-JO" sz="1300" noProof="1" smtClean="0">
              <a:solidFill>
                <a:srgbClr val="22303C"/>
              </a:solidFill>
              <a:latin typeface="Inter"/>
              <a:ea typeface="Inter"/>
            </a:endParaRPr>
          </a:p>
          <a:p>
            <a:pPr>
              <a:lnSpc>
                <a:spcPct val="155000"/>
              </a:lnSpc>
            </a:pPr>
            <a:r>
              <a:rPr lang="en-US" sz="1100" b="1" noProof="1" smtClean="0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About 34% of our rows (3,437) had a blank, so dropping them would remove a third of the dataset. We chose the Mean to preserve the average of the sensor readings, which represents the typical operational baseline of the machines.</a:t>
            </a:r>
            <a:endParaRPr lang="en-US" sz="1300" noProof="1"/>
          </a:p>
        </p:txBody>
      </p:sp>
      <p:sp>
        <p:nvSpPr>
          <p:cNvPr id="12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06 · CLEANING DECISIONS — PART 2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Cleaning Decisions: </a:t>
            </a:r>
            <a:r>
              <a:rPr lang="en-US" sz="2700" b="1" noProof="1" smtClean="0">
                <a:solidFill>
                  <a:srgbClr val="0F2B46"/>
                </a:solidFill>
                <a:latin typeface="Archivo"/>
                <a:ea typeface="Archivo"/>
              </a:rPr>
              <a:t>Duplicates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d3-label"/>
          <p:cNvSpPr txBox="1"/>
          <p:nvPr/>
        </p:nvSpPr>
        <p:spPr>
          <a:xfrm>
            <a:off x="711200" y="1574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3</a:t>
            </a:r>
            <a:endParaRPr lang="en-US" sz="1100" noProof="1"/>
          </a:p>
        </p:txBody>
      </p:sp>
      <p:sp>
        <p:nvSpPr>
          <p:cNvPr id="6" name="d3-headline"/>
          <p:cNvSpPr txBox="1"/>
          <p:nvPr/>
        </p:nvSpPr>
        <p:spPr>
          <a:xfrm>
            <a:off x="711200" y="17780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Remove duplicate rows</a:t>
            </a:r>
            <a:endParaRPr lang="en-US" sz="1600" noProof="1"/>
          </a:p>
        </p:txBody>
      </p:sp>
      <p:sp>
        <p:nvSpPr>
          <p:cNvPr id="7" name="d3-body"/>
          <p:cNvSpPr txBox="1"/>
          <p:nvPr/>
        </p:nvSpPr>
        <p:spPr>
          <a:xfrm>
            <a:off x="711200" y="21082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Applied df.drop_duplicates() and removed 100 exact duplicate rows (10,100 → 10,000, one row per UDI).</a:t>
            </a:r>
            <a:endParaRPr lang="ar-JO" sz="1250" noProof="1" smtClean="0">
              <a:solidFill>
                <a:srgbClr val="22303C"/>
              </a:solidFill>
              <a:latin typeface="Inter"/>
              <a:ea typeface="Inter"/>
            </a:endParaRPr>
          </a:p>
          <a:p>
            <a:pPr>
              <a:lnSpc>
                <a:spcPct val="155000"/>
              </a:lnSpc>
            </a:pPr>
            <a:r>
              <a:rPr lang="en-US" sz="1050" b="1" noProof="1" smtClean="0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All 100 duplicates were exact copies, so comparing full rows removes them safely. This step runs last, after outliers and missing values are handled.</a:t>
            </a:r>
            <a:endParaRPr lang="en-US" sz="1250" noProof="1"/>
          </a:p>
        </p:txBody>
      </p:sp>
      <p:sp>
        <p:nvSpPr>
          <p:cNvPr id="8" name="divider-1"/>
          <p:cNvSpPr/>
          <p:nvPr/>
        </p:nvSpPr>
        <p:spPr>
          <a:xfrm>
            <a:off x="711200" y="3346365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07 · RESULT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Before &amp; After Snapshot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graphicFrame>
        <p:nvGraphicFramePr>
          <p:cNvPr id="5" name="snapsho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325192"/>
              </p:ext>
            </p:extLst>
          </p:nvPr>
        </p:nvGraphicFramePr>
        <p:xfrm>
          <a:off x="711200" y="1600200"/>
          <a:ext cx="10769600" cy="2777236"/>
        </p:xfrm>
        <a:graphic>
          <a:graphicData uri="http://schemas.openxmlformats.org/drawingml/2006/table">
            <a:tbl>
              <a:tblPr/>
              <a:tblGrid>
                <a:gridCol w="3661664"/>
                <a:gridCol w="3230880"/>
                <a:gridCol w="3877056"/>
              </a:tblGrid>
              <a:tr h="508508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D96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14A39B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Total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 smtClean="0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10,100</a:t>
                      </a:r>
                      <a:endParaRPr lang="en-US" sz="1200" noProof="1">
                        <a:solidFill>
                          <a:srgbClr val="B4531B"/>
                        </a:solidFill>
                        <a:latin typeface="Inter"/>
                        <a:ea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Missing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 smtClean="0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4,040</a:t>
                      </a:r>
                      <a:endParaRPr lang="en-US" sz="1200" noProof="1">
                        <a:solidFill>
                          <a:srgbClr val="B4531B"/>
                        </a:solidFill>
                        <a:latin typeface="Inter"/>
                        <a:ea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Duplicate rows (exact copies)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 smtClean="0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100</a:t>
                      </a:r>
                      <a:endParaRPr lang="en-US" sz="1200" noProof="1">
                        <a:solidFill>
                          <a:srgbClr val="B4531B"/>
                        </a:solidFill>
                        <a:latin typeface="Inter"/>
                        <a:ea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Machine failure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3.37%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3.39%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(matches the original)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6" name="takeaway"/>
          <p:cNvSpPr txBox="1"/>
          <p:nvPr/>
        </p:nvSpPr>
        <p:spPr>
          <a:xfrm>
            <a:off x="711200" y="5740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Net effect: </a:t>
            </a:r>
            <a:r>
              <a:rPr lang="en-US" sz="1150" noProof="1" smtClean="0">
                <a:solidFill>
                  <a:srgbClr val="5C6E7E"/>
                </a:solidFill>
                <a:latin typeface="Inter"/>
                <a:ea typeface="Inter"/>
              </a:rPr>
              <a:t>460 </a:t>
            </a: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outlier values capped · </a:t>
            </a:r>
            <a:r>
              <a:rPr lang="en-US" sz="1150" noProof="1" smtClean="0">
                <a:solidFill>
                  <a:srgbClr val="5C6E7E"/>
                </a:solidFill>
                <a:latin typeface="Inter"/>
                <a:ea typeface="Inter"/>
              </a:rPr>
              <a:t>4,040 </a:t>
            </a: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cells filled · </a:t>
            </a:r>
            <a:r>
              <a:rPr lang="en-US" sz="1150" noProof="1" smtClean="0">
                <a:solidFill>
                  <a:srgbClr val="5C6E7E"/>
                </a:solidFill>
                <a:latin typeface="Inter"/>
                <a:ea typeface="Inter"/>
              </a:rPr>
              <a:t>100 </a:t>
            </a: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duplicate rows removed — failure rate back to the original 3.39%</a:t>
            </a:r>
            <a:endParaRPr lang="en-US" sz="1150" noProof="1"/>
          </a:p>
        </p:txBody>
      </p:sp>
      <p:sp>
        <p:nvSpPr>
          <p:cNvPr id="7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 smtClean="0">
                <a:solidFill>
                  <a:srgbClr val="14A39B"/>
                </a:solidFill>
                <a:latin typeface="Archivo"/>
                <a:ea typeface="Archivo"/>
              </a:rPr>
              <a:t>0</a:t>
            </a:r>
            <a:r>
              <a:rPr lang="ar-JO" sz="1100" b="1" kern="0" spc="200" noProof="1" smtClean="0">
                <a:solidFill>
                  <a:srgbClr val="14A39B"/>
                </a:solidFill>
                <a:latin typeface="Archivo"/>
                <a:ea typeface="Archivo"/>
              </a:rPr>
              <a:t>8</a:t>
            </a:r>
            <a:r>
              <a:rPr lang="en-US" sz="1100" b="1" kern="0" spc="200" noProof="1" smtClean="0">
                <a:solidFill>
                  <a:srgbClr val="14A39B"/>
                </a:solidFill>
                <a:latin typeface="Archivo"/>
                <a:ea typeface="Archivo"/>
              </a:rPr>
              <a:t> </a:t>
            </a: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· REMAINING ISSUES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Remaining Data Quality Issues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i1-label"/>
          <p:cNvSpPr txBox="1"/>
          <p:nvPr/>
        </p:nvSpPr>
        <p:spPr>
          <a:xfrm>
            <a:off x="711200" y="1600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D96C2C"/>
                </a:solidFill>
                <a:latin typeface="Archivo"/>
                <a:ea typeface="Archivo"/>
              </a:rPr>
              <a:t>ISSUE 1</a:t>
            </a:r>
            <a:endParaRPr lang="en-US" sz="1100" noProof="1"/>
          </a:p>
        </p:txBody>
      </p:sp>
      <p:sp>
        <p:nvSpPr>
          <p:cNvPr id="6" name="i1-headline"/>
          <p:cNvSpPr txBox="1"/>
          <p:nvPr/>
        </p:nvSpPr>
        <p:spPr>
          <a:xfrm>
            <a:off x="711200" y="18034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Failure flags no longer match some readings</a:t>
            </a:r>
            <a:endParaRPr lang="en-US" sz="1600" noProof="1"/>
          </a:p>
        </p:txBody>
      </p:sp>
      <p:sp>
        <p:nvSpPr>
          <p:cNvPr id="7" name="i1-body"/>
          <p:cNvSpPr txBox="1"/>
          <p:nvPr/>
        </p:nvSpPr>
        <p:spPr>
          <a:xfrm>
            <a:off x="711200" y="21336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D96C2C"/>
                </a:solidFill>
                <a:latin typeface="Archivo"/>
                <a:ea typeface="Archivo"/>
              </a:rPr>
              <a:t>FOUND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In 213 rows (2.1%), imputed or clipped values no longer mathematically reproduce the original HDF, PWF, or OSF </a:t>
            </a:r>
            <a:r>
              <a:rPr lang="en-US" sz="1250" noProof="1" smtClean="0">
                <a:solidFill>
                  <a:srgbClr val="22303C"/>
                </a:solidFill>
                <a:latin typeface="Inter"/>
                <a:ea typeface="Inter"/>
              </a:rPr>
              <a:t>flag.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</a:t>
            </a:r>
            <a:endParaRPr lang="ar-JO" sz="1250" noProof="1" smtClean="0">
              <a:solidFill>
                <a:srgbClr val="22303C"/>
              </a:solidFill>
              <a:latin typeface="Inter"/>
              <a:ea typeface="Inter"/>
            </a:endParaRPr>
          </a:p>
          <a:p>
            <a:pPr>
              <a:lnSpc>
                <a:spcPct val="155000"/>
              </a:lnSpc>
            </a:pPr>
            <a:r>
              <a:rPr lang="en-US" sz="1050" b="1" noProof="1" smtClean="0">
                <a:solidFill>
                  <a:srgbClr val="14A39B"/>
                </a:solidFill>
                <a:latin typeface="Archivo"/>
                <a:ea typeface="Archivo"/>
              </a:rPr>
              <a:t>WHY </a:t>
            </a: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WE LEFT IT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Mean-filling and clipping give statistical stand-ins, not the true physical readings. Recalculating flags from them would alter the real historical outcome, so we kept the original ground-truth labels.</a:t>
            </a:r>
            <a:endParaRPr lang="en-US" sz="1250" noProof="1"/>
          </a:p>
        </p:txBody>
      </p:sp>
      <p:sp>
        <p:nvSpPr>
          <p:cNvPr id="8" name="divider-1"/>
          <p:cNvSpPr/>
          <p:nvPr/>
        </p:nvSpPr>
        <p:spPr>
          <a:xfrm>
            <a:off x="711200" y="3048000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9" name="i2-label"/>
          <p:cNvSpPr txBox="1"/>
          <p:nvPr/>
        </p:nvSpPr>
        <p:spPr>
          <a:xfrm>
            <a:off x="711200" y="3225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D96C2C"/>
                </a:solidFill>
                <a:latin typeface="Archivo"/>
                <a:ea typeface="Archivo"/>
              </a:rPr>
              <a:t>ISSUE 2</a:t>
            </a:r>
            <a:endParaRPr lang="en-US" sz="1100" noProof="1"/>
          </a:p>
        </p:txBody>
      </p:sp>
      <p:sp>
        <p:nvSpPr>
          <p:cNvPr id="10" name="i2-headline"/>
          <p:cNvSpPr txBox="1"/>
          <p:nvPr/>
        </p:nvSpPr>
        <p:spPr>
          <a:xfrm>
            <a:off x="711200" y="34290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Known quirk of the public dataset</a:t>
            </a:r>
            <a:endParaRPr lang="en-US" sz="1600" noProof="1"/>
          </a:p>
        </p:txBody>
      </p:sp>
      <p:sp>
        <p:nvSpPr>
          <p:cNvPr id="11" name="i2-body"/>
          <p:cNvSpPr txBox="1"/>
          <p:nvPr/>
        </p:nvSpPr>
        <p:spPr>
          <a:xfrm>
            <a:off x="711200" y="37592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D96C2C"/>
                </a:solidFill>
                <a:latin typeface="Archivo"/>
                <a:ea typeface="Archivo"/>
              </a:rPr>
              <a:t>FOUND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</a:t>
            </a: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27 rows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where Machine failure does not match the five failure flags.　</a:t>
            </a:r>
            <a:endParaRPr lang="ar-JO" sz="1250" noProof="1" smtClean="0">
              <a:solidFill>
                <a:srgbClr val="22303C"/>
              </a:solidFill>
              <a:latin typeface="Inter"/>
              <a:ea typeface="Inter"/>
            </a:endParaRPr>
          </a:p>
          <a:p>
            <a:pPr>
              <a:lnSpc>
                <a:spcPct val="155000"/>
              </a:lnSpc>
            </a:pPr>
            <a:r>
              <a:rPr lang="en-US" sz="1050" b="1" noProof="1" smtClean="0">
                <a:solidFill>
                  <a:srgbClr val="14A39B"/>
                </a:solidFill>
                <a:latin typeface="Archivo"/>
                <a:ea typeface="Archivo"/>
              </a:rPr>
              <a:t>WHY </a:t>
            </a: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WE LEFT IT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it exists in the original UCI file, so we document it without altering the ground truth.</a:t>
            </a:r>
            <a:endParaRPr lang="en-US" sz="1250" noProof="1"/>
          </a:p>
        </p:txBody>
      </p:sp>
      <p:sp>
        <p:nvSpPr>
          <p:cNvPr id="12" name="divider-2"/>
          <p:cNvSpPr/>
          <p:nvPr/>
        </p:nvSpPr>
        <p:spPr>
          <a:xfrm>
            <a:off x="711200" y="4673600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3" name="i3-label"/>
          <p:cNvSpPr txBox="1"/>
          <p:nvPr/>
        </p:nvSpPr>
        <p:spPr>
          <a:xfrm>
            <a:off x="711200" y="4851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ISSUE 3</a:t>
            </a:r>
            <a:endParaRPr lang="en-US" sz="1100" noProof="1"/>
          </a:p>
        </p:txBody>
      </p:sp>
      <p:sp>
        <p:nvSpPr>
          <p:cNvPr id="14" name="i3-headline"/>
          <p:cNvSpPr txBox="1"/>
          <p:nvPr/>
        </p:nvSpPr>
        <p:spPr>
          <a:xfrm>
            <a:off x="711200" y="50546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Class imbalance — 3.39% failures</a:t>
            </a:r>
            <a:endParaRPr lang="en-US" sz="1600" noProof="1"/>
          </a:p>
        </p:txBody>
      </p:sp>
      <p:sp>
        <p:nvSpPr>
          <p:cNvPr id="15" name="i3-body"/>
          <p:cNvSpPr txBox="1"/>
          <p:nvPr/>
        </p:nvSpPr>
        <p:spPr>
          <a:xfrm>
            <a:off x="711200" y="5384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A property of the problem, </a:t>
            </a: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not a data error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. It will be handled at the modeling stage.</a:t>
            </a:r>
            <a:endParaRPr lang="en-US" sz="1250" noProof="1"/>
          </a:p>
        </p:txBody>
      </p:sp>
      <p:sp>
        <p:nvSpPr>
          <p:cNvPr id="16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ar-JO" sz="1000" noProof="1" smtClean="0">
                <a:solidFill>
                  <a:srgbClr val="5C6E7E"/>
                </a:solidFill>
                <a:latin typeface="Inter"/>
                <a:ea typeface="Inter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8128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 smtClean="0">
                <a:solidFill>
                  <a:srgbClr val="14A39B"/>
                </a:solidFill>
                <a:latin typeface="Archivo"/>
                <a:ea typeface="Archivo"/>
              </a:rPr>
              <a:t>09 </a:t>
            </a: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· CONCLUSION &amp; DISCUSSION</a:t>
            </a:r>
            <a:endParaRPr lang="en-US" sz="1100" noProof="1"/>
          </a:p>
        </p:txBody>
      </p:sp>
      <p:sp>
        <p:nvSpPr>
          <p:cNvPr id="3" name="accent-bar"/>
          <p:cNvSpPr/>
          <p:nvPr/>
        </p:nvSpPr>
        <p:spPr>
          <a:xfrm>
            <a:off x="711200" y="1168400"/>
            <a:ext cx="711200" cy="508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14224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 smtClean="0">
                <a:solidFill>
                  <a:srgbClr val="FFFFFF"/>
                </a:solidFill>
                <a:latin typeface="Archivo"/>
                <a:ea typeface="Archivo"/>
              </a:rPr>
              <a:t>Ready for Next</a:t>
            </a:r>
          </a:p>
        </p:txBody>
      </p:sp>
      <p:sp>
        <p:nvSpPr>
          <p:cNvPr id="5" name="subline"/>
          <p:cNvSpPr txBox="1"/>
          <p:nvPr/>
        </p:nvSpPr>
        <p:spPr>
          <a:xfrm>
            <a:off x="711200" y="20574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BFD3DE"/>
                </a:solidFill>
                <a:latin typeface="Inter"/>
                <a:ea typeface="Inter"/>
              </a:rPr>
              <a:t>The dataset is ready for modeling, </a:t>
            </a:r>
            <a:r>
              <a:rPr lang="en-US" sz="1500" noProof="1" smtClean="0">
                <a:solidFill>
                  <a:srgbClr val="BFD3DE"/>
                </a:solidFill>
                <a:latin typeface="Inter"/>
                <a:ea typeface="Inter"/>
              </a:rPr>
              <a:t>with </a:t>
            </a:r>
            <a:r>
              <a:rPr lang="en-US" sz="1500" noProof="1">
                <a:solidFill>
                  <a:srgbClr val="BFD3DE"/>
                </a:solidFill>
                <a:latin typeface="Inter"/>
                <a:ea typeface="Inter"/>
              </a:rPr>
              <a:t>documented limitations.</a:t>
            </a:r>
            <a:endParaRPr lang="en-US" sz="1500" noProof="1"/>
          </a:p>
        </p:txBody>
      </p:sp>
      <p:sp>
        <p:nvSpPr>
          <p:cNvPr id="6" name="deliv-label"/>
          <p:cNvSpPr txBox="1"/>
          <p:nvPr/>
        </p:nvSpPr>
        <p:spPr>
          <a:xfrm>
            <a:off x="711200" y="2794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DELIVERABLES</a:t>
            </a:r>
            <a:endParaRPr lang="en-US" sz="1100" noProof="1"/>
          </a:p>
        </p:txBody>
      </p:sp>
      <p:sp>
        <p:nvSpPr>
          <p:cNvPr id="7" name="deliv-1-num"/>
          <p:cNvSpPr txBox="1"/>
          <p:nvPr/>
        </p:nvSpPr>
        <p:spPr>
          <a:xfrm>
            <a:off x="711200" y="3149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4A39B"/>
                </a:solidFill>
                <a:latin typeface="Archivo"/>
                <a:ea typeface="Archivo"/>
              </a:rPr>
              <a:t>01</a:t>
            </a:r>
            <a:endParaRPr lang="en-US" sz="1600" noProof="1"/>
          </a:p>
        </p:txBody>
      </p:sp>
      <p:sp>
        <p:nvSpPr>
          <p:cNvPr id="8" name="deliv-1-text"/>
          <p:cNvSpPr txBox="1"/>
          <p:nvPr/>
        </p:nvSpPr>
        <p:spPr>
          <a:xfrm>
            <a:off x="1320800" y="31750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 smtClean="0">
                <a:solidFill>
                  <a:srgbClr val="FFFFFF"/>
                </a:solidFill>
                <a:latin typeface="JetBrains Mono"/>
                <a:ea typeface="JetBrains Mono"/>
              </a:rPr>
              <a:t>cleaned_data.csv</a:t>
            </a:r>
            <a:r>
              <a:rPr lang="en-US" sz="1350" noProof="1" smtClean="0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pushed to GitHub</a:t>
            </a:r>
            <a:endParaRPr lang="en-US" sz="1350" noProof="1"/>
          </a:p>
        </p:txBody>
      </p:sp>
      <p:sp>
        <p:nvSpPr>
          <p:cNvPr id="9" name="deliv-2-num"/>
          <p:cNvSpPr txBox="1"/>
          <p:nvPr/>
        </p:nvSpPr>
        <p:spPr>
          <a:xfrm>
            <a:off x="711200" y="3581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4A39B"/>
                </a:solidFill>
                <a:latin typeface="Archivo"/>
                <a:ea typeface="Archivo"/>
              </a:rPr>
              <a:t>02</a:t>
            </a:r>
            <a:endParaRPr lang="en-US" sz="1600" noProof="1"/>
          </a:p>
        </p:txBody>
      </p:sp>
      <p:sp>
        <p:nvSpPr>
          <p:cNvPr id="10" name="deliv-2-text"/>
          <p:cNvSpPr txBox="1"/>
          <p:nvPr/>
        </p:nvSpPr>
        <p:spPr>
          <a:xfrm>
            <a:off x="1320800" y="3606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Cleaning notebook </a:t>
            </a:r>
            <a:r>
              <a:rPr lang="en-US" sz="1350" noProof="1" smtClean="0">
                <a:solidFill>
                  <a:srgbClr val="FFFFFF"/>
                </a:solidFill>
                <a:latin typeface="Inter"/>
                <a:ea typeface="Inter"/>
              </a:rPr>
              <a:t>showing every step</a:t>
            </a:r>
            <a:endParaRPr lang="en-US" sz="1350" noProof="1"/>
          </a:p>
        </p:txBody>
      </p:sp>
      <p:sp>
        <p:nvSpPr>
          <p:cNvPr id="11" name="deliv-3-num"/>
          <p:cNvSpPr txBox="1"/>
          <p:nvPr/>
        </p:nvSpPr>
        <p:spPr>
          <a:xfrm>
            <a:off x="711200" y="4013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4A39B"/>
                </a:solidFill>
                <a:latin typeface="Archivo"/>
                <a:ea typeface="Archivo"/>
              </a:rPr>
              <a:t>03</a:t>
            </a:r>
            <a:endParaRPr lang="en-US" sz="1600" noProof="1"/>
          </a:p>
        </p:txBody>
      </p:sp>
      <p:sp>
        <p:nvSpPr>
          <p:cNvPr id="12" name="deliv-3-text"/>
          <p:cNvSpPr txBox="1"/>
          <p:nvPr/>
        </p:nvSpPr>
        <p:spPr>
          <a:xfrm>
            <a:off x="1320800" y="40386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Presentation and documentation</a:t>
            </a:r>
            <a:endParaRPr lang="en-US" sz="1350" noProof="1"/>
          </a:p>
        </p:txBody>
      </p:sp>
      <p:sp>
        <p:nvSpPr>
          <p:cNvPr id="13" name="discussion-panel"/>
          <p:cNvSpPr/>
          <p:nvPr/>
        </p:nvSpPr>
        <p:spPr>
          <a:xfrm>
            <a:off x="711200" y="4902200"/>
            <a:ext cx="10769600" cy="1434206"/>
          </a:xfrm>
          <a:prstGeom prst="rect">
            <a:avLst/>
          </a:prstGeom>
          <a:solidFill>
            <a:srgbClr val="14344F"/>
          </a:solidFill>
          <a:ln w="12700">
            <a:solidFill>
              <a:srgbClr val="14A39B"/>
            </a:solidFill>
          </a:ln>
        </p:spPr>
      </p:sp>
      <p:sp>
        <p:nvSpPr>
          <p:cNvPr id="14" name="discussion-label"/>
          <p:cNvSpPr txBox="1"/>
          <p:nvPr/>
        </p:nvSpPr>
        <p:spPr>
          <a:xfrm>
            <a:off x="965200" y="5080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DISCUSSION QUESTION</a:t>
            </a:r>
            <a:endParaRPr lang="en-US" sz="1100" noProof="1"/>
          </a:p>
        </p:txBody>
      </p:sp>
      <p:sp>
        <p:nvSpPr>
          <p:cNvPr id="15" name="discussion-quote"/>
          <p:cNvSpPr txBox="1"/>
          <p:nvPr/>
        </p:nvSpPr>
        <p:spPr>
          <a:xfrm>
            <a:off x="965200" y="5334000"/>
            <a:ext cx="1026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50" i="1" noProof="1" smtClean="0">
                <a:solidFill>
                  <a:srgbClr val="FFFFFF"/>
                </a:solidFill>
                <a:latin typeface="Inter"/>
                <a:ea typeface="Inter"/>
              </a:rPr>
              <a:t>“Rows </a:t>
            </a:r>
            <a:r>
              <a:rPr lang="en-US" sz="1350" i="1" noProof="1">
                <a:solidFill>
                  <a:srgbClr val="FFFFFF"/>
                </a:solidFill>
                <a:latin typeface="Inter"/>
                <a:ea typeface="Inter"/>
              </a:rPr>
              <a:t>with extreme Torque almost always end in failure (88%), but we capped those values. Did capping hide an important warning </a:t>
            </a:r>
            <a:r>
              <a:rPr lang="en-US" sz="1350" i="1" noProof="1">
                <a:solidFill>
                  <a:srgbClr val="FFFFFF"/>
                </a:solidFill>
                <a:latin typeface="Inter"/>
                <a:ea typeface="Inter"/>
              </a:rPr>
              <a:t>sign</a:t>
            </a:r>
            <a:r>
              <a:rPr lang="en-US" sz="1350" i="1" noProof="1" smtClean="0">
                <a:solidFill>
                  <a:srgbClr val="FFFFFF"/>
                </a:solidFill>
                <a:latin typeface="Inter"/>
                <a:ea typeface="Inter"/>
              </a:rPr>
              <a:t>?”</a:t>
            </a:r>
            <a:endParaRPr lang="en-US" sz="135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mtClean="0">
                <a:solidFill>
                  <a:srgbClr val="8FA9BB"/>
                </a:solidFill>
                <a:latin typeface="Inter"/>
                <a:ea typeface="Inter"/>
              </a:rPr>
              <a:t>09</a:t>
            </a:r>
          </a:p>
          <a:p>
            <a:pPr algn="r">
              <a:lnSpc>
                <a:spcPct val="120000"/>
              </a:lnSpc>
            </a:pP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602</Words>
  <Application>Microsoft Office PowerPoint</Application>
  <PresentationFormat>مخصص</PresentationFormat>
  <Paragraphs>137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5" baseType="lpstr">
      <vt:lpstr>Arial</vt:lpstr>
      <vt:lpstr>JetBrains Mono</vt:lpstr>
      <vt:lpstr>Archivo</vt:lpstr>
      <vt:lpstr>Inter</vt:lpstr>
      <vt:lpstr>MiSans</vt:lpstr>
      <vt:lpstr>PPTD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Understanding &amp; Cleaning — Milestone 2</dc:title>
  <cp:lastModifiedBy>user</cp:lastModifiedBy>
  <cp:revision>38</cp:revision>
  <dcterms:modified xsi:type="dcterms:W3CDTF">2026-10-09T20:24:14Z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