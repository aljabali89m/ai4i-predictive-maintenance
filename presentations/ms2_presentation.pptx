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embeddedFontLst>
    <p:embeddedFont>
      <p:font typeface="Archivo" charset="0"/>
      <p:regular r:id="rId12"/>
    </p:embeddedFont>
    <p:embeddedFont>
      <p:font typeface="Inter" charset="0"/>
      <p:regular r:id="rId13"/>
    </p:embeddedFont>
    <p:embeddedFont>
      <p:font typeface="JetBrains Mono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"/>
          <p:cNvSpPr/>
          <p:nvPr/>
        </p:nvSpPr>
        <p:spPr>
          <a:xfrm>
            <a:off x="9601200" y="914400"/>
            <a:ext cx="1905000" cy="1905000"/>
          </a:xfrm>
          <a:prstGeom prst="ellipse">
            <a:avLst/>
          </a:prstGeom>
          <a:noFill/>
          <a:ln w="19050">
            <a:solidFill>
              <a:srgbClr val="14A39B">
                <a:alpha val="35000"/>
              </a:srgbClr>
            </a:solidFill>
          </a:ln>
        </p:spPr>
      </p:sp>
      <p:sp>
        <p:nvSpPr>
          <p:cNvPr id="3" name="ring-2"/>
          <p:cNvSpPr/>
          <p:nvPr/>
        </p:nvSpPr>
        <p:spPr>
          <a:xfrm>
            <a:off x="10617200" y="355600"/>
            <a:ext cx="711200" cy="711200"/>
          </a:xfrm>
          <a:prstGeom prst="ellipse">
            <a:avLst/>
          </a:prstGeom>
          <a:noFill/>
          <a:ln w="12700">
            <a:solidFill>
              <a:srgbClr val="14A39B">
                <a:alpha val="20000"/>
              </a:srgbClr>
            </a:solidFill>
          </a:ln>
        </p:spPr>
      </p:sp>
      <p:sp>
        <p:nvSpPr>
          <p:cNvPr id="4" name="ring-3"/>
          <p:cNvSpPr/>
          <p:nvPr/>
        </p:nvSpPr>
        <p:spPr>
          <a:xfrm>
            <a:off x="8890000" y="2286000"/>
            <a:ext cx="330200" cy="330200"/>
          </a:xfrm>
          <a:prstGeom prst="ellipse">
            <a:avLst/>
          </a:prstGeom>
          <a:solidFill>
            <a:srgbClr val="14A39B">
              <a:alpha val="50000"/>
            </a:srgbClr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711200" y="1879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kern="0" spc="400" noProof="1">
                <a:solidFill>
                  <a:srgbClr val="14A39B"/>
                </a:solidFill>
                <a:latin typeface="Archivo"/>
                <a:ea typeface="Archivo"/>
              </a:rPr>
              <a:t>MILESTONE 2</a:t>
            </a:r>
            <a:endParaRPr lang="en-US" sz="1300" noProof="1"/>
          </a:p>
        </p:txBody>
      </p:sp>
      <p:sp>
        <p:nvSpPr>
          <p:cNvPr id="6" name="accent-bar"/>
          <p:cNvSpPr/>
          <p:nvPr/>
        </p:nvSpPr>
        <p:spPr>
          <a:xfrm>
            <a:off x="711200" y="2311400"/>
            <a:ext cx="711200" cy="508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711200" y="2540000"/>
            <a:ext cx="101600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 smtClean="0">
                <a:solidFill>
                  <a:srgbClr val="FFFFFF"/>
                </a:solidFill>
                <a:latin typeface="Archivo"/>
                <a:ea typeface="Archivo"/>
              </a:rPr>
              <a:t>Data Cleaning</a:t>
            </a:r>
            <a:endParaRPr lang="en-US" sz="4200" noProof="1"/>
          </a:p>
        </p:txBody>
      </p:sp>
      <p:sp>
        <p:nvSpPr>
          <p:cNvPr id="8" name="subtitle"/>
          <p:cNvSpPr txBox="1"/>
          <p:nvPr/>
        </p:nvSpPr>
        <p:spPr>
          <a:xfrm>
            <a:off x="711200" y="34036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noProof="1">
                <a:solidFill>
                  <a:srgbClr val="9FD8D2"/>
                </a:solidFill>
                <a:latin typeface="Inter"/>
                <a:ea typeface="Inter"/>
              </a:rPr>
              <a:t>Predictive Maintenance Using Machine Learning</a:t>
            </a:r>
            <a:endParaRPr lang="en-US" sz="1900" noProof="1"/>
          </a:p>
        </p:txBody>
      </p:sp>
      <p:sp>
        <p:nvSpPr>
          <p:cNvPr id="9" name="dataset"/>
          <p:cNvSpPr txBox="1"/>
          <p:nvPr/>
        </p:nvSpPr>
        <p:spPr>
          <a:xfrm>
            <a:off x="711200" y="38608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8FA9BB"/>
                </a:solidFill>
                <a:latin typeface="Inter"/>
                <a:ea typeface="Inter"/>
              </a:rPr>
              <a:t>Dataset: AI4I 2020 Predictive Maintenance Dataset — UCI Machine Learning Repository</a:t>
            </a:r>
            <a:endParaRPr lang="en-US" sz="1300" noProof="1"/>
          </a:p>
        </p:txBody>
      </p:sp>
      <p:sp>
        <p:nvSpPr>
          <p:cNvPr id="10" name="divider"/>
          <p:cNvSpPr/>
          <p:nvPr/>
        </p:nvSpPr>
        <p:spPr>
          <a:xfrm>
            <a:off x="711200" y="5486400"/>
            <a:ext cx="10769600" cy="12700"/>
          </a:xfrm>
          <a:prstGeom prst="rect">
            <a:avLst/>
          </a:prstGeom>
          <a:solidFill>
            <a:srgbClr val="1E4A63"/>
          </a:solidFill>
          <a:ln>
            <a:noFill/>
          </a:ln>
        </p:spPr>
      </p:sp>
      <p:sp>
        <p:nvSpPr>
          <p:cNvPr id="11" name="team-label"/>
          <p:cNvSpPr txBox="1"/>
          <p:nvPr/>
        </p:nvSpPr>
        <p:spPr>
          <a:xfrm>
            <a:off x="711200" y="5715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TEAM</a:t>
            </a:r>
            <a:endParaRPr lang="en-US" sz="1100" noProof="1"/>
          </a:p>
        </p:txBody>
      </p:sp>
      <p:sp>
        <p:nvSpPr>
          <p:cNvPr id="12" name="team-names"/>
          <p:cNvSpPr txBox="1"/>
          <p:nvPr/>
        </p:nvSpPr>
        <p:spPr>
          <a:xfrm>
            <a:off x="711200" y="59690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Aiham Bawaneh   ·   Mahmoud Bani-Hani   </a:t>
            </a: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·   Mohammad Aljabali   ·   </a:t>
            </a:r>
            <a:r>
              <a:rPr lang="en-US" sz="1350" noProof="1" smtClean="0">
                <a:solidFill>
                  <a:srgbClr val="FF0000"/>
                </a:solidFill>
                <a:latin typeface="Inter"/>
                <a:ea typeface="Inter"/>
              </a:rPr>
              <a:t>Reem Aldelki</a:t>
            </a: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   </a:t>
            </a: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·   </a:t>
            </a: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Shahed Alkhawaga</a:t>
            </a:r>
            <a:endParaRPr lang="en-US" sz="13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02 · DATASET OVERVIEW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Dataset Overview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11200" y="1854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990600" y="177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Source.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AI4I 2020 Predictive Maintenance Dataset, UCI Machine Learning Repository (CC BY 4.0).</a:t>
            </a:r>
            <a:endParaRPr lang="en-US" sz="1300" noProof="1"/>
          </a:p>
        </p:txBody>
      </p:sp>
      <p:sp>
        <p:nvSpPr>
          <p:cNvPr id="7" name="bullet-mark-2"/>
          <p:cNvSpPr/>
          <p:nvPr/>
        </p:nvSpPr>
        <p:spPr>
          <a:xfrm>
            <a:off x="711200" y="2743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990600" y="2667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Nature.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A synthetic dataset (per UCI) designed to reflect real industrial data.</a:t>
            </a:r>
            <a:endParaRPr lang="en-US" sz="1300" noProof="1"/>
          </a:p>
        </p:txBody>
      </p:sp>
      <p:sp>
        <p:nvSpPr>
          <p:cNvPr id="9" name="bullet-mark-3"/>
          <p:cNvSpPr/>
          <p:nvPr/>
        </p:nvSpPr>
        <p:spPr>
          <a:xfrm>
            <a:off x="711200" y="3632200"/>
            <a:ext cx="101600" cy="1016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990600" y="3556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Target variable.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Machine failure (0 = Normal, 1 = Failure).</a:t>
            </a:r>
            <a:endParaRPr lang="en-US" sz="1300" noProof="1"/>
          </a:p>
        </p:txBody>
      </p:sp>
      <p:sp>
        <p:nvSpPr>
          <p:cNvPr id="11" name="stat-1-num"/>
          <p:cNvSpPr txBox="1"/>
          <p:nvPr/>
        </p:nvSpPr>
        <p:spPr>
          <a:xfrm>
            <a:off x="8229600" y="17526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10,000</a:t>
            </a:r>
            <a:endParaRPr lang="en-US" sz="3200" noProof="1"/>
          </a:p>
        </p:txBody>
      </p:sp>
      <p:sp>
        <p:nvSpPr>
          <p:cNvPr id="12" name="stat-1-label"/>
          <p:cNvSpPr txBox="1"/>
          <p:nvPr/>
        </p:nvSpPr>
        <p:spPr>
          <a:xfrm>
            <a:off x="8229600" y="22860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rows</a:t>
            </a:r>
            <a:endParaRPr lang="en-US" sz="1150" noProof="1"/>
          </a:p>
        </p:txBody>
      </p:sp>
      <p:sp>
        <p:nvSpPr>
          <p:cNvPr id="13" name="stat-rule-1"/>
          <p:cNvSpPr/>
          <p:nvPr/>
        </p:nvSpPr>
        <p:spPr>
          <a:xfrm>
            <a:off x="8229600" y="2692400"/>
            <a:ext cx="32512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4" name="stat-2-num"/>
          <p:cNvSpPr txBox="1"/>
          <p:nvPr/>
        </p:nvSpPr>
        <p:spPr>
          <a:xfrm>
            <a:off x="8229600" y="29464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14</a:t>
            </a:r>
            <a:endParaRPr lang="en-US" sz="3200" noProof="1"/>
          </a:p>
        </p:txBody>
      </p:sp>
      <p:sp>
        <p:nvSpPr>
          <p:cNvPr id="15" name="stat-2-label"/>
          <p:cNvSpPr txBox="1"/>
          <p:nvPr/>
        </p:nvSpPr>
        <p:spPr>
          <a:xfrm>
            <a:off x="8229600" y="34798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columns</a:t>
            </a:r>
            <a:endParaRPr lang="en-US" sz="1150" noProof="1"/>
          </a:p>
        </p:txBody>
      </p:sp>
      <p:sp>
        <p:nvSpPr>
          <p:cNvPr id="16" name="stat-rule-2"/>
          <p:cNvSpPr/>
          <p:nvPr/>
        </p:nvSpPr>
        <p:spPr>
          <a:xfrm>
            <a:off x="8229600" y="3886200"/>
            <a:ext cx="32512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7" name="stat-3-num"/>
          <p:cNvSpPr txBox="1"/>
          <p:nvPr/>
        </p:nvSpPr>
        <p:spPr>
          <a:xfrm>
            <a:off x="8229600" y="4140200"/>
            <a:ext cx="3251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>
                <a:solidFill>
                  <a:srgbClr val="0F2B46"/>
                </a:solidFill>
                <a:latin typeface="Archivo"/>
                <a:ea typeface="Archivo"/>
              </a:rPr>
              <a:t>5</a:t>
            </a:r>
            <a:endParaRPr lang="en-US" sz="3200" noProof="1"/>
          </a:p>
        </p:txBody>
      </p:sp>
      <p:sp>
        <p:nvSpPr>
          <p:cNvPr id="18" name="stat-3-label"/>
          <p:cNvSpPr txBox="1"/>
          <p:nvPr/>
        </p:nvSpPr>
        <p:spPr>
          <a:xfrm>
            <a:off x="8229600" y="4673600"/>
            <a:ext cx="325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numeric sensor features</a:t>
            </a:r>
            <a:endParaRPr lang="en-US" sz="1150" noProof="1"/>
          </a:p>
        </p:txBody>
      </p:sp>
      <p:sp>
        <p:nvSpPr>
          <p:cNvPr id="19" name="sim-panel"/>
          <p:cNvSpPr/>
          <p:nvPr/>
        </p:nvSpPr>
        <p:spPr>
          <a:xfrm>
            <a:off x="711200" y="5257800"/>
            <a:ext cx="10769600" cy="914400"/>
          </a:xfrm>
          <a:prstGeom prst="rect">
            <a:avLst/>
          </a:prstGeom>
          <a:solidFill>
            <a:srgbClr val="E4F4F2"/>
          </a:solidFill>
          <a:ln>
            <a:noFill/>
          </a:ln>
        </p:spPr>
      </p:sp>
      <p:sp>
        <p:nvSpPr>
          <p:cNvPr id="20" name="sim-bar"/>
          <p:cNvSpPr/>
          <p:nvPr/>
        </p:nvSpPr>
        <p:spPr>
          <a:xfrm>
            <a:off x="711200" y="5257800"/>
            <a:ext cx="50800" cy="9144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21" name="sim-text"/>
          <p:cNvSpPr txBox="1"/>
          <p:nvPr/>
        </p:nvSpPr>
        <p:spPr>
          <a:xfrm>
            <a:off x="990600" y="5410200"/>
            <a:ext cx="10236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The simulation.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The original file was already clean. To practice real-world data engineering, we introduced realistic issues (missing values, duplicates, sensor errors) into a copy: </a:t>
            </a:r>
            <a:r>
              <a:rPr lang="en-US" sz="1150" noProof="1">
                <a:solidFill>
                  <a:srgbClr val="22303C"/>
                </a:solidFill>
                <a:latin typeface="JetBrains Mono"/>
                <a:ea typeface="JetBrains Mono"/>
              </a:rPr>
              <a:t>not_clean_data.csv</a:t>
            </a:r>
            <a:endParaRPr lang="en-US" sz="1250" noProof="1"/>
          </a:p>
        </p:txBody>
      </p:sp>
      <p:sp>
        <p:nvSpPr>
          <p:cNvPr id="22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23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03 · DATA DICTIONARY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 Dictionary &amp; Physical Limits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graphicFrame>
        <p:nvGraphicFramePr>
          <p:cNvPr id="5" name="dictionary-table"/>
          <p:cNvGraphicFramePr>
            <a:graphicFrameLocks noGrp="1"/>
          </p:cNvGraphicFramePr>
          <p:nvPr/>
        </p:nvGraphicFramePr>
        <p:xfrm>
          <a:off x="711200" y="1574800"/>
          <a:ext cx="10769600" cy="4255770"/>
        </p:xfrm>
        <a:graphic>
          <a:graphicData uri="http://schemas.openxmlformats.org/drawingml/2006/table">
            <a:tbl>
              <a:tblPr/>
              <a:tblGrid>
                <a:gridCol w="2369312"/>
                <a:gridCol w="3984752"/>
                <a:gridCol w="1400048"/>
                <a:gridCol w="3015488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Our valid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UDI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Unique row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Product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Quality letter + serial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n/a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Product quality: L (50%), M (30%), H (20%)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L / M / 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Air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Ambient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280 – 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Process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Temperature during the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290 – 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Rotational speed [rpm]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Spindle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1 – 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Torque [Nm]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Turning 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0.1 –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Tool wear [min]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Minutes the tool has been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0 – 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Machine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Failure occurred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14A39B"/>
                          </a:solidFill>
                          <a:latin typeface="Inter"/>
                          <a:ea typeface="Inter"/>
                        </a:rPr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0 /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E4F4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lang="en-US" sz="115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TWF, HDF, PWF, OSF, RNF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Tool wear, heat dissipation, power, overstrain, random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Failure flags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22303C"/>
                          </a:solidFill>
                          <a:latin typeface="Inter"/>
                          <a:ea typeface="Inter"/>
                        </a:rPr>
                        <a:t>0 /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11200" y="59182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i="1" noProof="1">
                <a:solidFill>
                  <a:srgbClr val="5C6E7E"/>
                </a:solidFill>
                <a:latin typeface="Inter"/>
                <a:ea typeface="Inter"/>
              </a:rPr>
              <a:t>Note: limits are based on physical logic (temperatures near 300 K; speed, torque and wear cannot be negative).</a:t>
            </a:r>
            <a:endParaRPr lang="en-US" sz="1050" noProof="1"/>
          </a:p>
        </p:txBody>
      </p:sp>
      <p:sp>
        <p:nvSpPr>
          <p:cNvPr id="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04 · DATA QUALITY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Data Quality Check — Before Cleaning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stat-1-num"/>
          <p:cNvSpPr txBox="1"/>
          <p:nvPr/>
        </p:nvSpPr>
        <p:spPr>
          <a:xfrm>
            <a:off x="711200" y="17780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0F2B46"/>
                </a:solidFill>
                <a:latin typeface="Archivo"/>
                <a:ea typeface="Archivo"/>
              </a:rPr>
              <a:t>10,200</a:t>
            </a:r>
            <a:endParaRPr lang="en-US" sz="3000" noProof="1"/>
          </a:p>
        </p:txBody>
      </p:sp>
      <p:sp>
        <p:nvSpPr>
          <p:cNvPr id="6" name="stat-1-label"/>
          <p:cNvSpPr txBox="1"/>
          <p:nvPr/>
        </p:nvSpPr>
        <p:spPr>
          <a:xfrm>
            <a:off x="711200" y="23114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total rows loaded</a:t>
            </a:r>
            <a:endParaRPr lang="en-US" sz="1150" noProof="1"/>
          </a:p>
        </p:txBody>
      </p:sp>
      <p:sp>
        <p:nvSpPr>
          <p:cNvPr id="7" name="stat-rule-1"/>
          <p:cNvSpPr/>
          <p:nvPr/>
        </p:nvSpPr>
        <p:spPr>
          <a:xfrm>
            <a:off x="711200" y="3149600"/>
            <a:ext cx="38100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8" name="stat-2-num"/>
          <p:cNvSpPr txBox="1"/>
          <p:nvPr/>
        </p:nvSpPr>
        <p:spPr>
          <a:xfrm>
            <a:off x="711200" y="34036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D96C2C"/>
                </a:solidFill>
                <a:latin typeface="Archivo"/>
                <a:ea typeface="Archivo"/>
              </a:rPr>
              <a:t>7,864</a:t>
            </a:r>
            <a:endParaRPr lang="en-US" sz="3000" noProof="1"/>
          </a:p>
        </p:txBody>
      </p:sp>
      <p:sp>
        <p:nvSpPr>
          <p:cNvPr id="9" name="stat-2-label"/>
          <p:cNvSpPr txBox="1"/>
          <p:nvPr/>
        </p:nvSpPr>
        <p:spPr>
          <a:xfrm>
            <a:off x="711200" y="39370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missing cells across the 5 numeric columns</a:t>
            </a:r>
            <a:endParaRPr lang="en-US" sz="1150" noProof="1"/>
          </a:p>
        </p:txBody>
      </p:sp>
      <p:sp>
        <p:nvSpPr>
          <p:cNvPr id="10" name="stat-rule-2"/>
          <p:cNvSpPr/>
          <p:nvPr/>
        </p:nvSpPr>
        <p:spPr>
          <a:xfrm>
            <a:off x="711200" y="4775200"/>
            <a:ext cx="38100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1" name="stat-3-num"/>
          <p:cNvSpPr txBox="1"/>
          <p:nvPr/>
        </p:nvSpPr>
        <p:spPr>
          <a:xfrm>
            <a:off x="711200" y="50292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000" b="1" noProof="1">
                <a:solidFill>
                  <a:srgbClr val="D96C2C"/>
                </a:solidFill>
                <a:latin typeface="Archivo"/>
                <a:ea typeface="Archivo"/>
              </a:rPr>
              <a:t>200</a:t>
            </a:r>
            <a:endParaRPr lang="en-US" sz="3000" noProof="1"/>
          </a:p>
        </p:txBody>
      </p:sp>
      <p:sp>
        <p:nvSpPr>
          <p:cNvPr id="12" name="stat-3-label"/>
          <p:cNvSpPr txBox="1"/>
          <p:nvPr/>
        </p:nvSpPr>
        <p:spPr>
          <a:xfrm>
            <a:off x="711200" y="55626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rows sharing a UDI — 147 exact copies + 53 near-duplicates with a blank or corrupted cell</a:t>
            </a:r>
            <a:endParaRPr lang="en-US" sz="1150" noProof="1"/>
          </a:p>
        </p:txBody>
      </p:sp>
      <p:sp>
        <p:nvSpPr>
          <p:cNvPr id="13" name="finding-icon-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5461000" y="1816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D96C2C"/>
          </a:solidFill>
          <a:ln>
            <a:noFill/>
          </a:ln>
        </p:spPr>
      </p:sp>
      <p:sp>
        <p:nvSpPr>
          <p:cNvPr id="14" name="finding-1"/>
          <p:cNvSpPr txBox="1"/>
          <p:nvPr/>
        </p:nvSpPr>
        <p:spPr>
          <a:xfrm>
            <a:off x="5816600" y="1752600"/>
            <a:ext cx="566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Impossible values.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Boxplots and describe() revealed air temperature of </a:t>
            </a:r>
            <a:r>
              <a:rPr lang="en-US" sz="1250" b="1" noProof="1">
                <a:solidFill>
                  <a:srgbClr val="B4531B"/>
                </a:solidFill>
                <a:latin typeface="Inter"/>
                <a:ea typeface="Inter"/>
              </a:rPr>
              <a:t>999 K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, negative torque and speed, and tool wear of </a:t>
            </a:r>
            <a:r>
              <a:rPr lang="en-US" sz="1250" b="1" noProof="1">
                <a:solidFill>
                  <a:srgbClr val="B4531B"/>
                </a:solidFill>
                <a:latin typeface="Inter"/>
                <a:ea typeface="Inter"/>
              </a:rPr>
              <a:t>−20 min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.</a:t>
            </a:r>
            <a:endParaRPr lang="en-US" sz="1250" noProof="1"/>
          </a:p>
        </p:txBody>
      </p:sp>
      <p:sp>
        <p:nvSpPr>
          <p:cNvPr id="15" name="finding-icon-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5461000" y="3213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D96C2C"/>
          </a:solidFill>
          <a:ln>
            <a:noFill/>
          </a:ln>
        </p:spPr>
      </p:sp>
      <p:sp>
        <p:nvSpPr>
          <p:cNvPr id="16" name="finding-2"/>
          <p:cNvSpPr txBox="1"/>
          <p:nvPr/>
        </p:nvSpPr>
        <p:spPr>
          <a:xfrm>
            <a:off x="5816600" y="3149600"/>
            <a:ext cx="5664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Data type issue.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Rotational speed and Tool wear loaded as decimals (</a:t>
            </a:r>
            <a:r>
              <a:rPr lang="en-US" sz="1150" noProof="1">
                <a:solidFill>
                  <a:srgbClr val="22303C"/>
                </a:solidFill>
                <a:latin typeface="JetBrains Mono"/>
                <a:ea typeface="JetBrains Mono"/>
              </a:rPr>
              <a:t>float64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) although they are whole numbers.</a:t>
            </a:r>
            <a:endParaRPr lang="en-US" sz="1250" noProof="1"/>
          </a:p>
        </p:txBody>
      </p:sp>
      <p:sp>
        <p:nvSpPr>
          <p:cNvPr id="17" name="finding-icon-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5461000" y="4610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4A39B"/>
          </a:solidFill>
          <a:ln>
            <a:noFill/>
          </a:ln>
        </p:spPr>
      </p:sp>
      <p:sp>
        <p:nvSpPr>
          <p:cNvPr id="18" name="finding-3"/>
          <p:cNvSpPr txBox="1"/>
          <p:nvPr/>
        </p:nvSpPr>
        <p:spPr>
          <a:xfrm>
            <a:off x="5816600" y="4546600"/>
            <a:ext cx="5664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Checked and clean.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Type and Product ID — no blanks, valid categories.</a:t>
            </a:r>
            <a:endParaRPr lang="en-US" sz="1250" noProof="1"/>
          </a:p>
        </p:txBody>
      </p:sp>
      <p:sp>
        <p:nvSpPr>
          <p:cNvPr id="19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05 · CLEANING DECISIONS — PART 1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Cleaning Decisions: Duplicates &amp; Impossible Values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d1-label"/>
          <p:cNvSpPr txBox="1"/>
          <p:nvPr/>
        </p:nvSpPr>
        <p:spPr>
          <a:xfrm>
            <a:off x="711200" y="1676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1</a:t>
            </a:r>
            <a:endParaRPr lang="en-US" sz="1100" noProof="1"/>
          </a:p>
        </p:txBody>
      </p:sp>
      <p:sp>
        <p:nvSpPr>
          <p:cNvPr id="6" name="d1-headline"/>
          <p:cNvSpPr txBox="1"/>
          <p:nvPr/>
        </p:nvSpPr>
        <p:spPr>
          <a:xfrm>
            <a:off x="711200" y="1905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F2B46"/>
                </a:solidFill>
                <a:latin typeface="Archivo"/>
                <a:ea typeface="Archivo"/>
              </a:rPr>
              <a:t>Remove duplicates by UDI</a:t>
            </a:r>
            <a:endParaRPr lang="en-US" sz="1800" noProof="1"/>
          </a:p>
        </p:txBody>
      </p:sp>
      <p:sp>
        <p:nvSpPr>
          <p:cNvPr id="7" name="d1-body"/>
          <p:cNvSpPr txBox="1"/>
          <p:nvPr/>
        </p:nvSpPr>
        <p:spPr>
          <a:xfrm>
            <a:off x="711200" y="2336800"/>
            <a:ext cx="10769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Sorted by UDI and number of blanks; kept the most complete row per UDI (</a:t>
            </a: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200 rows removed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).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</a:t>
            </a:r>
            <a:r>
              <a:rPr lang="en-US" sz="1150" noProof="1">
                <a:solidFill>
                  <a:srgbClr val="22303C"/>
                </a:solidFill>
                <a:latin typeface="JetBrains Mono"/>
                <a:ea typeface="JetBrains Mono"/>
              </a:rPr>
              <a:t>duplicated()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missed 53 rows because their copies differed in a blank or corrupted cell. Removing them first keeps later statistics (like the median) undistorted.</a:t>
            </a:r>
            <a:endParaRPr lang="en-US" sz="1300" noProof="1"/>
          </a:p>
        </p:txBody>
      </p:sp>
      <p:sp>
        <p:nvSpPr>
          <p:cNvPr id="8" name="divider"/>
          <p:cNvSpPr/>
          <p:nvPr/>
        </p:nvSpPr>
        <p:spPr>
          <a:xfrm>
            <a:off x="711200" y="38354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9" name="d2-label"/>
          <p:cNvSpPr txBox="1"/>
          <p:nvPr/>
        </p:nvSpPr>
        <p:spPr>
          <a:xfrm>
            <a:off x="711200" y="4089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2</a:t>
            </a:r>
            <a:endParaRPr lang="en-US" sz="1100" noProof="1"/>
          </a:p>
        </p:txBody>
      </p:sp>
      <p:sp>
        <p:nvSpPr>
          <p:cNvPr id="10" name="d2-headline"/>
          <p:cNvSpPr txBox="1"/>
          <p:nvPr/>
        </p:nvSpPr>
        <p:spPr>
          <a:xfrm>
            <a:off x="711200" y="4318000"/>
            <a:ext cx="889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0F2B46"/>
                </a:solidFill>
                <a:latin typeface="Archivo"/>
                <a:ea typeface="Archivo"/>
              </a:rPr>
              <a:t>Treat impossible values as blanks</a:t>
            </a:r>
            <a:endParaRPr lang="en-US" sz="1800" noProof="1"/>
          </a:p>
        </p:txBody>
      </p:sp>
      <p:sp>
        <p:nvSpPr>
          <p:cNvPr id="11" name="d2-body"/>
          <p:cNvSpPr txBox="1"/>
          <p:nvPr/>
        </p:nvSpPr>
        <p:spPr>
          <a:xfrm>
            <a:off x="711200" y="4749800"/>
            <a:ext cx="107696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Defined physical limits per sensor and set anything outside them to NaN (</a:t>
            </a:r>
            <a:r>
              <a:rPr lang="en-US" sz="1300" b="1" noProof="1">
                <a:solidFill>
                  <a:srgbClr val="22303C"/>
                </a:solidFill>
                <a:latin typeface="Inter"/>
                <a:ea typeface="Inter"/>
              </a:rPr>
              <a:t>30 values — 6 per sensor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).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100" b="1" noProof="1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　IQR clipping is blind to physics. It treated </a:t>
            </a:r>
            <a:r>
              <a:rPr lang="en-US" sz="1300" b="1" noProof="1">
                <a:solidFill>
                  <a:srgbClr val="B4531B"/>
                </a:solidFill>
                <a:latin typeface="Inter"/>
                <a:ea typeface="Inter"/>
              </a:rPr>
              <a:t>−20 min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of wear as valid because its lower bound was −112, and it replaced </a:t>
            </a:r>
            <a:r>
              <a:rPr lang="en-US" sz="1300" b="1" noProof="1">
                <a:solidFill>
                  <a:srgbClr val="B4531B"/>
                </a:solidFill>
                <a:latin typeface="Inter"/>
                <a:ea typeface="Inter"/>
              </a:rPr>
              <a:t>999 K</a:t>
            </a:r>
            <a:r>
              <a:rPr lang="en-US" sz="1300" noProof="1">
                <a:solidFill>
                  <a:srgbClr val="22303C"/>
                </a:solidFill>
                <a:latin typeface="Inter"/>
                <a:ea typeface="Inter"/>
              </a:rPr>
              <a:t> with an invented boundary number.</a:t>
            </a:r>
            <a:endParaRPr lang="en-US" sz="1300" noProof="1"/>
          </a:p>
        </p:txBody>
      </p:sp>
      <p:sp>
        <p:nvSpPr>
          <p:cNvPr id="12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06 · CLEANING DECISIONS — PART 2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Cleaning Decisions: Filling, Types &amp; Outliers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d3-label"/>
          <p:cNvSpPr txBox="1"/>
          <p:nvPr/>
        </p:nvSpPr>
        <p:spPr>
          <a:xfrm>
            <a:off x="711200" y="1574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3</a:t>
            </a:r>
            <a:endParaRPr lang="en-US" sz="1100" noProof="1"/>
          </a:p>
        </p:txBody>
      </p:sp>
      <p:sp>
        <p:nvSpPr>
          <p:cNvPr id="6" name="d3-headline"/>
          <p:cNvSpPr txBox="1"/>
          <p:nvPr/>
        </p:nvSpPr>
        <p:spPr>
          <a:xfrm>
            <a:off x="711200" y="17780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Fill with the median</a:t>
            </a:r>
            <a:endParaRPr lang="en-US" sz="1600" noProof="1"/>
          </a:p>
        </p:txBody>
      </p:sp>
      <p:sp>
        <p:nvSpPr>
          <p:cNvPr id="7" name="d3-body"/>
          <p:cNvSpPr txBox="1"/>
          <p:nvPr/>
        </p:nvSpPr>
        <p:spPr>
          <a:xfrm>
            <a:off x="711200" y="21082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</a:t>
            </a:r>
            <a:r>
              <a:rPr lang="en-US" sz="1100" noProof="1">
                <a:solidFill>
                  <a:srgbClr val="22303C"/>
                </a:solidFill>
                <a:latin typeface="JetBrains Mono"/>
                <a:ea typeface="JetBrains Mono"/>
              </a:rPr>
              <a:t>fillna(median)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on 7,709 cells.　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56% of rows had at least one blank — dropping rows would decimate the data, and the median is robust to skew.</a:t>
            </a:r>
            <a:endParaRPr lang="en-US" sz="1250" noProof="1"/>
          </a:p>
        </p:txBody>
      </p:sp>
      <p:sp>
        <p:nvSpPr>
          <p:cNvPr id="8" name="divider-1"/>
          <p:cNvSpPr/>
          <p:nvPr/>
        </p:nvSpPr>
        <p:spPr>
          <a:xfrm>
            <a:off x="711200" y="28956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9" name="d4-label"/>
          <p:cNvSpPr txBox="1"/>
          <p:nvPr/>
        </p:nvSpPr>
        <p:spPr>
          <a:xfrm>
            <a:off x="711200" y="3073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4</a:t>
            </a:r>
            <a:endParaRPr lang="en-US" sz="1100" noProof="1"/>
          </a:p>
        </p:txBody>
      </p:sp>
      <p:sp>
        <p:nvSpPr>
          <p:cNvPr id="10" name="d4-headline"/>
          <p:cNvSpPr txBox="1"/>
          <p:nvPr/>
        </p:nvSpPr>
        <p:spPr>
          <a:xfrm>
            <a:off x="711200" y="32766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Restore integer types</a:t>
            </a:r>
            <a:endParaRPr lang="en-US" sz="1600" noProof="1"/>
          </a:p>
        </p:txBody>
      </p:sp>
      <p:sp>
        <p:nvSpPr>
          <p:cNvPr id="11" name="d4-body"/>
          <p:cNvSpPr txBox="1"/>
          <p:nvPr/>
        </p:nvSpPr>
        <p:spPr>
          <a:xfrm>
            <a:off x="711200" y="36068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Rounded and converted Rotational speed and Tool wear to </a:t>
            </a:r>
            <a:r>
              <a:rPr lang="en-US" sz="1100" noProof="1">
                <a:solidFill>
                  <a:srgbClr val="22303C"/>
                </a:solidFill>
                <a:latin typeface="JetBrains Mono"/>
                <a:ea typeface="JetBrains Mono"/>
              </a:rPr>
              <a:t>int64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.　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a column containing blanks is stored as </a:t>
            </a:r>
            <a:r>
              <a:rPr lang="en-US" sz="1100" noProof="1">
                <a:solidFill>
                  <a:srgbClr val="22303C"/>
                </a:solidFill>
                <a:latin typeface="JetBrains Mono"/>
                <a:ea typeface="JetBrains Mono"/>
              </a:rPr>
              <a:t>float64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and stays that way after filling — we restored the true whole-number type.</a:t>
            </a:r>
            <a:endParaRPr lang="en-US" sz="1250" noProof="1"/>
          </a:p>
        </p:txBody>
      </p:sp>
      <p:sp>
        <p:nvSpPr>
          <p:cNvPr id="12" name="divider-2"/>
          <p:cNvSpPr/>
          <p:nvPr/>
        </p:nvSpPr>
        <p:spPr>
          <a:xfrm>
            <a:off x="711200" y="43942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3" name="d5-label"/>
          <p:cNvSpPr txBox="1"/>
          <p:nvPr/>
        </p:nvSpPr>
        <p:spPr>
          <a:xfrm>
            <a:off x="711200" y="4572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DECISION 5</a:t>
            </a:r>
            <a:endParaRPr lang="en-US" sz="1100" noProof="1"/>
          </a:p>
        </p:txBody>
      </p:sp>
      <p:sp>
        <p:nvSpPr>
          <p:cNvPr id="14" name="d5-headline"/>
          <p:cNvSpPr txBox="1"/>
          <p:nvPr/>
        </p:nvSpPr>
        <p:spPr>
          <a:xfrm>
            <a:off x="711200" y="47752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Keep natural outliers</a:t>
            </a:r>
            <a:endParaRPr lang="en-US" sz="1600" noProof="1"/>
          </a:p>
        </p:txBody>
      </p:sp>
      <p:sp>
        <p:nvSpPr>
          <p:cNvPr id="15" name="d5-body"/>
          <p:cNvSpPr txBox="1"/>
          <p:nvPr/>
        </p:nvSpPr>
        <p:spPr>
          <a:xfrm>
            <a:off x="711200" y="51054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ACTION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We did 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not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delete or clip valid statistical outliers.　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REASON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extreme values are symptoms of failure — 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88.7% of Torque outliers are failures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(62 rows) versus 3.39% overall. Removing them would blind the model.</a:t>
            </a:r>
            <a:endParaRPr lang="en-US" sz="1250" noProof="1"/>
          </a:p>
        </p:txBody>
      </p:sp>
      <p:sp>
        <p:nvSpPr>
          <p:cNvPr id="16" name="footnote"/>
          <p:cNvSpPr txBox="1"/>
          <p:nvPr/>
        </p:nvSpPr>
        <p:spPr>
          <a:xfrm>
            <a:off x="711200" y="59436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i="1" noProof="1">
                <a:solidFill>
                  <a:srgbClr val="5C6E7E"/>
                </a:solidFill>
                <a:latin typeface="Inter"/>
                <a:ea typeface="Inter"/>
              </a:rPr>
              <a:t>7,709 = 7,679 blanks left after removing duplicates + 30 impossible values.</a:t>
            </a:r>
            <a:endParaRPr lang="en-US" sz="1050" noProof="1"/>
          </a:p>
        </p:txBody>
      </p:sp>
      <p:sp>
        <p:nvSpPr>
          <p:cNvPr id="1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07 · RESULT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Before &amp; After Snapshot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graphicFrame>
        <p:nvGraphicFramePr>
          <p:cNvPr id="5" name="snapshot-table"/>
          <p:cNvGraphicFramePr>
            <a:graphicFrameLocks noGrp="1"/>
          </p:cNvGraphicFramePr>
          <p:nvPr/>
        </p:nvGraphicFramePr>
        <p:xfrm>
          <a:off x="711200" y="1600200"/>
          <a:ext cx="10769600" cy="3911600"/>
        </p:xfrm>
        <a:graphic>
          <a:graphicData uri="http://schemas.openxmlformats.org/drawingml/2006/table">
            <a:tbl>
              <a:tblPr/>
              <a:tblGrid>
                <a:gridCol w="3661664"/>
                <a:gridCol w="3230880"/>
                <a:gridCol w="3877056"/>
              </a:tblGrid>
              <a:tr h="508508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Before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D96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14A39B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Total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Missing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7,864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Rows sharing a UDI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(includes the 147 exact copies)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Impossible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(set to NaN, then median-filled)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Speed &amp; Wear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B4531B"/>
                          </a:solidFill>
                          <a:latin typeface="JetBrains Mono"/>
                          <a:ea typeface="JetBrains Mono"/>
                        </a:rPr>
                        <a:t>float64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0F2B46"/>
                          </a:solidFill>
                          <a:latin typeface="JetBrains Mono"/>
                          <a:ea typeface="JetBrains Mono"/>
                        </a:rPr>
                        <a:t>int64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71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Machine failure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3.35%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3.39%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(matches the original)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 txBox="1"/>
          <p:nvPr/>
        </p:nvSpPr>
        <p:spPr>
          <a:xfrm>
            <a:off x="711200" y="5740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C6E7E"/>
                </a:solidFill>
                <a:latin typeface="Inter"/>
                <a:ea typeface="Inter"/>
              </a:rPr>
              <a:t>Net effect: 200 duplicate rows removed · 7,709 cells filled · 30 impossible values treated — failure rate unchanged.</a:t>
            </a:r>
            <a:endParaRPr lang="en-US" sz="1150" noProof="1"/>
          </a:p>
        </p:txBody>
      </p:sp>
      <p:sp>
        <p:nvSpPr>
          <p:cNvPr id="7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08 · RESULT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9652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Summary Statistics — Before → After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graphicFrame>
        <p:nvGraphicFramePr>
          <p:cNvPr id="5" name="stats-table"/>
          <p:cNvGraphicFramePr>
            <a:graphicFrameLocks noGrp="1"/>
          </p:cNvGraphicFramePr>
          <p:nvPr/>
        </p:nvGraphicFramePr>
        <p:xfrm>
          <a:off x="711200" y="1574800"/>
          <a:ext cx="10769600" cy="3759198"/>
        </p:xfrm>
        <a:graphic>
          <a:graphicData uri="http://schemas.openxmlformats.org/drawingml/2006/table">
            <a:tbl>
              <a:tblPr/>
              <a:tblGrid>
                <a:gridCol w="3015488"/>
                <a:gridCol w="2584704"/>
                <a:gridCol w="2584704"/>
                <a:gridCol w="2584704"/>
              </a:tblGrid>
              <a:tr h="526288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FFFFFF"/>
                          </a:solidFill>
                          <a:latin typeface="Inter"/>
                          <a:ea typeface="Inter"/>
                        </a:rPr>
                        <a:t>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0F2B46"/>
                    </a:solidFill>
                  </a:tcPr>
                </a:tc>
              </a:tr>
              <a:tr h="6465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Air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150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295.3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999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304.4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300.18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300.02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5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Process temperature [K]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305.7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1,000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313.8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310.18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310.02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6465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Rotational speed [rpm]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−100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1,168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100,000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2,874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1,572.20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1,533.36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65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Torque [Nm]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−50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1,000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76.6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40.34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40.03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3F8F7"/>
                    </a:solidFill>
                  </a:tcPr>
                </a:tc>
              </a:tr>
              <a:tr h="646582">
                <a:tc>
                  <a:txBody>
                    <a:bodyPr/>
                    <a:lstStyle/>
                    <a:p>
                      <a:pPr algn="l"/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Tool wear [min]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−20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5,000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251</a:t>
                      </a:r>
                      <a:r>
                        <a:rPr lang="en-US" sz="1000" noProof="1">
                          <a:solidFill>
                            <a:srgbClr val="D96C2C"/>
                          </a:solidFill>
                          <a:latin typeface="Inter"/>
                          <a:ea typeface="Inter"/>
                        </a:rPr>
                        <a:t> (verify)*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B4531B"/>
                          </a:solidFill>
                          <a:latin typeface="Inter"/>
                          <a:ea typeface="Inter"/>
                        </a:rPr>
                        <a:t>109.42</a:t>
                      </a:r>
                      <a:r>
                        <a:rPr lang="en-US" sz="1200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 → </a:t>
                      </a:r>
                      <a:r>
                        <a:rPr lang="en-US" sz="1200" b="1" noProof="1">
                          <a:solidFill>
                            <a:srgbClr val="0F2B46"/>
                          </a:solidFill>
                          <a:latin typeface="Inter"/>
                          <a:ea typeface="Inter"/>
                        </a:rPr>
                        <a:t>108.09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9E2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note"/>
          <p:cNvSpPr txBox="1"/>
          <p:nvPr/>
        </p:nvSpPr>
        <p:spPr>
          <a:xfrm>
            <a:off x="711200" y="5486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i="1" noProof="1">
                <a:solidFill>
                  <a:srgbClr val="5C6E7E"/>
                </a:solidFill>
                <a:latin typeface="Inter"/>
                <a:ea typeface="Inter"/>
              </a:rPr>
              <a:t>* Run max() on Tool wear in your final cleaned file and confirm the value (251) before presenting.</a:t>
            </a:r>
            <a:endParaRPr lang="en-US" sz="1050" noProof="1"/>
          </a:p>
        </p:txBody>
      </p:sp>
      <p:sp>
        <p:nvSpPr>
          <p:cNvPr id="7" name="concl-panel"/>
          <p:cNvSpPr/>
          <p:nvPr/>
        </p:nvSpPr>
        <p:spPr>
          <a:xfrm>
            <a:off x="711200" y="5816600"/>
            <a:ext cx="10769600" cy="533400"/>
          </a:xfrm>
          <a:prstGeom prst="rect">
            <a:avLst/>
          </a:prstGeom>
          <a:solidFill>
            <a:srgbClr val="E4F4F2"/>
          </a:solidFill>
          <a:ln>
            <a:noFill/>
          </a:ln>
        </p:spPr>
      </p:sp>
      <p:sp>
        <p:nvSpPr>
          <p:cNvPr id="8" name="concl-bar"/>
          <p:cNvSpPr/>
          <p:nvPr/>
        </p:nvSpPr>
        <p:spPr>
          <a:xfrm>
            <a:off x="711200" y="5816600"/>
            <a:ext cx="50800" cy="5334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9" name="concl-text"/>
          <p:cNvSpPr txBox="1"/>
          <p:nvPr/>
        </p:nvSpPr>
        <p:spPr>
          <a:xfrm>
            <a:off x="990600" y="5816600"/>
            <a:ext cx="10236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300" b="1" noProof="1">
                <a:solidFill>
                  <a:srgbClr val="0F2B46"/>
                </a:solidFill>
                <a:latin typeface="Inter"/>
                <a:ea typeface="Inter"/>
              </a:rPr>
              <a:t>Conclusion:</a:t>
            </a:r>
            <a:r>
              <a:rPr lang="en-US" sz="1300" noProof="1">
                <a:solidFill>
                  <a:srgbClr val="0F2B46"/>
                </a:solidFill>
                <a:latin typeface="Inter"/>
                <a:ea typeface="Inter"/>
              </a:rPr>
              <a:t> every range is now physically realistic, and the means are back to expected operational values.</a:t>
            </a:r>
            <a:endParaRPr lang="en-US" sz="1300" noProof="1"/>
          </a:p>
        </p:txBody>
      </p:sp>
      <p:sp>
        <p:nvSpPr>
          <p:cNvPr id="10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5334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09 · REMAINING ISSUES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787400"/>
            <a:ext cx="889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700" b="1" noProof="1">
                <a:solidFill>
                  <a:srgbClr val="0F2B46"/>
                </a:solidFill>
                <a:latin typeface="Archivo"/>
                <a:ea typeface="Archivo"/>
              </a:rPr>
              <a:t>Remaining Data Quality Issues</a:t>
            </a:r>
            <a:endParaRPr lang="en-US" sz="2700" noProof="1"/>
          </a:p>
        </p:txBody>
      </p:sp>
      <p:sp>
        <p:nvSpPr>
          <p:cNvPr id="4" name="accent-bar"/>
          <p:cNvSpPr/>
          <p:nvPr/>
        </p:nvSpPr>
        <p:spPr>
          <a:xfrm>
            <a:off x="711200" y="1371600"/>
            <a:ext cx="609600" cy="381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5" name="i1-label"/>
          <p:cNvSpPr txBox="1"/>
          <p:nvPr/>
        </p:nvSpPr>
        <p:spPr>
          <a:xfrm>
            <a:off x="711200" y="1600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D96C2C"/>
                </a:solidFill>
                <a:latin typeface="Archivo"/>
                <a:ea typeface="Archivo"/>
              </a:rPr>
              <a:t>ISSUE 1</a:t>
            </a:r>
            <a:endParaRPr lang="en-US" sz="1100" noProof="1"/>
          </a:p>
        </p:txBody>
      </p:sp>
      <p:sp>
        <p:nvSpPr>
          <p:cNvPr id="6" name="i1-headline"/>
          <p:cNvSpPr txBox="1"/>
          <p:nvPr/>
        </p:nvSpPr>
        <p:spPr>
          <a:xfrm>
            <a:off x="711200" y="18034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Failure flags no longer match some readings</a:t>
            </a:r>
            <a:endParaRPr lang="en-US" sz="1600" noProof="1"/>
          </a:p>
        </p:txBody>
      </p:sp>
      <p:sp>
        <p:nvSpPr>
          <p:cNvPr id="7" name="i1-body"/>
          <p:cNvSpPr txBox="1"/>
          <p:nvPr/>
        </p:nvSpPr>
        <p:spPr>
          <a:xfrm>
            <a:off x="711200" y="21336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D96C2C"/>
                </a:solidFill>
                <a:latin typeface="Archivo"/>
                <a:ea typeface="Archivo"/>
              </a:rPr>
              <a:t>FOUND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In 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224 rows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(100 HDF, 100 PWF, 32 OSF), sensor values no longer reproduce the original flag.　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WHY WE LEFT IT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median-filling gives a stand-in, not the true reading; recalculating flags would alter the real historical outcome, so we kept the original labels.</a:t>
            </a:r>
            <a:endParaRPr lang="en-US" sz="1250" noProof="1"/>
          </a:p>
        </p:txBody>
      </p:sp>
      <p:sp>
        <p:nvSpPr>
          <p:cNvPr id="8" name="divider-1"/>
          <p:cNvSpPr/>
          <p:nvPr/>
        </p:nvSpPr>
        <p:spPr>
          <a:xfrm>
            <a:off x="711200" y="30480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9" name="i2-label"/>
          <p:cNvSpPr txBox="1"/>
          <p:nvPr/>
        </p:nvSpPr>
        <p:spPr>
          <a:xfrm>
            <a:off x="711200" y="3225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D96C2C"/>
                </a:solidFill>
                <a:latin typeface="Archivo"/>
                <a:ea typeface="Archivo"/>
              </a:rPr>
              <a:t>ISSUE 2</a:t>
            </a:r>
            <a:endParaRPr lang="en-US" sz="1100" noProof="1"/>
          </a:p>
        </p:txBody>
      </p:sp>
      <p:sp>
        <p:nvSpPr>
          <p:cNvPr id="10" name="i2-headline"/>
          <p:cNvSpPr txBox="1"/>
          <p:nvPr/>
        </p:nvSpPr>
        <p:spPr>
          <a:xfrm>
            <a:off x="711200" y="34290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Known quirk of the public dataset</a:t>
            </a:r>
            <a:endParaRPr lang="en-US" sz="1600" noProof="1"/>
          </a:p>
        </p:txBody>
      </p:sp>
      <p:sp>
        <p:nvSpPr>
          <p:cNvPr id="11" name="i2-body"/>
          <p:cNvSpPr txBox="1"/>
          <p:nvPr/>
        </p:nvSpPr>
        <p:spPr>
          <a:xfrm>
            <a:off x="711200" y="37592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D96C2C"/>
                </a:solidFill>
                <a:latin typeface="Archivo"/>
                <a:ea typeface="Archivo"/>
              </a:rPr>
              <a:t>FOUND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27 rows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 where Machine failure does not match the five failure flags.　</a:t>
            </a:r>
            <a:r>
              <a:rPr lang="en-US" sz="1050" b="1" noProof="1">
                <a:solidFill>
                  <a:srgbClr val="14A39B"/>
                </a:solidFill>
                <a:latin typeface="Archivo"/>
                <a:ea typeface="Archivo"/>
              </a:rPr>
              <a:t>WHY WE LEFT IT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　it exists in the original UCI file, so we document it without altering the ground truth.</a:t>
            </a:r>
            <a:endParaRPr lang="en-US" sz="1250" noProof="1"/>
          </a:p>
        </p:txBody>
      </p:sp>
      <p:sp>
        <p:nvSpPr>
          <p:cNvPr id="12" name="divider-2"/>
          <p:cNvSpPr/>
          <p:nvPr/>
        </p:nvSpPr>
        <p:spPr>
          <a:xfrm>
            <a:off x="711200" y="4673600"/>
            <a:ext cx="10769600" cy="12700"/>
          </a:xfrm>
          <a:prstGeom prst="rect">
            <a:avLst/>
          </a:prstGeom>
          <a:solidFill>
            <a:srgbClr val="D9E2E8"/>
          </a:solidFill>
          <a:ln>
            <a:noFill/>
          </a:ln>
        </p:spPr>
      </p:sp>
      <p:sp>
        <p:nvSpPr>
          <p:cNvPr id="13" name="i3-label"/>
          <p:cNvSpPr txBox="1"/>
          <p:nvPr/>
        </p:nvSpPr>
        <p:spPr>
          <a:xfrm>
            <a:off x="711200" y="4851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ISSUE 3</a:t>
            </a:r>
            <a:endParaRPr lang="en-US" sz="1100" noProof="1"/>
          </a:p>
        </p:txBody>
      </p:sp>
      <p:sp>
        <p:nvSpPr>
          <p:cNvPr id="14" name="i3-headline"/>
          <p:cNvSpPr txBox="1"/>
          <p:nvPr/>
        </p:nvSpPr>
        <p:spPr>
          <a:xfrm>
            <a:off x="711200" y="50546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2B46"/>
                </a:solidFill>
                <a:latin typeface="Archivo"/>
                <a:ea typeface="Archivo"/>
              </a:rPr>
              <a:t>Class imbalance — 3.39% failures</a:t>
            </a:r>
            <a:endParaRPr lang="en-US" sz="1600" noProof="1"/>
          </a:p>
        </p:txBody>
      </p:sp>
      <p:sp>
        <p:nvSpPr>
          <p:cNvPr id="15" name="i3-body"/>
          <p:cNvSpPr txBox="1"/>
          <p:nvPr/>
        </p:nvSpPr>
        <p:spPr>
          <a:xfrm>
            <a:off x="711200" y="5384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A property of the problem, </a:t>
            </a:r>
            <a:r>
              <a:rPr lang="en-US" sz="1250" b="1" noProof="1">
                <a:solidFill>
                  <a:srgbClr val="22303C"/>
                </a:solidFill>
                <a:latin typeface="Inter"/>
                <a:ea typeface="Inter"/>
              </a:rPr>
              <a:t>not a data error</a:t>
            </a:r>
            <a:r>
              <a:rPr lang="en-US" sz="1250" noProof="1">
                <a:solidFill>
                  <a:srgbClr val="22303C"/>
                </a:solidFill>
                <a:latin typeface="Inter"/>
                <a:ea typeface="Inter"/>
              </a:rPr>
              <a:t>. It will be handled at the modeling stage.</a:t>
            </a:r>
            <a:endParaRPr lang="en-US" sz="1250" noProof="1"/>
          </a:p>
        </p:txBody>
      </p:sp>
      <p:sp>
        <p:nvSpPr>
          <p:cNvPr id="16" name="footer-left"/>
          <p:cNvSpPr txBox="1"/>
          <p:nvPr/>
        </p:nvSpPr>
        <p:spPr>
          <a:xfrm>
            <a:off x="711200" y="65024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Data Understanding &amp; Cleaning · Milestone 2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C6E7E"/>
                </a:solidFill>
                <a:latin typeface="Inter"/>
                <a:ea typeface="Inter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8128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10 · CONCLUSION &amp; DISCUSSION</a:t>
            </a:r>
            <a:endParaRPr lang="en-US" sz="1100" noProof="1"/>
          </a:p>
        </p:txBody>
      </p:sp>
      <p:sp>
        <p:nvSpPr>
          <p:cNvPr id="3" name="accent-bar"/>
          <p:cNvSpPr/>
          <p:nvPr/>
        </p:nvSpPr>
        <p:spPr>
          <a:xfrm>
            <a:off x="711200" y="1168400"/>
            <a:ext cx="711200" cy="50800"/>
          </a:xfrm>
          <a:prstGeom prst="rect">
            <a:avLst/>
          </a:prstGeom>
          <a:solidFill>
            <a:srgbClr val="14A39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1200" y="1422400"/>
            <a:ext cx="8890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200" b="1" noProof="1" smtClean="0">
                <a:solidFill>
                  <a:srgbClr val="FFFFFF"/>
                </a:solidFill>
                <a:latin typeface="Archivo"/>
                <a:ea typeface="Archivo"/>
              </a:rPr>
              <a:t>Ready for Next</a:t>
            </a:r>
          </a:p>
        </p:txBody>
      </p:sp>
      <p:sp>
        <p:nvSpPr>
          <p:cNvPr id="5" name="subline"/>
          <p:cNvSpPr txBox="1"/>
          <p:nvPr/>
        </p:nvSpPr>
        <p:spPr>
          <a:xfrm>
            <a:off x="711200" y="2057400"/>
            <a:ext cx="965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BFD3DE"/>
                </a:solidFill>
                <a:latin typeface="Inter"/>
                <a:ea typeface="Inter"/>
              </a:rPr>
              <a:t>The dataset is clean, physically logical, and trustworthy.</a:t>
            </a:r>
            <a:endParaRPr lang="en-US" sz="1500" noProof="1"/>
          </a:p>
        </p:txBody>
      </p:sp>
      <p:sp>
        <p:nvSpPr>
          <p:cNvPr id="6" name="deliv-label"/>
          <p:cNvSpPr txBox="1"/>
          <p:nvPr/>
        </p:nvSpPr>
        <p:spPr>
          <a:xfrm>
            <a:off x="711200" y="2794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DELIVERABLES</a:t>
            </a:r>
            <a:endParaRPr lang="en-US" sz="1100" noProof="1"/>
          </a:p>
        </p:txBody>
      </p:sp>
      <p:sp>
        <p:nvSpPr>
          <p:cNvPr id="7" name="deliv-1-num"/>
          <p:cNvSpPr txBox="1"/>
          <p:nvPr/>
        </p:nvSpPr>
        <p:spPr>
          <a:xfrm>
            <a:off x="711200" y="31496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01</a:t>
            </a:r>
            <a:endParaRPr lang="en-US" sz="1600" noProof="1"/>
          </a:p>
        </p:txBody>
      </p:sp>
      <p:sp>
        <p:nvSpPr>
          <p:cNvPr id="8" name="deliv-1-text"/>
          <p:cNvSpPr txBox="1"/>
          <p:nvPr/>
        </p:nvSpPr>
        <p:spPr>
          <a:xfrm>
            <a:off x="1320800" y="31750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FFFFFF"/>
                </a:solidFill>
                <a:latin typeface="JetBrains Mono"/>
                <a:ea typeface="JetBrains Mono"/>
              </a:rPr>
              <a:t>clean_data.csv</a:t>
            </a: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 pushed to GitHub</a:t>
            </a:r>
            <a:endParaRPr lang="en-US" sz="1350" noProof="1"/>
          </a:p>
        </p:txBody>
      </p:sp>
      <p:sp>
        <p:nvSpPr>
          <p:cNvPr id="9" name="deliv-2-num"/>
          <p:cNvSpPr txBox="1"/>
          <p:nvPr/>
        </p:nvSpPr>
        <p:spPr>
          <a:xfrm>
            <a:off x="711200" y="35814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02</a:t>
            </a:r>
            <a:endParaRPr lang="en-US" sz="1600" noProof="1"/>
          </a:p>
        </p:txBody>
      </p:sp>
      <p:sp>
        <p:nvSpPr>
          <p:cNvPr id="10" name="deliv-2-text"/>
          <p:cNvSpPr txBox="1"/>
          <p:nvPr/>
        </p:nvSpPr>
        <p:spPr>
          <a:xfrm>
            <a:off x="1320800" y="3606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Cleaning notebook </a:t>
            </a:r>
            <a:r>
              <a:rPr lang="en-US" sz="1350" noProof="1" smtClean="0">
                <a:solidFill>
                  <a:srgbClr val="FFFFFF"/>
                </a:solidFill>
                <a:latin typeface="Inter"/>
                <a:ea typeface="Inter"/>
              </a:rPr>
              <a:t>showing every step</a:t>
            </a:r>
            <a:endParaRPr lang="en-US" sz="1350" noProof="1"/>
          </a:p>
        </p:txBody>
      </p:sp>
      <p:sp>
        <p:nvSpPr>
          <p:cNvPr id="11" name="deliv-3-num"/>
          <p:cNvSpPr txBox="1"/>
          <p:nvPr/>
        </p:nvSpPr>
        <p:spPr>
          <a:xfrm>
            <a:off x="711200" y="4013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4A39B"/>
                </a:solidFill>
                <a:latin typeface="Archivo"/>
                <a:ea typeface="Archivo"/>
              </a:rPr>
              <a:t>03</a:t>
            </a:r>
            <a:endParaRPr lang="en-US" sz="1600" noProof="1"/>
          </a:p>
        </p:txBody>
      </p:sp>
      <p:sp>
        <p:nvSpPr>
          <p:cNvPr id="12" name="deliv-3-text"/>
          <p:cNvSpPr txBox="1"/>
          <p:nvPr/>
        </p:nvSpPr>
        <p:spPr>
          <a:xfrm>
            <a:off x="1320800" y="40386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Inter"/>
                <a:ea typeface="Inter"/>
              </a:rPr>
              <a:t>Presentation and documentation</a:t>
            </a:r>
            <a:endParaRPr lang="en-US" sz="1350" noProof="1"/>
          </a:p>
        </p:txBody>
      </p:sp>
      <p:sp>
        <p:nvSpPr>
          <p:cNvPr id="13" name="discussion-panel"/>
          <p:cNvSpPr/>
          <p:nvPr/>
        </p:nvSpPr>
        <p:spPr>
          <a:xfrm>
            <a:off x="711200" y="4902200"/>
            <a:ext cx="10769600" cy="1320800"/>
          </a:xfrm>
          <a:prstGeom prst="rect">
            <a:avLst/>
          </a:prstGeom>
          <a:solidFill>
            <a:srgbClr val="14344F"/>
          </a:solidFill>
          <a:ln w="12700">
            <a:solidFill>
              <a:srgbClr val="14A39B"/>
            </a:solidFill>
          </a:ln>
        </p:spPr>
      </p:sp>
      <p:sp>
        <p:nvSpPr>
          <p:cNvPr id="14" name="discussion-label"/>
          <p:cNvSpPr txBox="1"/>
          <p:nvPr/>
        </p:nvSpPr>
        <p:spPr>
          <a:xfrm>
            <a:off x="965200" y="508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 noProof="1">
                <a:solidFill>
                  <a:srgbClr val="14A39B"/>
                </a:solidFill>
                <a:latin typeface="Archivo"/>
                <a:ea typeface="Archivo"/>
              </a:rPr>
              <a:t>DISCUSSION QUESTION</a:t>
            </a:r>
            <a:endParaRPr lang="en-US" sz="1100" noProof="1"/>
          </a:p>
        </p:txBody>
      </p:sp>
      <p:sp>
        <p:nvSpPr>
          <p:cNvPr id="15" name="discussion-quote"/>
          <p:cNvSpPr txBox="1"/>
          <p:nvPr/>
        </p:nvSpPr>
        <p:spPr>
          <a:xfrm>
            <a:off x="965200" y="5334000"/>
            <a:ext cx="10261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350" i="1" noProof="1">
                <a:solidFill>
                  <a:srgbClr val="FFFFFF"/>
                </a:solidFill>
                <a:latin typeface="Inter"/>
                <a:ea typeface="Inter"/>
              </a:rPr>
              <a:t>"Our IQR check missed a tool wear of −20 minutes, because its lower bound was −112. When should we trust statistical rules like IQR, and when should we rely on physical limits to detect errors?"</a:t>
            </a:r>
            <a:endParaRPr lang="en-US" sz="135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1176000" y="6502400"/>
            <a:ext cx="304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FA9BB"/>
                </a:solidFill>
                <a:latin typeface="Inter"/>
                <a:ea typeface="Inter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889</Words>
  <Application>Microsoft Office PowerPoint</Application>
  <PresentationFormat>مخصص</PresentationFormat>
  <Paragraphs>190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6" baseType="lpstr">
      <vt:lpstr>Arial</vt:lpstr>
      <vt:lpstr>MiSans</vt:lpstr>
      <vt:lpstr>Archivo</vt:lpstr>
      <vt:lpstr>Inter</vt:lpstr>
      <vt:lpstr>JetBrains Mono</vt:lpstr>
      <vt:lpstr>PPTD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Understanding &amp; Cleaning — Milestone 2</dc:title>
  <cp:lastModifiedBy>user</cp:lastModifiedBy>
  <cp:revision>6</cp:revision>
  <dcterms:modified xsi:type="dcterms:W3CDTF">2026-10-08T20:20:27Z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