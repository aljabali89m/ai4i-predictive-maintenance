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4" r:id="rId9"/>
    <p:sldId id="265" r:id="rId10"/>
  </p:sldIdLst>
  <p:sldSz cx="12192000" cy="6858000"/>
  <p:notesSz cx="12192000" cy="6858000"/>
  <p:embeddedFontLst>
    <p:embeddedFont>
      <p:font typeface="JetBrains Mono" charset="0"/>
      <p:regular r:id="rId11"/>
    </p:embeddedFont>
    <p:embeddedFont>
      <p:font typeface="Archivo" charset="0"/>
      <p:regular r:id="rId12"/>
    </p:embeddedFont>
    <p:embeddedFont>
      <p:font typeface="Inter"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558"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46"/>
        </a:solidFill>
        <a:effectLst/>
      </p:bgPr>
    </p:bg>
    <p:spTree>
      <p:nvGrpSpPr>
        <p:cNvPr id="1" name=""/>
        <p:cNvGrpSpPr/>
        <p:nvPr/>
      </p:nvGrpSpPr>
      <p:grpSpPr>
        <a:xfrm>
          <a:off x="0" y="0"/>
          <a:ext cx="0" cy="0"/>
          <a:chOff x="0" y="0"/>
          <a:chExt cx="0" cy="0"/>
        </a:xfrm>
      </p:grpSpPr>
      <p:sp>
        <p:nvSpPr>
          <p:cNvPr id="2" name="ring-1"/>
          <p:cNvSpPr/>
          <p:nvPr/>
        </p:nvSpPr>
        <p:spPr>
          <a:xfrm>
            <a:off x="9601200" y="914400"/>
            <a:ext cx="1905000" cy="1905000"/>
          </a:xfrm>
          <a:prstGeom prst="ellipse">
            <a:avLst/>
          </a:prstGeom>
          <a:noFill/>
          <a:ln w="19050">
            <a:solidFill>
              <a:srgbClr val="14A39B">
                <a:alpha val="35000"/>
              </a:srgbClr>
            </a:solidFill>
          </a:ln>
        </p:spPr>
      </p:sp>
      <p:sp>
        <p:nvSpPr>
          <p:cNvPr id="3" name="ring-2"/>
          <p:cNvSpPr/>
          <p:nvPr/>
        </p:nvSpPr>
        <p:spPr>
          <a:xfrm>
            <a:off x="10617200" y="355600"/>
            <a:ext cx="711200" cy="711200"/>
          </a:xfrm>
          <a:prstGeom prst="ellipse">
            <a:avLst/>
          </a:prstGeom>
          <a:noFill/>
          <a:ln w="12700">
            <a:solidFill>
              <a:srgbClr val="14A39B">
                <a:alpha val="20000"/>
              </a:srgbClr>
            </a:solidFill>
          </a:ln>
        </p:spPr>
      </p:sp>
      <p:sp>
        <p:nvSpPr>
          <p:cNvPr id="4" name="ring-3"/>
          <p:cNvSpPr/>
          <p:nvPr/>
        </p:nvSpPr>
        <p:spPr>
          <a:xfrm>
            <a:off x="8890000" y="2286000"/>
            <a:ext cx="330200" cy="330200"/>
          </a:xfrm>
          <a:prstGeom prst="ellipse">
            <a:avLst/>
          </a:prstGeom>
          <a:solidFill>
            <a:srgbClr val="14A39B">
              <a:alpha val="50000"/>
            </a:srgbClr>
          </a:solidFill>
          <a:ln>
            <a:noFill/>
          </a:ln>
        </p:spPr>
      </p:sp>
      <p:sp>
        <p:nvSpPr>
          <p:cNvPr id="5" name="kicker"/>
          <p:cNvSpPr txBox="1"/>
          <p:nvPr/>
        </p:nvSpPr>
        <p:spPr>
          <a:xfrm>
            <a:off x="711200" y="1879600"/>
            <a:ext cx="7620000" cy="228600"/>
          </a:xfrm>
          <a:prstGeom prst="rect">
            <a:avLst/>
          </a:prstGeom>
          <a:noFill/>
          <a:ln>
            <a:noFill/>
          </a:ln>
        </p:spPr>
        <p:txBody>
          <a:bodyPr wrap="none" lIns="0" tIns="0" rIns="0" bIns="0" rtlCol="0"/>
          <a:lstStyle/>
          <a:p>
            <a:pPr>
              <a:lnSpc>
                <a:spcPct val="120000"/>
              </a:lnSpc>
            </a:pPr>
            <a:r>
              <a:rPr lang="en-US" sz="1300" b="1" kern="0" spc="400" noProof="1">
                <a:solidFill>
                  <a:srgbClr val="14A39B"/>
                </a:solidFill>
                <a:latin typeface="Archivo"/>
                <a:ea typeface="Archivo"/>
              </a:rPr>
              <a:t>MILESTONE 2</a:t>
            </a:r>
            <a:endParaRPr lang="en-US" sz="1300" noProof="1"/>
          </a:p>
        </p:txBody>
      </p:sp>
      <p:sp>
        <p:nvSpPr>
          <p:cNvPr id="6" name="accent-bar"/>
          <p:cNvSpPr/>
          <p:nvPr/>
        </p:nvSpPr>
        <p:spPr>
          <a:xfrm>
            <a:off x="711200" y="2311400"/>
            <a:ext cx="711200" cy="50800"/>
          </a:xfrm>
          <a:prstGeom prst="rect">
            <a:avLst/>
          </a:prstGeom>
          <a:solidFill>
            <a:srgbClr val="14A39B"/>
          </a:solidFill>
          <a:ln>
            <a:noFill/>
          </a:ln>
        </p:spPr>
      </p:sp>
      <p:sp>
        <p:nvSpPr>
          <p:cNvPr id="7" name="title"/>
          <p:cNvSpPr txBox="1"/>
          <p:nvPr/>
        </p:nvSpPr>
        <p:spPr>
          <a:xfrm>
            <a:off x="711200" y="2540000"/>
            <a:ext cx="10160000" cy="685800"/>
          </a:xfrm>
          <a:prstGeom prst="rect">
            <a:avLst/>
          </a:prstGeom>
          <a:noFill/>
          <a:ln>
            <a:noFill/>
          </a:ln>
        </p:spPr>
        <p:txBody>
          <a:bodyPr wrap="none" lIns="0" tIns="0" rIns="0" bIns="0" rtlCol="0"/>
          <a:lstStyle/>
          <a:p>
            <a:pPr>
              <a:lnSpc>
                <a:spcPct val="120000"/>
              </a:lnSpc>
            </a:pPr>
            <a:r>
              <a:rPr lang="en-US" sz="4200" b="1" noProof="1" smtClean="0">
                <a:solidFill>
                  <a:srgbClr val="FFFFFF"/>
                </a:solidFill>
                <a:latin typeface="Archivo"/>
                <a:ea typeface="Archivo"/>
              </a:rPr>
              <a:t>Data Cleaning</a:t>
            </a:r>
            <a:endParaRPr lang="en-US" sz="4200" noProof="1"/>
          </a:p>
        </p:txBody>
      </p:sp>
      <p:sp>
        <p:nvSpPr>
          <p:cNvPr id="8" name="subtitle"/>
          <p:cNvSpPr txBox="1"/>
          <p:nvPr/>
        </p:nvSpPr>
        <p:spPr>
          <a:xfrm>
            <a:off x="711200" y="3403600"/>
            <a:ext cx="8890000" cy="330200"/>
          </a:xfrm>
          <a:prstGeom prst="rect">
            <a:avLst/>
          </a:prstGeom>
          <a:noFill/>
          <a:ln>
            <a:noFill/>
          </a:ln>
        </p:spPr>
        <p:txBody>
          <a:bodyPr wrap="none" lIns="0" tIns="0" rIns="0" bIns="0" rtlCol="0"/>
          <a:lstStyle/>
          <a:p>
            <a:pPr>
              <a:lnSpc>
                <a:spcPct val="120000"/>
              </a:lnSpc>
            </a:pPr>
            <a:r>
              <a:rPr lang="en-US" sz="1900" noProof="1">
                <a:solidFill>
                  <a:srgbClr val="9FD8D2"/>
                </a:solidFill>
                <a:latin typeface="Inter"/>
                <a:ea typeface="Inter"/>
              </a:rPr>
              <a:t>Predictive Maintenance Using Machine Learning</a:t>
            </a:r>
            <a:endParaRPr lang="en-US" sz="1900" noProof="1"/>
          </a:p>
        </p:txBody>
      </p:sp>
      <p:sp>
        <p:nvSpPr>
          <p:cNvPr id="9" name="dataset"/>
          <p:cNvSpPr txBox="1"/>
          <p:nvPr/>
        </p:nvSpPr>
        <p:spPr>
          <a:xfrm>
            <a:off x="711200" y="3860800"/>
            <a:ext cx="10160000" cy="228600"/>
          </a:xfrm>
          <a:prstGeom prst="rect">
            <a:avLst/>
          </a:prstGeom>
          <a:noFill/>
          <a:ln>
            <a:noFill/>
          </a:ln>
        </p:spPr>
        <p:txBody>
          <a:bodyPr wrap="none" lIns="0" tIns="0" rIns="0" bIns="0" rtlCol="0"/>
          <a:lstStyle/>
          <a:p>
            <a:pPr>
              <a:lnSpc>
                <a:spcPct val="120000"/>
              </a:lnSpc>
            </a:pPr>
            <a:r>
              <a:rPr lang="en-US" sz="1300" noProof="1">
                <a:solidFill>
                  <a:srgbClr val="8FA9BB"/>
                </a:solidFill>
                <a:latin typeface="Inter"/>
                <a:ea typeface="Inter"/>
              </a:rPr>
              <a:t>Dataset: AI4I 2020 Predictive Maintenance Dataset — UCI Machine Learning Repository</a:t>
            </a:r>
            <a:endParaRPr lang="en-US" sz="1300" noProof="1"/>
          </a:p>
        </p:txBody>
      </p:sp>
      <p:sp>
        <p:nvSpPr>
          <p:cNvPr id="10" name="divider"/>
          <p:cNvSpPr/>
          <p:nvPr/>
        </p:nvSpPr>
        <p:spPr>
          <a:xfrm>
            <a:off x="711200" y="5486400"/>
            <a:ext cx="10769600" cy="12700"/>
          </a:xfrm>
          <a:prstGeom prst="rect">
            <a:avLst/>
          </a:prstGeom>
          <a:solidFill>
            <a:srgbClr val="1E4A63"/>
          </a:solidFill>
          <a:ln>
            <a:noFill/>
          </a:ln>
        </p:spPr>
      </p:sp>
      <p:sp>
        <p:nvSpPr>
          <p:cNvPr id="11" name="team-label"/>
          <p:cNvSpPr txBox="1"/>
          <p:nvPr/>
        </p:nvSpPr>
        <p:spPr>
          <a:xfrm>
            <a:off x="711200" y="5715000"/>
            <a:ext cx="127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TEAM</a:t>
            </a:r>
            <a:endParaRPr lang="en-US" sz="1100" noProof="1"/>
          </a:p>
        </p:txBody>
      </p:sp>
      <p:sp>
        <p:nvSpPr>
          <p:cNvPr id="12" name="team-names"/>
          <p:cNvSpPr txBox="1"/>
          <p:nvPr/>
        </p:nvSpPr>
        <p:spPr>
          <a:xfrm>
            <a:off x="711200" y="5969000"/>
            <a:ext cx="10769600" cy="228600"/>
          </a:xfrm>
          <a:prstGeom prst="rect">
            <a:avLst/>
          </a:prstGeom>
          <a:noFill/>
          <a:ln>
            <a:noFill/>
          </a:ln>
        </p:spPr>
        <p:txBody>
          <a:bodyPr wrap="none" lIns="0" tIns="0" rIns="0" bIns="0" rtlCol="0"/>
          <a:lstStyle/>
          <a:p>
            <a:pPr>
              <a:lnSpc>
                <a:spcPct val="120000"/>
              </a:lnSpc>
            </a:pPr>
            <a:r>
              <a:rPr lang="en-US" sz="1350" noProof="1" smtClean="0">
                <a:solidFill>
                  <a:srgbClr val="FFFFFF"/>
                </a:solidFill>
                <a:latin typeface="Inter"/>
                <a:ea typeface="Inter"/>
              </a:rPr>
              <a:t>Aiham Bawaneh   ·   Mahmoud Bani-Hani   </a:t>
            </a:r>
            <a:r>
              <a:rPr lang="en-US" sz="1350" noProof="1">
                <a:solidFill>
                  <a:srgbClr val="FFFFFF"/>
                </a:solidFill>
                <a:latin typeface="Inter"/>
                <a:ea typeface="Inter"/>
              </a:rPr>
              <a:t>·   Mohammad Aljabali   ·   </a:t>
            </a:r>
            <a:r>
              <a:rPr lang="en-US" sz="1350" noProof="1" smtClean="0">
                <a:solidFill>
                  <a:srgbClr val="FF0000"/>
                </a:solidFill>
                <a:latin typeface="Inter"/>
                <a:ea typeface="Inter"/>
              </a:rPr>
              <a:t>Reem Aldelki</a:t>
            </a:r>
            <a:r>
              <a:rPr lang="en-US" sz="1350" noProof="1" smtClean="0">
                <a:solidFill>
                  <a:srgbClr val="FFFFFF"/>
                </a:solidFill>
                <a:latin typeface="Inter"/>
                <a:ea typeface="Inter"/>
              </a:rPr>
              <a:t>   </a:t>
            </a:r>
            <a:r>
              <a:rPr lang="en-US" sz="1350" noProof="1">
                <a:solidFill>
                  <a:srgbClr val="FFFFFF"/>
                </a:solidFill>
                <a:latin typeface="Inter"/>
                <a:ea typeface="Inter"/>
              </a:rPr>
              <a:t>·   </a:t>
            </a:r>
            <a:r>
              <a:rPr lang="en-US" sz="1350" noProof="1" smtClean="0">
                <a:solidFill>
                  <a:srgbClr val="FFFFFF"/>
                </a:solidFill>
                <a:latin typeface="Inter"/>
                <a:ea typeface="Inter"/>
              </a:rPr>
              <a:t>Shahed Alkhawaga</a:t>
            </a:r>
            <a:endParaRPr lang="en-US" sz="1350" noProof="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02 · DATASET OVERVIEW</a:t>
            </a:r>
            <a:endParaRPr lang="en-US" sz="1100" noProof="1"/>
          </a:p>
        </p:txBody>
      </p:sp>
      <p:sp>
        <p:nvSpPr>
          <p:cNvPr id="3" name="title"/>
          <p:cNvSpPr txBox="1"/>
          <p:nvPr/>
        </p:nvSpPr>
        <p:spPr>
          <a:xfrm>
            <a:off x="711200" y="787400"/>
            <a:ext cx="8890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Dataset Overview</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sp>
        <p:nvSpPr>
          <p:cNvPr id="5" name="bullet-mark-1"/>
          <p:cNvSpPr/>
          <p:nvPr/>
        </p:nvSpPr>
        <p:spPr>
          <a:xfrm>
            <a:off x="711200" y="1854200"/>
            <a:ext cx="101600" cy="101600"/>
          </a:xfrm>
          <a:prstGeom prst="rect">
            <a:avLst/>
          </a:prstGeom>
          <a:solidFill>
            <a:srgbClr val="14A39B"/>
          </a:solidFill>
          <a:ln>
            <a:noFill/>
          </a:ln>
        </p:spPr>
      </p:sp>
      <p:sp>
        <p:nvSpPr>
          <p:cNvPr id="6" name="bullet-1"/>
          <p:cNvSpPr txBox="1"/>
          <p:nvPr/>
        </p:nvSpPr>
        <p:spPr>
          <a:xfrm>
            <a:off x="990600" y="1778000"/>
            <a:ext cx="6350000" cy="762000"/>
          </a:xfrm>
          <a:prstGeom prst="rect">
            <a:avLst/>
          </a:prstGeom>
          <a:noFill/>
          <a:ln>
            <a:noFill/>
          </a:ln>
        </p:spPr>
        <p:txBody>
          <a:bodyPr wrap="square" lIns="0" tIns="0" rIns="0" bIns="0" rtlCol="0"/>
          <a:lstStyle/>
          <a:p>
            <a:pPr>
              <a:lnSpc>
                <a:spcPct val="155000"/>
              </a:lnSpc>
            </a:pPr>
            <a:r>
              <a:rPr lang="en-US" sz="1300" b="1" noProof="1">
                <a:solidFill>
                  <a:srgbClr val="22303C"/>
                </a:solidFill>
                <a:latin typeface="Inter"/>
                <a:ea typeface="Inter"/>
              </a:rPr>
              <a:t>Source.</a:t>
            </a:r>
            <a:r>
              <a:rPr lang="en-US" sz="1300" noProof="1">
                <a:solidFill>
                  <a:srgbClr val="22303C"/>
                </a:solidFill>
                <a:latin typeface="Inter"/>
                <a:ea typeface="Inter"/>
              </a:rPr>
              <a:t> AI4I 2020 Predictive Maintenance Dataset, UCI Machine Learning Repository (CC BY 4.0).</a:t>
            </a:r>
            <a:endParaRPr lang="en-US" sz="1300" noProof="1"/>
          </a:p>
        </p:txBody>
      </p:sp>
      <p:sp>
        <p:nvSpPr>
          <p:cNvPr id="7" name="bullet-mark-2"/>
          <p:cNvSpPr/>
          <p:nvPr/>
        </p:nvSpPr>
        <p:spPr>
          <a:xfrm>
            <a:off x="711200" y="2743200"/>
            <a:ext cx="101600" cy="101600"/>
          </a:xfrm>
          <a:prstGeom prst="rect">
            <a:avLst/>
          </a:prstGeom>
          <a:solidFill>
            <a:srgbClr val="14A39B"/>
          </a:solidFill>
          <a:ln>
            <a:noFill/>
          </a:ln>
        </p:spPr>
      </p:sp>
      <p:sp>
        <p:nvSpPr>
          <p:cNvPr id="8" name="bullet-2"/>
          <p:cNvSpPr txBox="1"/>
          <p:nvPr/>
        </p:nvSpPr>
        <p:spPr>
          <a:xfrm>
            <a:off x="990600" y="2667000"/>
            <a:ext cx="6350000" cy="762000"/>
          </a:xfrm>
          <a:prstGeom prst="rect">
            <a:avLst/>
          </a:prstGeom>
          <a:noFill/>
          <a:ln>
            <a:noFill/>
          </a:ln>
        </p:spPr>
        <p:txBody>
          <a:bodyPr wrap="square" lIns="0" tIns="0" rIns="0" bIns="0" rtlCol="0"/>
          <a:lstStyle/>
          <a:p>
            <a:pPr>
              <a:lnSpc>
                <a:spcPct val="155000"/>
              </a:lnSpc>
            </a:pPr>
            <a:r>
              <a:rPr lang="en-US" sz="1300" b="1" noProof="1">
                <a:solidFill>
                  <a:srgbClr val="22303C"/>
                </a:solidFill>
                <a:latin typeface="Inter"/>
                <a:ea typeface="Inter"/>
              </a:rPr>
              <a:t>Nature.</a:t>
            </a:r>
            <a:r>
              <a:rPr lang="en-US" sz="1300" noProof="1">
                <a:solidFill>
                  <a:srgbClr val="22303C"/>
                </a:solidFill>
                <a:latin typeface="Inter"/>
                <a:ea typeface="Inter"/>
              </a:rPr>
              <a:t> A synthetic dataset (per UCI) designed to reflect real industrial data.</a:t>
            </a:r>
            <a:endParaRPr lang="en-US" sz="1300" noProof="1"/>
          </a:p>
        </p:txBody>
      </p:sp>
      <p:sp>
        <p:nvSpPr>
          <p:cNvPr id="9" name="bullet-mark-3"/>
          <p:cNvSpPr/>
          <p:nvPr/>
        </p:nvSpPr>
        <p:spPr>
          <a:xfrm>
            <a:off x="711200" y="3632200"/>
            <a:ext cx="101600" cy="101600"/>
          </a:xfrm>
          <a:prstGeom prst="rect">
            <a:avLst/>
          </a:prstGeom>
          <a:solidFill>
            <a:srgbClr val="14A39B"/>
          </a:solidFill>
          <a:ln>
            <a:noFill/>
          </a:ln>
        </p:spPr>
      </p:sp>
      <p:sp>
        <p:nvSpPr>
          <p:cNvPr id="10" name="bullet-3"/>
          <p:cNvSpPr txBox="1"/>
          <p:nvPr/>
        </p:nvSpPr>
        <p:spPr>
          <a:xfrm>
            <a:off x="990600" y="3556000"/>
            <a:ext cx="6350000" cy="762000"/>
          </a:xfrm>
          <a:prstGeom prst="rect">
            <a:avLst/>
          </a:prstGeom>
          <a:noFill/>
          <a:ln>
            <a:noFill/>
          </a:ln>
        </p:spPr>
        <p:txBody>
          <a:bodyPr wrap="square" lIns="0" tIns="0" rIns="0" bIns="0" rtlCol="0"/>
          <a:lstStyle/>
          <a:p>
            <a:pPr>
              <a:lnSpc>
                <a:spcPct val="155000"/>
              </a:lnSpc>
            </a:pPr>
            <a:r>
              <a:rPr lang="en-US" sz="1300" b="1" noProof="1">
                <a:solidFill>
                  <a:srgbClr val="22303C"/>
                </a:solidFill>
                <a:latin typeface="Inter"/>
                <a:ea typeface="Inter"/>
              </a:rPr>
              <a:t>Target variable.</a:t>
            </a:r>
            <a:r>
              <a:rPr lang="en-US" sz="1300" noProof="1">
                <a:solidFill>
                  <a:srgbClr val="22303C"/>
                </a:solidFill>
                <a:latin typeface="Inter"/>
                <a:ea typeface="Inter"/>
              </a:rPr>
              <a:t> Machine failure (0 = Normal, 1 = Failure).</a:t>
            </a:r>
            <a:endParaRPr lang="en-US" sz="1300" noProof="1"/>
          </a:p>
        </p:txBody>
      </p:sp>
      <p:sp>
        <p:nvSpPr>
          <p:cNvPr id="11" name="stat-1-num"/>
          <p:cNvSpPr txBox="1"/>
          <p:nvPr/>
        </p:nvSpPr>
        <p:spPr>
          <a:xfrm>
            <a:off x="8229600" y="1752600"/>
            <a:ext cx="3251200" cy="508000"/>
          </a:xfrm>
          <a:prstGeom prst="rect">
            <a:avLst/>
          </a:prstGeom>
          <a:noFill/>
          <a:ln>
            <a:noFill/>
          </a:ln>
        </p:spPr>
        <p:txBody>
          <a:bodyPr wrap="none" lIns="0" tIns="0" rIns="0" bIns="0" rtlCol="0"/>
          <a:lstStyle/>
          <a:p>
            <a:pPr>
              <a:lnSpc>
                <a:spcPct val="120000"/>
              </a:lnSpc>
            </a:pPr>
            <a:r>
              <a:rPr lang="en-US" sz="3200" b="1" noProof="1">
                <a:solidFill>
                  <a:srgbClr val="0F2B46"/>
                </a:solidFill>
                <a:latin typeface="Archivo"/>
                <a:ea typeface="Archivo"/>
              </a:rPr>
              <a:t>10,000</a:t>
            </a:r>
            <a:endParaRPr lang="en-US" sz="3200" noProof="1"/>
          </a:p>
        </p:txBody>
      </p:sp>
      <p:sp>
        <p:nvSpPr>
          <p:cNvPr id="12" name="stat-1-label"/>
          <p:cNvSpPr txBox="1"/>
          <p:nvPr/>
        </p:nvSpPr>
        <p:spPr>
          <a:xfrm>
            <a:off x="8229600" y="2286000"/>
            <a:ext cx="3251200" cy="203200"/>
          </a:xfrm>
          <a:prstGeom prst="rect">
            <a:avLst/>
          </a:prstGeom>
          <a:noFill/>
          <a:ln>
            <a:noFill/>
          </a:ln>
        </p:spPr>
        <p:txBody>
          <a:bodyPr wrap="none" lIns="0" tIns="0" rIns="0" bIns="0" rtlCol="0"/>
          <a:lstStyle/>
          <a:p>
            <a:pPr>
              <a:lnSpc>
                <a:spcPct val="145000"/>
              </a:lnSpc>
            </a:pPr>
            <a:r>
              <a:rPr lang="en-US" sz="1150" noProof="1">
                <a:solidFill>
                  <a:srgbClr val="5C6E7E"/>
                </a:solidFill>
                <a:latin typeface="Inter"/>
                <a:ea typeface="Inter"/>
              </a:rPr>
              <a:t>rows</a:t>
            </a:r>
            <a:endParaRPr lang="en-US" sz="1150" noProof="1"/>
          </a:p>
        </p:txBody>
      </p:sp>
      <p:sp>
        <p:nvSpPr>
          <p:cNvPr id="13" name="stat-rule-1"/>
          <p:cNvSpPr/>
          <p:nvPr/>
        </p:nvSpPr>
        <p:spPr>
          <a:xfrm>
            <a:off x="8229600" y="2692400"/>
            <a:ext cx="3251200" cy="12700"/>
          </a:xfrm>
          <a:prstGeom prst="rect">
            <a:avLst/>
          </a:prstGeom>
          <a:solidFill>
            <a:srgbClr val="D9E2E8"/>
          </a:solidFill>
          <a:ln>
            <a:noFill/>
          </a:ln>
        </p:spPr>
      </p:sp>
      <p:sp>
        <p:nvSpPr>
          <p:cNvPr id="14" name="stat-2-num"/>
          <p:cNvSpPr txBox="1"/>
          <p:nvPr/>
        </p:nvSpPr>
        <p:spPr>
          <a:xfrm>
            <a:off x="8229600" y="2946400"/>
            <a:ext cx="3251200" cy="508000"/>
          </a:xfrm>
          <a:prstGeom prst="rect">
            <a:avLst/>
          </a:prstGeom>
          <a:noFill/>
          <a:ln>
            <a:noFill/>
          </a:ln>
        </p:spPr>
        <p:txBody>
          <a:bodyPr wrap="none" lIns="0" tIns="0" rIns="0" bIns="0" rtlCol="0"/>
          <a:lstStyle/>
          <a:p>
            <a:pPr>
              <a:lnSpc>
                <a:spcPct val="120000"/>
              </a:lnSpc>
            </a:pPr>
            <a:r>
              <a:rPr lang="en-US" sz="3200" b="1" noProof="1">
                <a:solidFill>
                  <a:srgbClr val="0F2B46"/>
                </a:solidFill>
                <a:latin typeface="Archivo"/>
                <a:ea typeface="Archivo"/>
              </a:rPr>
              <a:t>14</a:t>
            </a:r>
            <a:endParaRPr lang="en-US" sz="3200" noProof="1"/>
          </a:p>
        </p:txBody>
      </p:sp>
      <p:sp>
        <p:nvSpPr>
          <p:cNvPr id="15" name="stat-2-label"/>
          <p:cNvSpPr txBox="1"/>
          <p:nvPr/>
        </p:nvSpPr>
        <p:spPr>
          <a:xfrm>
            <a:off x="8229600" y="3479800"/>
            <a:ext cx="3251200" cy="203200"/>
          </a:xfrm>
          <a:prstGeom prst="rect">
            <a:avLst/>
          </a:prstGeom>
          <a:noFill/>
          <a:ln>
            <a:noFill/>
          </a:ln>
        </p:spPr>
        <p:txBody>
          <a:bodyPr wrap="none" lIns="0" tIns="0" rIns="0" bIns="0" rtlCol="0"/>
          <a:lstStyle/>
          <a:p>
            <a:pPr>
              <a:lnSpc>
                <a:spcPct val="145000"/>
              </a:lnSpc>
            </a:pPr>
            <a:r>
              <a:rPr lang="en-US" sz="1150" noProof="1">
                <a:solidFill>
                  <a:srgbClr val="5C6E7E"/>
                </a:solidFill>
                <a:latin typeface="Inter"/>
                <a:ea typeface="Inter"/>
              </a:rPr>
              <a:t>columns</a:t>
            </a:r>
            <a:endParaRPr lang="en-US" sz="1150" noProof="1"/>
          </a:p>
        </p:txBody>
      </p:sp>
      <p:sp>
        <p:nvSpPr>
          <p:cNvPr id="16" name="stat-rule-2"/>
          <p:cNvSpPr/>
          <p:nvPr/>
        </p:nvSpPr>
        <p:spPr>
          <a:xfrm>
            <a:off x="8229600" y="3886200"/>
            <a:ext cx="3251200" cy="12700"/>
          </a:xfrm>
          <a:prstGeom prst="rect">
            <a:avLst/>
          </a:prstGeom>
          <a:solidFill>
            <a:srgbClr val="D9E2E8"/>
          </a:solidFill>
          <a:ln>
            <a:noFill/>
          </a:ln>
        </p:spPr>
      </p:sp>
      <p:sp>
        <p:nvSpPr>
          <p:cNvPr id="17" name="stat-3-num"/>
          <p:cNvSpPr txBox="1"/>
          <p:nvPr/>
        </p:nvSpPr>
        <p:spPr>
          <a:xfrm>
            <a:off x="8229600" y="4140200"/>
            <a:ext cx="3251200" cy="508000"/>
          </a:xfrm>
          <a:prstGeom prst="rect">
            <a:avLst/>
          </a:prstGeom>
          <a:noFill/>
          <a:ln>
            <a:noFill/>
          </a:ln>
        </p:spPr>
        <p:txBody>
          <a:bodyPr wrap="none" lIns="0" tIns="0" rIns="0" bIns="0" rtlCol="0"/>
          <a:lstStyle/>
          <a:p>
            <a:pPr>
              <a:lnSpc>
                <a:spcPct val="120000"/>
              </a:lnSpc>
            </a:pPr>
            <a:r>
              <a:rPr lang="en-US" sz="3200" b="1" noProof="1">
                <a:solidFill>
                  <a:srgbClr val="0F2B46"/>
                </a:solidFill>
                <a:latin typeface="Archivo"/>
                <a:ea typeface="Archivo"/>
              </a:rPr>
              <a:t>5</a:t>
            </a:r>
            <a:endParaRPr lang="en-US" sz="3200" noProof="1"/>
          </a:p>
        </p:txBody>
      </p:sp>
      <p:sp>
        <p:nvSpPr>
          <p:cNvPr id="18" name="stat-3-label"/>
          <p:cNvSpPr txBox="1"/>
          <p:nvPr/>
        </p:nvSpPr>
        <p:spPr>
          <a:xfrm>
            <a:off x="8229600" y="4673600"/>
            <a:ext cx="3251200" cy="203200"/>
          </a:xfrm>
          <a:prstGeom prst="rect">
            <a:avLst/>
          </a:prstGeom>
          <a:noFill/>
          <a:ln>
            <a:noFill/>
          </a:ln>
        </p:spPr>
        <p:txBody>
          <a:bodyPr wrap="none" lIns="0" tIns="0" rIns="0" bIns="0" rtlCol="0"/>
          <a:lstStyle/>
          <a:p>
            <a:pPr>
              <a:lnSpc>
                <a:spcPct val="145000"/>
              </a:lnSpc>
            </a:pPr>
            <a:r>
              <a:rPr lang="en-US" sz="1150" noProof="1">
                <a:solidFill>
                  <a:srgbClr val="5C6E7E"/>
                </a:solidFill>
                <a:latin typeface="Inter"/>
                <a:ea typeface="Inter"/>
              </a:rPr>
              <a:t>numeric sensor features</a:t>
            </a:r>
            <a:endParaRPr lang="en-US" sz="1150" noProof="1"/>
          </a:p>
        </p:txBody>
      </p:sp>
      <p:sp>
        <p:nvSpPr>
          <p:cNvPr id="19" name="sim-panel"/>
          <p:cNvSpPr/>
          <p:nvPr/>
        </p:nvSpPr>
        <p:spPr>
          <a:xfrm>
            <a:off x="711200" y="5257800"/>
            <a:ext cx="10769600" cy="914400"/>
          </a:xfrm>
          <a:prstGeom prst="rect">
            <a:avLst/>
          </a:prstGeom>
          <a:solidFill>
            <a:srgbClr val="E4F4F2"/>
          </a:solidFill>
          <a:ln>
            <a:noFill/>
          </a:ln>
        </p:spPr>
      </p:sp>
      <p:sp>
        <p:nvSpPr>
          <p:cNvPr id="20" name="sim-bar"/>
          <p:cNvSpPr/>
          <p:nvPr/>
        </p:nvSpPr>
        <p:spPr>
          <a:xfrm>
            <a:off x="711200" y="5257800"/>
            <a:ext cx="50800" cy="914400"/>
          </a:xfrm>
          <a:prstGeom prst="rect">
            <a:avLst/>
          </a:prstGeom>
          <a:solidFill>
            <a:srgbClr val="14A39B"/>
          </a:solidFill>
          <a:ln>
            <a:noFill/>
          </a:ln>
        </p:spPr>
      </p:sp>
      <p:sp>
        <p:nvSpPr>
          <p:cNvPr id="21" name="sim-text"/>
          <p:cNvSpPr txBox="1"/>
          <p:nvPr/>
        </p:nvSpPr>
        <p:spPr>
          <a:xfrm>
            <a:off x="990600" y="5410200"/>
            <a:ext cx="10236200" cy="609600"/>
          </a:xfrm>
          <a:prstGeom prst="rect">
            <a:avLst/>
          </a:prstGeom>
          <a:noFill/>
          <a:ln>
            <a:noFill/>
          </a:ln>
        </p:spPr>
        <p:txBody>
          <a:bodyPr wrap="square" lIns="0" tIns="0" rIns="0" bIns="0" rtlCol="0"/>
          <a:lstStyle/>
          <a:p>
            <a:pPr>
              <a:lnSpc>
                <a:spcPct val="155000"/>
              </a:lnSpc>
            </a:pPr>
            <a:r>
              <a:rPr lang="en-US" sz="1250" b="1" noProof="1">
                <a:solidFill>
                  <a:srgbClr val="22303C"/>
                </a:solidFill>
                <a:latin typeface="Inter"/>
                <a:ea typeface="Inter"/>
              </a:rPr>
              <a:t>The simulation.</a:t>
            </a:r>
            <a:r>
              <a:rPr lang="en-US" sz="1250" noProof="1">
                <a:solidFill>
                  <a:srgbClr val="22303C"/>
                </a:solidFill>
                <a:latin typeface="Inter"/>
                <a:ea typeface="Inter"/>
              </a:rPr>
              <a:t> The original file was already clean. To practice real-world data engineering, </a:t>
            </a:r>
            <a:r>
              <a:rPr lang="en-US" sz="1250" noProof="1">
                <a:solidFill>
                  <a:srgbClr val="22303C"/>
                </a:solidFill>
                <a:latin typeface="Inter"/>
                <a:ea typeface="Inter"/>
              </a:rPr>
              <a:t>we introduced realistic issues (missing values and structural duplicates) into </a:t>
            </a:r>
            <a:r>
              <a:rPr lang="en-US" sz="1250" noProof="1">
                <a:solidFill>
                  <a:srgbClr val="22303C"/>
                </a:solidFill>
                <a:latin typeface="Inter"/>
                <a:ea typeface="Inter"/>
              </a:rPr>
              <a:t>a </a:t>
            </a:r>
            <a:r>
              <a:rPr lang="en-US" sz="1250" noProof="1" smtClean="0">
                <a:solidFill>
                  <a:srgbClr val="22303C"/>
                </a:solidFill>
                <a:latin typeface="Inter"/>
                <a:ea typeface="Inter"/>
              </a:rPr>
              <a:t>copy</a:t>
            </a:r>
            <a:r>
              <a:rPr lang="ar-JO" sz="1250" noProof="1" smtClean="0">
                <a:solidFill>
                  <a:srgbClr val="22303C"/>
                </a:solidFill>
                <a:latin typeface="Inter"/>
                <a:ea typeface="Inter"/>
              </a:rPr>
              <a:t> </a:t>
            </a:r>
            <a:r>
              <a:rPr lang="en-US" sz="1250" noProof="1" smtClean="0">
                <a:solidFill>
                  <a:srgbClr val="22303C"/>
                </a:solidFill>
                <a:latin typeface="Inter"/>
                <a:ea typeface="Inter"/>
              </a:rPr>
              <a:t>:</a:t>
            </a:r>
            <a:r>
              <a:rPr lang="ar-JO" sz="1250" noProof="1" smtClean="0">
                <a:solidFill>
                  <a:srgbClr val="22303C"/>
                </a:solidFill>
                <a:latin typeface="Inter"/>
                <a:ea typeface="Inter"/>
              </a:rPr>
              <a:t> </a:t>
            </a:r>
            <a:r>
              <a:rPr lang="en-US" sz="1250" noProof="1" smtClean="0">
                <a:solidFill>
                  <a:srgbClr val="22303C"/>
                </a:solidFill>
                <a:latin typeface="Inter"/>
                <a:ea typeface="Inter"/>
              </a:rPr>
              <a:t>ai4i2020_dirty.csv</a:t>
            </a:r>
            <a:endParaRPr lang="en-US" sz="1250" noProof="1"/>
          </a:p>
        </p:txBody>
      </p:sp>
      <p:sp>
        <p:nvSpPr>
          <p:cNvPr id="22"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23"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a:solidFill>
                  <a:srgbClr val="5C6E7E"/>
                </a:solidFill>
                <a:latin typeface="Inter"/>
                <a:ea typeface="Inter"/>
              </a:rPr>
              <a:t>02</a:t>
            </a:r>
            <a:endParaRPr lang="en-US" sz="1000" noProof="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03 · DATA DICTIONARY</a:t>
            </a:r>
            <a:endParaRPr lang="en-US" sz="1100" noProof="1"/>
          </a:p>
        </p:txBody>
      </p:sp>
      <p:sp>
        <p:nvSpPr>
          <p:cNvPr id="3" name="title"/>
          <p:cNvSpPr txBox="1"/>
          <p:nvPr/>
        </p:nvSpPr>
        <p:spPr>
          <a:xfrm>
            <a:off x="711200" y="787400"/>
            <a:ext cx="8890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Data Dictionary </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graphicFrame>
        <p:nvGraphicFramePr>
          <p:cNvPr id="5" name="dictionary-table"/>
          <p:cNvGraphicFramePr>
            <a:graphicFrameLocks noGrp="1"/>
          </p:cNvGraphicFramePr>
          <p:nvPr>
            <p:extLst>
              <p:ext uri="{D42A27DB-BD31-4B8C-83A1-F6EECF244321}">
                <p14:modId xmlns:p14="http://schemas.microsoft.com/office/powerpoint/2010/main" val="3116262959"/>
              </p:ext>
            </p:extLst>
          </p:nvPr>
        </p:nvGraphicFramePr>
        <p:xfrm>
          <a:off x="711200" y="1574800"/>
          <a:ext cx="7754112" cy="4255770"/>
        </p:xfrm>
        <a:graphic>
          <a:graphicData uri="http://schemas.openxmlformats.org/drawingml/2006/table">
            <a:tbl>
              <a:tblPr/>
              <a:tblGrid>
                <a:gridCol w="2369312"/>
                <a:gridCol w="3984752"/>
                <a:gridCol w="1400048"/>
              </a:tblGrid>
              <a:tr h="419100">
                <a:tc>
                  <a:txBody>
                    <a:bodyPr/>
                    <a:lstStyle/>
                    <a:p>
                      <a:pPr algn="l"/>
                      <a:r>
                        <a:rPr lang="en-US" sz="1150" b="1" noProof="1">
                          <a:solidFill>
                            <a:srgbClr val="FFFFFF"/>
                          </a:solidFill>
                          <a:latin typeface="Inter"/>
                          <a:ea typeface="Inter"/>
                        </a:rPr>
                        <a:t>Column</a:t>
                      </a:r>
                    </a:p>
                  </a:txBody>
                  <a:tcPr anchor="ctr">
                    <a:lnL>
                      <a:noFill/>
                    </a:lnL>
                    <a:lnR>
                      <a:noFill/>
                    </a:lnR>
                    <a:lnT>
                      <a:noFill/>
                    </a:lnT>
                    <a:lnB w="12700">
                      <a:solidFill>
                        <a:srgbClr val="D9E2E8"/>
                      </a:solidFill>
                    </a:lnB>
                    <a:solidFill>
                      <a:srgbClr val="0F2B46"/>
                    </a:solidFill>
                  </a:tcPr>
                </a:tc>
                <a:tc>
                  <a:txBody>
                    <a:bodyPr/>
                    <a:lstStyle/>
                    <a:p>
                      <a:pPr algn="l"/>
                      <a:r>
                        <a:rPr lang="en-US" sz="1150" b="1" noProof="1">
                          <a:solidFill>
                            <a:srgbClr val="FFFFFF"/>
                          </a:solidFill>
                          <a:latin typeface="Inter"/>
                          <a:ea typeface="Inter"/>
                        </a:rPr>
                        <a:t>Meaning</a:t>
                      </a:r>
                    </a:p>
                  </a:txBody>
                  <a:tcPr anchor="ctr">
                    <a:lnL>
                      <a:noFill/>
                    </a:lnL>
                    <a:lnR>
                      <a:noFill/>
                    </a:lnR>
                    <a:lnT>
                      <a:noFill/>
                    </a:lnT>
                    <a:lnB w="12700">
                      <a:solidFill>
                        <a:srgbClr val="D9E2E8"/>
                      </a:solidFill>
                    </a:lnB>
                    <a:solidFill>
                      <a:srgbClr val="0F2B46"/>
                    </a:solidFill>
                  </a:tcPr>
                </a:tc>
                <a:tc>
                  <a:txBody>
                    <a:bodyPr/>
                    <a:lstStyle/>
                    <a:p>
                      <a:pPr algn="l"/>
                      <a:r>
                        <a:rPr lang="en-US" sz="1150" b="1" noProof="1">
                          <a:solidFill>
                            <a:srgbClr val="FFFFFF"/>
                          </a:solidFill>
                          <a:latin typeface="Inter"/>
                          <a:ea typeface="Inter"/>
                        </a:rPr>
                        <a:t>Role</a:t>
                      </a:r>
                    </a:p>
                  </a:txBody>
                  <a:tcPr anchor="ctr">
                    <a:lnL>
                      <a:noFill/>
                    </a:lnL>
                    <a:lnR>
                      <a:noFill/>
                    </a:lnR>
                    <a:lnT>
                      <a:noFill/>
                    </a:lnT>
                    <a:lnB w="12700">
                      <a:solidFill>
                        <a:srgbClr val="D9E2E8"/>
                      </a:solidFill>
                    </a:lnB>
                    <a:solidFill>
                      <a:srgbClr val="0F2B46"/>
                    </a:solidFill>
                  </a:tcPr>
                </a:tc>
              </a:tr>
              <a:tr h="377190">
                <a:tc>
                  <a:txBody>
                    <a:bodyPr/>
                    <a:lstStyle/>
                    <a:p>
                      <a:pPr algn="l"/>
                      <a:r>
                        <a:rPr lang="en-US" sz="1150" b="1" noProof="1">
                          <a:solidFill>
                            <a:srgbClr val="0F2B46"/>
                          </a:solidFill>
                          <a:latin typeface="Inter"/>
                          <a:ea typeface="Inter"/>
                        </a:rPr>
                        <a:t>UDI</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Unique row identifier</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ID</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r>
              <a:tr h="377190">
                <a:tc>
                  <a:txBody>
                    <a:bodyPr/>
                    <a:lstStyle/>
                    <a:p>
                      <a:pPr algn="l"/>
                      <a:r>
                        <a:rPr lang="en-US" sz="1150" b="1" noProof="1">
                          <a:solidFill>
                            <a:srgbClr val="0F2B46"/>
                          </a:solidFill>
                          <a:latin typeface="Inter"/>
                          <a:ea typeface="Inter"/>
                        </a:rPr>
                        <a:t>Product ID</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Quality letter + serial number</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ID</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r h="377190">
                <a:tc>
                  <a:txBody>
                    <a:bodyPr/>
                    <a:lstStyle/>
                    <a:p>
                      <a:pPr algn="l"/>
                      <a:r>
                        <a:rPr lang="en-US" sz="1150" b="1" noProof="1">
                          <a:solidFill>
                            <a:srgbClr val="0F2B46"/>
                          </a:solidFill>
                          <a:latin typeface="Inter"/>
                          <a:ea typeface="Inter"/>
                        </a:rPr>
                        <a:t>Type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Product quality: L (50%), M (30%), H (20%)</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Feature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r>
              <a:tr h="377190">
                <a:tc>
                  <a:txBody>
                    <a:bodyPr/>
                    <a:lstStyle/>
                    <a:p>
                      <a:pPr algn="l"/>
                      <a:r>
                        <a:rPr lang="en-US" sz="1150" b="1" noProof="1">
                          <a:solidFill>
                            <a:srgbClr val="0F2B46"/>
                          </a:solidFill>
                          <a:latin typeface="Inter"/>
                          <a:ea typeface="Inter"/>
                        </a:rPr>
                        <a:t>Air temperature [K]</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Ambient temperature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Feature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r h="377190">
                <a:tc>
                  <a:txBody>
                    <a:bodyPr/>
                    <a:lstStyle/>
                    <a:p>
                      <a:pPr algn="l"/>
                      <a:r>
                        <a:rPr lang="en-US" sz="1150" b="1" noProof="1">
                          <a:solidFill>
                            <a:srgbClr val="0F2B46"/>
                          </a:solidFill>
                          <a:latin typeface="Inter"/>
                          <a:ea typeface="Inter"/>
                        </a:rPr>
                        <a:t>Process temperature [K]</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Temperature during the process</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Feature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r>
              <a:tr h="377190">
                <a:tc>
                  <a:txBody>
                    <a:bodyPr/>
                    <a:lstStyle/>
                    <a:p>
                      <a:pPr algn="l"/>
                      <a:r>
                        <a:rPr lang="en-US" sz="1150" b="1" noProof="1">
                          <a:solidFill>
                            <a:srgbClr val="0F2B46"/>
                          </a:solidFill>
                          <a:latin typeface="Inter"/>
                          <a:ea typeface="Inter"/>
                        </a:rPr>
                        <a:t>Rotational speed [rpm]</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Spindle speed</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Feature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r h="377190">
                <a:tc>
                  <a:txBody>
                    <a:bodyPr/>
                    <a:lstStyle/>
                    <a:p>
                      <a:pPr algn="l"/>
                      <a:r>
                        <a:rPr lang="en-US" sz="1150" b="1" noProof="1">
                          <a:solidFill>
                            <a:srgbClr val="0F2B46"/>
                          </a:solidFill>
                          <a:latin typeface="Inter"/>
                          <a:ea typeface="Inter"/>
                        </a:rPr>
                        <a:t>Torque [Nm]</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Turning force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150" noProof="1">
                          <a:solidFill>
                            <a:srgbClr val="22303C"/>
                          </a:solidFill>
                          <a:latin typeface="Inter"/>
                          <a:ea typeface="Inter"/>
                        </a:rPr>
                        <a:t>Feature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r>
              <a:tr h="377190">
                <a:tc>
                  <a:txBody>
                    <a:bodyPr/>
                    <a:lstStyle/>
                    <a:p>
                      <a:pPr algn="l"/>
                      <a:r>
                        <a:rPr lang="en-US" sz="1150" b="1" noProof="1">
                          <a:solidFill>
                            <a:srgbClr val="0F2B46"/>
                          </a:solidFill>
                          <a:latin typeface="Inter"/>
                          <a:ea typeface="Inter"/>
                        </a:rPr>
                        <a:t>Tool wear [min]</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Minutes the tool has been used</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Feature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r h="377190">
                <a:tc>
                  <a:txBody>
                    <a:bodyPr/>
                    <a:lstStyle/>
                    <a:p>
                      <a:pPr algn="l"/>
                      <a:r>
                        <a:rPr lang="en-US" sz="1150" b="1" noProof="1">
                          <a:solidFill>
                            <a:srgbClr val="0F2B46"/>
                          </a:solidFill>
                          <a:latin typeface="Inter"/>
                          <a:ea typeface="Inter"/>
                        </a:rPr>
                        <a:t>Machine failure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E4F4F2"/>
                    </a:solidFill>
                  </a:tcPr>
                </a:tc>
                <a:tc>
                  <a:txBody>
                    <a:bodyPr/>
                    <a:lstStyle/>
                    <a:p>
                      <a:pPr algn="l"/>
                      <a:r>
                        <a:rPr lang="en-US" sz="1150" noProof="1">
                          <a:solidFill>
                            <a:srgbClr val="22303C"/>
                          </a:solidFill>
                          <a:latin typeface="Inter"/>
                          <a:ea typeface="Inter"/>
                        </a:rPr>
                        <a:t>Failure occurred</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E4F4F2"/>
                    </a:solidFill>
                  </a:tcPr>
                </a:tc>
                <a:tc>
                  <a:txBody>
                    <a:bodyPr/>
                    <a:lstStyle/>
                    <a:p>
                      <a:pPr algn="l"/>
                      <a:r>
                        <a:rPr lang="en-US" sz="1150" b="1" noProof="1">
                          <a:solidFill>
                            <a:srgbClr val="14A39B"/>
                          </a:solidFill>
                          <a:latin typeface="Inter"/>
                          <a:ea typeface="Inter"/>
                        </a:rPr>
                        <a:t>Target</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E4F4F2"/>
                    </a:solidFill>
                  </a:tcPr>
                </a:tc>
              </a:tr>
              <a:tr h="377190">
                <a:tc>
                  <a:txBody>
                    <a:bodyPr/>
                    <a:lstStyle/>
                    <a:p>
                      <a:pPr algn="l"/>
                      <a:r>
                        <a:rPr lang="en-US" sz="1150" b="1" noProof="1">
                          <a:solidFill>
                            <a:srgbClr val="0F2B46"/>
                          </a:solidFill>
                          <a:latin typeface="Inter"/>
                          <a:ea typeface="Inter"/>
                        </a:rPr>
                        <a:t>TWF, HDF, PWF, OSF, RNF</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Tool wear, heat dissipation, power, overstrain, random failure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150" noProof="1">
                          <a:solidFill>
                            <a:srgbClr val="22303C"/>
                          </a:solidFill>
                          <a:latin typeface="Inter"/>
                          <a:ea typeface="Inter"/>
                        </a:rPr>
                        <a:t>Failure flags</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bl>
          </a:graphicData>
        </a:graphic>
      </p:graphicFrame>
      <p:sp>
        <p:nvSpPr>
          <p:cNvPr id="7"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8"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a:solidFill>
                  <a:srgbClr val="5C6E7E"/>
                </a:solidFill>
                <a:latin typeface="Inter"/>
                <a:ea typeface="Inter"/>
              </a:rPr>
              <a:t>03</a:t>
            </a:r>
            <a:endParaRPr lang="en-US" sz="1000"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04 · DATA QUALITY</a:t>
            </a:r>
            <a:endParaRPr lang="en-US" sz="1100" noProof="1"/>
          </a:p>
        </p:txBody>
      </p:sp>
      <p:sp>
        <p:nvSpPr>
          <p:cNvPr id="3" name="title"/>
          <p:cNvSpPr txBox="1"/>
          <p:nvPr/>
        </p:nvSpPr>
        <p:spPr>
          <a:xfrm>
            <a:off x="711200" y="787400"/>
            <a:ext cx="9652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Data Quality Check — Before Cleaning</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sp>
        <p:nvSpPr>
          <p:cNvPr id="5" name="stat-1-num"/>
          <p:cNvSpPr txBox="1"/>
          <p:nvPr/>
        </p:nvSpPr>
        <p:spPr>
          <a:xfrm>
            <a:off x="711200" y="1778000"/>
            <a:ext cx="3810000" cy="482600"/>
          </a:xfrm>
          <a:prstGeom prst="rect">
            <a:avLst/>
          </a:prstGeom>
          <a:noFill/>
          <a:ln>
            <a:noFill/>
          </a:ln>
        </p:spPr>
        <p:txBody>
          <a:bodyPr wrap="none" lIns="0" tIns="0" rIns="0" bIns="0" rtlCol="0"/>
          <a:lstStyle/>
          <a:p>
            <a:pPr>
              <a:lnSpc>
                <a:spcPct val="120000"/>
              </a:lnSpc>
            </a:pPr>
            <a:r>
              <a:rPr lang="en-US" sz="3000" b="1" noProof="1">
                <a:solidFill>
                  <a:srgbClr val="0F2B46"/>
                </a:solidFill>
                <a:latin typeface="Archivo"/>
                <a:ea typeface="Archivo"/>
              </a:rPr>
              <a:t>10,200</a:t>
            </a:r>
            <a:endParaRPr lang="en-US" sz="3000" noProof="1"/>
          </a:p>
        </p:txBody>
      </p:sp>
      <p:sp>
        <p:nvSpPr>
          <p:cNvPr id="6" name="stat-1-label"/>
          <p:cNvSpPr txBox="1"/>
          <p:nvPr/>
        </p:nvSpPr>
        <p:spPr>
          <a:xfrm>
            <a:off x="711200" y="2311400"/>
            <a:ext cx="3810000" cy="406400"/>
          </a:xfrm>
          <a:prstGeom prst="rect">
            <a:avLst/>
          </a:prstGeom>
          <a:noFill/>
          <a:ln>
            <a:noFill/>
          </a:ln>
        </p:spPr>
        <p:txBody>
          <a:bodyPr wrap="square" lIns="0" tIns="0" rIns="0" bIns="0" rtlCol="0"/>
          <a:lstStyle/>
          <a:p>
            <a:pPr>
              <a:lnSpc>
                <a:spcPct val="145000"/>
              </a:lnSpc>
            </a:pPr>
            <a:r>
              <a:rPr lang="en-US" sz="1150" noProof="1">
                <a:solidFill>
                  <a:srgbClr val="5C6E7E"/>
                </a:solidFill>
                <a:latin typeface="Inter"/>
                <a:ea typeface="Inter"/>
              </a:rPr>
              <a:t>total rows loaded</a:t>
            </a:r>
            <a:endParaRPr lang="en-US" sz="1150" noProof="1"/>
          </a:p>
        </p:txBody>
      </p:sp>
      <p:sp>
        <p:nvSpPr>
          <p:cNvPr id="7" name="stat-rule-1"/>
          <p:cNvSpPr/>
          <p:nvPr/>
        </p:nvSpPr>
        <p:spPr>
          <a:xfrm>
            <a:off x="711200" y="3149600"/>
            <a:ext cx="3810000" cy="12700"/>
          </a:xfrm>
          <a:prstGeom prst="rect">
            <a:avLst/>
          </a:prstGeom>
          <a:solidFill>
            <a:srgbClr val="D9E2E8"/>
          </a:solidFill>
          <a:ln>
            <a:noFill/>
          </a:ln>
        </p:spPr>
      </p:sp>
      <p:sp>
        <p:nvSpPr>
          <p:cNvPr id="8" name="stat-2-num"/>
          <p:cNvSpPr txBox="1"/>
          <p:nvPr/>
        </p:nvSpPr>
        <p:spPr>
          <a:xfrm>
            <a:off x="711200" y="3403600"/>
            <a:ext cx="3810000" cy="482600"/>
          </a:xfrm>
          <a:prstGeom prst="rect">
            <a:avLst/>
          </a:prstGeom>
          <a:noFill/>
          <a:ln>
            <a:noFill/>
          </a:ln>
        </p:spPr>
        <p:txBody>
          <a:bodyPr wrap="none" lIns="0" tIns="0" rIns="0" bIns="0" rtlCol="0"/>
          <a:lstStyle/>
          <a:p>
            <a:pPr>
              <a:lnSpc>
                <a:spcPct val="120000"/>
              </a:lnSpc>
            </a:pPr>
            <a:r>
              <a:rPr lang="en-US" sz="3000" b="1" noProof="1">
                <a:solidFill>
                  <a:srgbClr val="D96C2C"/>
                </a:solidFill>
                <a:latin typeface="Archivo"/>
                <a:ea typeface="Archivo"/>
              </a:rPr>
              <a:t>7,864</a:t>
            </a:r>
            <a:endParaRPr lang="en-US" sz="3000" noProof="1"/>
          </a:p>
        </p:txBody>
      </p:sp>
      <p:sp>
        <p:nvSpPr>
          <p:cNvPr id="9" name="stat-2-label"/>
          <p:cNvSpPr txBox="1"/>
          <p:nvPr/>
        </p:nvSpPr>
        <p:spPr>
          <a:xfrm>
            <a:off x="711200" y="3937000"/>
            <a:ext cx="3810000" cy="406400"/>
          </a:xfrm>
          <a:prstGeom prst="rect">
            <a:avLst/>
          </a:prstGeom>
          <a:noFill/>
          <a:ln>
            <a:noFill/>
          </a:ln>
        </p:spPr>
        <p:txBody>
          <a:bodyPr wrap="square" lIns="0" tIns="0" rIns="0" bIns="0" rtlCol="0"/>
          <a:lstStyle/>
          <a:p>
            <a:pPr>
              <a:lnSpc>
                <a:spcPct val="145000"/>
              </a:lnSpc>
            </a:pPr>
            <a:r>
              <a:rPr lang="en-US" sz="1150" noProof="1">
                <a:solidFill>
                  <a:srgbClr val="5C6E7E"/>
                </a:solidFill>
                <a:latin typeface="Inter"/>
                <a:ea typeface="Inter"/>
              </a:rPr>
              <a:t>missing cells across the 5 numeric columns</a:t>
            </a:r>
            <a:endParaRPr lang="en-US" sz="1150" noProof="1"/>
          </a:p>
        </p:txBody>
      </p:sp>
      <p:sp>
        <p:nvSpPr>
          <p:cNvPr id="10" name="stat-rule-2"/>
          <p:cNvSpPr/>
          <p:nvPr/>
        </p:nvSpPr>
        <p:spPr>
          <a:xfrm>
            <a:off x="711200" y="4775200"/>
            <a:ext cx="3810000" cy="12700"/>
          </a:xfrm>
          <a:prstGeom prst="rect">
            <a:avLst/>
          </a:prstGeom>
          <a:solidFill>
            <a:srgbClr val="D9E2E8"/>
          </a:solidFill>
          <a:ln>
            <a:noFill/>
          </a:ln>
        </p:spPr>
      </p:sp>
      <p:sp>
        <p:nvSpPr>
          <p:cNvPr id="11" name="stat-3-num"/>
          <p:cNvSpPr txBox="1"/>
          <p:nvPr/>
        </p:nvSpPr>
        <p:spPr>
          <a:xfrm>
            <a:off x="711200" y="5029200"/>
            <a:ext cx="3810000" cy="482600"/>
          </a:xfrm>
          <a:prstGeom prst="rect">
            <a:avLst/>
          </a:prstGeom>
          <a:noFill/>
          <a:ln>
            <a:noFill/>
          </a:ln>
        </p:spPr>
        <p:txBody>
          <a:bodyPr wrap="none" lIns="0" tIns="0" rIns="0" bIns="0" rtlCol="0"/>
          <a:lstStyle/>
          <a:p>
            <a:pPr>
              <a:lnSpc>
                <a:spcPct val="120000"/>
              </a:lnSpc>
            </a:pPr>
            <a:r>
              <a:rPr lang="en-US" sz="3000" b="1" noProof="1">
                <a:solidFill>
                  <a:srgbClr val="D96C2C"/>
                </a:solidFill>
                <a:latin typeface="Archivo"/>
                <a:ea typeface="Archivo"/>
              </a:rPr>
              <a:t>200</a:t>
            </a:r>
            <a:endParaRPr lang="en-US" sz="3000" noProof="1"/>
          </a:p>
        </p:txBody>
      </p:sp>
      <p:sp>
        <p:nvSpPr>
          <p:cNvPr id="12" name="stat-3-label"/>
          <p:cNvSpPr txBox="1"/>
          <p:nvPr/>
        </p:nvSpPr>
        <p:spPr>
          <a:xfrm>
            <a:off x="711200" y="5562600"/>
            <a:ext cx="3810000" cy="609600"/>
          </a:xfrm>
          <a:prstGeom prst="rect">
            <a:avLst/>
          </a:prstGeom>
          <a:noFill/>
          <a:ln>
            <a:noFill/>
          </a:ln>
        </p:spPr>
        <p:txBody>
          <a:bodyPr wrap="square" lIns="0" tIns="0" rIns="0" bIns="0" rtlCol="0"/>
          <a:lstStyle/>
          <a:p>
            <a:pPr>
              <a:lnSpc>
                <a:spcPct val="145000"/>
              </a:lnSpc>
            </a:pPr>
            <a:r>
              <a:rPr lang="en-US" sz="1150" noProof="1">
                <a:solidFill>
                  <a:srgbClr val="5C6E7E"/>
                </a:solidFill>
                <a:latin typeface="Inter"/>
                <a:ea typeface="Inter"/>
              </a:rPr>
              <a:t>rows sharing a UDI — 147 exact copies + 53 near-duplicates with a blank or corrupted cell</a:t>
            </a:r>
            <a:endParaRPr lang="en-US" sz="1150" noProof="1"/>
          </a:p>
        </p:txBody>
      </p:sp>
      <p:sp>
        <p:nvSpPr>
          <p:cNvPr id="13" name="finding-icon-1"/>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eyJpY29uTmFtZSI6ImZhczp0cmlhbmdsZS1leGNsYW1hdGlvbiJ9</pptd:icon>
              </p:ext>
            </p:extLst>
          </p:nvPr>
        </p:nvSpPr>
        <p:spPr>
          <a:xfrm>
            <a:off x="5461000" y="1816100"/>
            <a:ext cx="203200" cy="203200"/>
          </a:xfrm>
          <a:custGeom>
            <a:avLst/>
            <a:gdLst/>
            <a:ahLst/>
            <a:cxnLst/>
            <a:rect l="l" t="t" r="r" b="b"/>
            <a:pathLst>
              <a:path w="512" h="512">
                <a:moveTo>
                  <a:pt x="256" y="0"/>
                </a:moveTo>
                <a:cubicBezTo>
                  <a:pt x="271" y="0"/>
                  <a:pt x="284" y="8"/>
                  <a:pt x="291" y="21"/>
                </a:cubicBezTo>
                <a:lnTo>
                  <a:pt x="507" y="421"/>
                </a:lnTo>
                <a:cubicBezTo>
                  <a:pt x="514" y="433"/>
                  <a:pt x="514" y="448"/>
                  <a:pt x="506" y="461"/>
                </a:cubicBezTo>
                <a:cubicBezTo>
                  <a:pt x="499" y="473"/>
                  <a:pt x="486" y="480"/>
                  <a:pt x="472" y="480"/>
                </a:cubicBezTo>
                <a:lnTo>
                  <a:pt x="40" y="480"/>
                </a:lnTo>
                <a:cubicBezTo>
                  <a:pt x="26" y="480"/>
                  <a:pt x="13" y="473"/>
                  <a:pt x="6" y="461"/>
                </a:cubicBezTo>
                <a:cubicBezTo>
                  <a:pt x="-2" y="448"/>
                  <a:pt x="-2" y="433"/>
                  <a:pt x="5" y="421"/>
                </a:cubicBezTo>
                <a:lnTo>
                  <a:pt x="221" y="21"/>
                </a:lnTo>
                <a:cubicBezTo>
                  <a:pt x="228" y="8"/>
                  <a:pt x="241" y="0"/>
                  <a:pt x="256" y="0"/>
                </a:cubicBezTo>
                <a:close/>
                <a:moveTo>
                  <a:pt x="256" y="352"/>
                </a:moveTo>
                <a:cubicBezTo>
                  <a:pt x="238" y="352"/>
                  <a:pt x="224" y="366"/>
                  <a:pt x="224" y="384"/>
                </a:cubicBezTo>
                <a:cubicBezTo>
                  <a:pt x="224" y="402"/>
                  <a:pt x="238" y="416"/>
                  <a:pt x="256" y="416"/>
                </a:cubicBezTo>
                <a:cubicBezTo>
                  <a:pt x="274" y="416"/>
                  <a:pt x="288" y="402"/>
                  <a:pt x="288" y="384"/>
                </a:cubicBezTo>
                <a:cubicBezTo>
                  <a:pt x="288" y="366"/>
                  <a:pt x="274" y="352"/>
                  <a:pt x="256" y="352"/>
                </a:cubicBezTo>
                <a:close/>
                <a:moveTo>
                  <a:pt x="256" y="160"/>
                </a:moveTo>
                <a:cubicBezTo>
                  <a:pt x="238" y="160"/>
                  <a:pt x="223" y="176"/>
                  <a:pt x="225" y="194"/>
                </a:cubicBezTo>
                <a:lnTo>
                  <a:pt x="232" y="298"/>
                </a:lnTo>
                <a:cubicBezTo>
                  <a:pt x="233" y="310"/>
                  <a:pt x="243" y="320"/>
                  <a:pt x="256" y="320"/>
                </a:cubicBezTo>
                <a:cubicBezTo>
                  <a:pt x="269" y="320"/>
                  <a:pt x="279" y="310"/>
                  <a:pt x="280" y="298"/>
                </a:cubicBezTo>
                <a:lnTo>
                  <a:pt x="287" y="194"/>
                </a:lnTo>
                <a:cubicBezTo>
                  <a:pt x="289" y="176"/>
                  <a:pt x="274" y="160"/>
                  <a:pt x="256" y="160"/>
                </a:cubicBezTo>
                <a:close/>
              </a:path>
            </a:pathLst>
          </a:custGeom>
          <a:solidFill>
            <a:srgbClr val="D96C2C"/>
          </a:solidFill>
          <a:ln>
            <a:noFill/>
          </a:ln>
        </p:spPr>
      </p:sp>
      <p:sp>
        <p:nvSpPr>
          <p:cNvPr id="14" name="finding-1"/>
          <p:cNvSpPr txBox="1"/>
          <p:nvPr/>
        </p:nvSpPr>
        <p:spPr>
          <a:xfrm>
            <a:off x="5816600" y="1752600"/>
            <a:ext cx="5664200" cy="838200"/>
          </a:xfrm>
          <a:prstGeom prst="rect">
            <a:avLst/>
          </a:prstGeom>
          <a:noFill/>
          <a:ln>
            <a:noFill/>
          </a:ln>
        </p:spPr>
        <p:txBody>
          <a:bodyPr wrap="square" lIns="0" tIns="0" rIns="0" bIns="0" rtlCol="0"/>
          <a:lstStyle/>
          <a:p>
            <a:pPr>
              <a:lnSpc>
                <a:spcPct val="155000"/>
              </a:lnSpc>
            </a:pPr>
            <a:r>
              <a:rPr lang="en-US" sz="1250" b="1" noProof="1">
                <a:solidFill>
                  <a:srgbClr val="22303C"/>
                </a:solidFill>
                <a:latin typeface="Inter"/>
                <a:ea typeface="Inter"/>
              </a:rPr>
              <a:t>Natural Outliers: </a:t>
            </a:r>
            <a:r>
              <a:rPr lang="en-US" sz="1250" noProof="1">
                <a:solidFill>
                  <a:srgbClr val="22303C"/>
                </a:solidFill>
                <a:latin typeface="Inter"/>
                <a:ea typeface="Inter"/>
              </a:rPr>
              <a:t>Boxplots and describe() revealed extreme but statistically valid outliers (e.g., high torque and rotational speed).</a:t>
            </a:r>
            <a:endParaRPr lang="en-US" sz="1250" noProof="1"/>
          </a:p>
        </p:txBody>
      </p:sp>
      <p:sp>
        <p:nvSpPr>
          <p:cNvPr id="15" name="finding-icon-2"/>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eyJpY29uTmFtZSI6ImZhczp0cmlhbmdsZS1leGNsYW1hdGlvbiJ9</pptd:icon>
              </p:ext>
            </p:extLst>
          </p:nvPr>
        </p:nvSpPr>
        <p:spPr>
          <a:xfrm>
            <a:off x="5461000" y="3213100"/>
            <a:ext cx="203200" cy="203200"/>
          </a:xfrm>
          <a:custGeom>
            <a:avLst/>
            <a:gdLst/>
            <a:ahLst/>
            <a:cxnLst/>
            <a:rect l="l" t="t" r="r" b="b"/>
            <a:pathLst>
              <a:path w="512" h="512">
                <a:moveTo>
                  <a:pt x="256" y="0"/>
                </a:moveTo>
                <a:cubicBezTo>
                  <a:pt x="271" y="0"/>
                  <a:pt x="284" y="8"/>
                  <a:pt x="291" y="21"/>
                </a:cubicBezTo>
                <a:lnTo>
                  <a:pt x="507" y="421"/>
                </a:lnTo>
                <a:cubicBezTo>
                  <a:pt x="514" y="433"/>
                  <a:pt x="514" y="448"/>
                  <a:pt x="506" y="461"/>
                </a:cubicBezTo>
                <a:cubicBezTo>
                  <a:pt x="499" y="473"/>
                  <a:pt x="486" y="480"/>
                  <a:pt x="472" y="480"/>
                </a:cubicBezTo>
                <a:lnTo>
                  <a:pt x="40" y="480"/>
                </a:lnTo>
                <a:cubicBezTo>
                  <a:pt x="26" y="480"/>
                  <a:pt x="13" y="473"/>
                  <a:pt x="6" y="461"/>
                </a:cubicBezTo>
                <a:cubicBezTo>
                  <a:pt x="-2" y="448"/>
                  <a:pt x="-2" y="433"/>
                  <a:pt x="5" y="421"/>
                </a:cubicBezTo>
                <a:lnTo>
                  <a:pt x="221" y="21"/>
                </a:lnTo>
                <a:cubicBezTo>
                  <a:pt x="228" y="8"/>
                  <a:pt x="241" y="0"/>
                  <a:pt x="256" y="0"/>
                </a:cubicBezTo>
                <a:close/>
                <a:moveTo>
                  <a:pt x="256" y="352"/>
                </a:moveTo>
                <a:cubicBezTo>
                  <a:pt x="238" y="352"/>
                  <a:pt x="224" y="366"/>
                  <a:pt x="224" y="384"/>
                </a:cubicBezTo>
                <a:cubicBezTo>
                  <a:pt x="224" y="402"/>
                  <a:pt x="238" y="416"/>
                  <a:pt x="256" y="416"/>
                </a:cubicBezTo>
                <a:cubicBezTo>
                  <a:pt x="274" y="416"/>
                  <a:pt x="288" y="402"/>
                  <a:pt x="288" y="384"/>
                </a:cubicBezTo>
                <a:cubicBezTo>
                  <a:pt x="288" y="366"/>
                  <a:pt x="274" y="352"/>
                  <a:pt x="256" y="352"/>
                </a:cubicBezTo>
                <a:close/>
                <a:moveTo>
                  <a:pt x="256" y="160"/>
                </a:moveTo>
                <a:cubicBezTo>
                  <a:pt x="238" y="160"/>
                  <a:pt x="223" y="176"/>
                  <a:pt x="225" y="194"/>
                </a:cubicBezTo>
                <a:lnTo>
                  <a:pt x="232" y="298"/>
                </a:lnTo>
                <a:cubicBezTo>
                  <a:pt x="233" y="310"/>
                  <a:pt x="243" y="320"/>
                  <a:pt x="256" y="320"/>
                </a:cubicBezTo>
                <a:cubicBezTo>
                  <a:pt x="269" y="320"/>
                  <a:pt x="279" y="310"/>
                  <a:pt x="280" y="298"/>
                </a:cubicBezTo>
                <a:lnTo>
                  <a:pt x="287" y="194"/>
                </a:lnTo>
                <a:cubicBezTo>
                  <a:pt x="289" y="176"/>
                  <a:pt x="274" y="160"/>
                  <a:pt x="256" y="160"/>
                </a:cubicBezTo>
                <a:close/>
              </a:path>
            </a:pathLst>
          </a:custGeom>
          <a:solidFill>
            <a:srgbClr val="D96C2C"/>
          </a:solidFill>
          <a:ln>
            <a:noFill/>
          </a:ln>
        </p:spPr>
      </p:sp>
      <p:sp>
        <p:nvSpPr>
          <p:cNvPr id="16" name="finding-2"/>
          <p:cNvSpPr txBox="1"/>
          <p:nvPr/>
        </p:nvSpPr>
        <p:spPr>
          <a:xfrm>
            <a:off x="5816600" y="3149600"/>
            <a:ext cx="5664200" cy="838200"/>
          </a:xfrm>
          <a:prstGeom prst="rect">
            <a:avLst/>
          </a:prstGeom>
          <a:noFill/>
          <a:ln>
            <a:noFill/>
          </a:ln>
        </p:spPr>
        <p:txBody>
          <a:bodyPr wrap="square" lIns="0" tIns="0" rIns="0" bIns="0" rtlCol="0"/>
          <a:lstStyle/>
          <a:p>
            <a:pPr>
              <a:lnSpc>
                <a:spcPct val="155000"/>
              </a:lnSpc>
            </a:pPr>
            <a:r>
              <a:rPr lang="en-US" sz="1250" b="1" noProof="1">
                <a:solidFill>
                  <a:srgbClr val="22303C"/>
                </a:solidFill>
                <a:latin typeface="Inter"/>
                <a:ea typeface="Inter"/>
              </a:rPr>
              <a:t>Data type issue.</a:t>
            </a:r>
            <a:r>
              <a:rPr lang="en-US" sz="1250" noProof="1">
                <a:solidFill>
                  <a:srgbClr val="22303C"/>
                </a:solidFill>
                <a:latin typeface="Inter"/>
                <a:ea typeface="Inter"/>
              </a:rPr>
              <a:t> Rotational speed and Tool wear loaded as decimals (</a:t>
            </a:r>
            <a:r>
              <a:rPr lang="en-US" sz="1150" noProof="1">
                <a:solidFill>
                  <a:srgbClr val="22303C"/>
                </a:solidFill>
                <a:latin typeface="JetBrains Mono"/>
                <a:ea typeface="JetBrains Mono"/>
              </a:rPr>
              <a:t>float64</a:t>
            </a:r>
            <a:r>
              <a:rPr lang="en-US" sz="1250" noProof="1">
                <a:solidFill>
                  <a:srgbClr val="22303C"/>
                </a:solidFill>
                <a:latin typeface="Inter"/>
                <a:ea typeface="Inter"/>
              </a:rPr>
              <a:t>) although they are whole numbers.</a:t>
            </a:r>
            <a:endParaRPr lang="en-US" sz="1250" noProof="1"/>
          </a:p>
        </p:txBody>
      </p:sp>
      <p:sp>
        <p:nvSpPr>
          <p:cNvPr id="17" name="finding-icon-3"/>
          <p:cNvSpPr/>
          <p:nvPr>
            <p:extLst>
              <p:ext uri="{F5677B7D-0D2A-4D9B-9A5C-6D8D7D0E5A5D}">
                <pptd:icon xmlns="" xmlns:a14="http://schemas.microsoft.com/office/drawing/2010/main" xmlns:c="http://schemas.openxmlformats.org/drawingml/2006/chart" xmlns:cx="http://schemas.microsoft.com/office/drawing/2014/chartex" xmlns:m="http://schemas.openxmlformats.org/officeDocument/2006/math" xmlns:mc="http://schemas.openxmlformats.org/markup-compatibility/2006" xmlns:pptd="https://kimi-design.msh.team/pptd/2026" encoding="base64url">eyJpY29uTmFtZSI6ImZhczpjaXJjbGUtY2hlY2sifQ</pptd:icon>
              </p:ext>
            </p:extLst>
          </p:nvPr>
        </p:nvSpPr>
        <p:spPr>
          <a:xfrm>
            <a:off x="5461000" y="4610100"/>
            <a:ext cx="203200" cy="203200"/>
          </a:xfrm>
          <a:custGeom>
            <a:avLst/>
            <a:gdLst/>
            <a:ahLst/>
            <a:cxnLst/>
            <a:rect l="l" t="t" r="r" b="b"/>
            <a:pathLst>
              <a:path w="512" h="512">
                <a:moveTo>
                  <a:pt x="256" y="512"/>
                </a:moveTo>
                <a:cubicBezTo>
                  <a:pt x="115" y="512"/>
                  <a:pt x="0" y="397"/>
                  <a:pt x="0" y="256"/>
                </a:cubicBezTo>
                <a:cubicBezTo>
                  <a:pt x="0" y="115"/>
                  <a:pt x="115" y="0"/>
                  <a:pt x="256" y="0"/>
                </a:cubicBezTo>
                <a:cubicBezTo>
                  <a:pt x="397" y="0"/>
                  <a:pt x="512" y="115"/>
                  <a:pt x="512" y="256"/>
                </a:cubicBezTo>
                <a:cubicBezTo>
                  <a:pt x="512" y="397"/>
                  <a:pt x="397" y="512"/>
                  <a:pt x="256" y="512"/>
                </a:cubicBezTo>
                <a:close/>
                <a:moveTo>
                  <a:pt x="374" y="146"/>
                </a:moveTo>
                <a:cubicBezTo>
                  <a:pt x="363" y="138"/>
                  <a:pt x="348" y="140"/>
                  <a:pt x="341" y="151"/>
                </a:cubicBezTo>
                <a:lnTo>
                  <a:pt x="221" y="315"/>
                </a:lnTo>
                <a:lnTo>
                  <a:pt x="169" y="263"/>
                </a:lnTo>
                <a:cubicBezTo>
                  <a:pt x="160" y="254"/>
                  <a:pt x="144" y="254"/>
                  <a:pt x="135" y="263"/>
                </a:cubicBezTo>
                <a:cubicBezTo>
                  <a:pt x="126" y="273"/>
                  <a:pt x="126" y="288"/>
                  <a:pt x="135" y="297"/>
                </a:cubicBezTo>
                <a:lnTo>
                  <a:pt x="207" y="369"/>
                </a:lnTo>
                <a:cubicBezTo>
                  <a:pt x="212" y="374"/>
                  <a:pt x="219" y="377"/>
                  <a:pt x="226" y="376"/>
                </a:cubicBezTo>
                <a:cubicBezTo>
                  <a:pt x="233" y="376"/>
                  <a:pt x="239" y="372"/>
                  <a:pt x="243" y="366"/>
                </a:cubicBezTo>
                <a:lnTo>
                  <a:pt x="379" y="179"/>
                </a:lnTo>
                <a:cubicBezTo>
                  <a:pt x="387" y="169"/>
                  <a:pt x="385" y="154"/>
                  <a:pt x="374" y="146"/>
                </a:cubicBezTo>
                <a:close/>
              </a:path>
            </a:pathLst>
          </a:custGeom>
          <a:solidFill>
            <a:srgbClr val="14A39B"/>
          </a:solidFill>
          <a:ln>
            <a:noFill/>
          </a:ln>
        </p:spPr>
      </p:sp>
      <p:sp>
        <p:nvSpPr>
          <p:cNvPr id="18" name="finding-3"/>
          <p:cNvSpPr txBox="1"/>
          <p:nvPr/>
        </p:nvSpPr>
        <p:spPr>
          <a:xfrm>
            <a:off x="5816600" y="4546600"/>
            <a:ext cx="5664200" cy="609600"/>
          </a:xfrm>
          <a:prstGeom prst="rect">
            <a:avLst/>
          </a:prstGeom>
          <a:noFill/>
          <a:ln>
            <a:noFill/>
          </a:ln>
        </p:spPr>
        <p:txBody>
          <a:bodyPr wrap="square" lIns="0" tIns="0" rIns="0" bIns="0" rtlCol="0"/>
          <a:lstStyle/>
          <a:p>
            <a:pPr>
              <a:lnSpc>
                <a:spcPct val="155000"/>
              </a:lnSpc>
            </a:pPr>
            <a:r>
              <a:rPr lang="en-US" sz="1250" b="1" noProof="1">
                <a:solidFill>
                  <a:srgbClr val="22303C"/>
                </a:solidFill>
                <a:latin typeface="Inter"/>
                <a:ea typeface="Inter"/>
              </a:rPr>
              <a:t>Checked and clean.</a:t>
            </a:r>
            <a:r>
              <a:rPr lang="en-US" sz="1250" noProof="1">
                <a:solidFill>
                  <a:srgbClr val="22303C"/>
                </a:solidFill>
                <a:latin typeface="Inter"/>
                <a:ea typeface="Inter"/>
              </a:rPr>
              <a:t> Type and Product ID — no blanks, valid categories.</a:t>
            </a:r>
            <a:endParaRPr lang="en-US" sz="1250" noProof="1"/>
          </a:p>
        </p:txBody>
      </p:sp>
      <p:sp>
        <p:nvSpPr>
          <p:cNvPr id="19"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20"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a:solidFill>
                  <a:srgbClr val="5C6E7E"/>
                </a:solidFill>
                <a:latin typeface="Inter"/>
                <a:ea typeface="Inter"/>
              </a:rPr>
              <a:t>04</a:t>
            </a:r>
            <a:endParaRPr lang="en-US" sz="1000" noProof="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05 · CLEANING DECISIONS — PART 1</a:t>
            </a:r>
            <a:endParaRPr lang="en-US" sz="1100" noProof="1"/>
          </a:p>
        </p:txBody>
      </p:sp>
      <p:sp>
        <p:nvSpPr>
          <p:cNvPr id="3" name="title"/>
          <p:cNvSpPr txBox="1"/>
          <p:nvPr/>
        </p:nvSpPr>
        <p:spPr>
          <a:xfrm>
            <a:off x="711200" y="787400"/>
            <a:ext cx="9652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Cleaning Decisions: Duplicates &amp; Outliers</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sp>
        <p:nvSpPr>
          <p:cNvPr id="5" name="d1-label"/>
          <p:cNvSpPr txBox="1"/>
          <p:nvPr/>
        </p:nvSpPr>
        <p:spPr>
          <a:xfrm>
            <a:off x="711200" y="16764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DECISION 1</a:t>
            </a:r>
            <a:endParaRPr lang="en-US" sz="1100" noProof="1"/>
          </a:p>
        </p:txBody>
      </p:sp>
      <p:sp>
        <p:nvSpPr>
          <p:cNvPr id="6" name="d1-headline"/>
          <p:cNvSpPr txBox="1"/>
          <p:nvPr/>
        </p:nvSpPr>
        <p:spPr>
          <a:xfrm>
            <a:off x="711200" y="1905000"/>
            <a:ext cx="8890000" cy="330200"/>
          </a:xfrm>
          <a:prstGeom prst="rect">
            <a:avLst/>
          </a:prstGeom>
          <a:noFill/>
          <a:ln>
            <a:noFill/>
          </a:ln>
        </p:spPr>
        <p:txBody>
          <a:bodyPr wrap="none" lIns="0" tIns="0" rIns="0" bIns="0" rtlCol="0"/>
          <a:lstStyle/>
          <a:p>
            <a:pPr>
              <a:lnSpc>
                <a:spcPct val="120000"/>
              </a:lnSpc>
            </a:pPr>
            <a:r>
              <a:rPr lang="en-US" sz="1800" b="1" noProof="1">
                <a:solidFill>
                  <a:srgbClr val="0F2B46"/>
                </a:solidFill>
                <a:latin typeface="Archivo"/>
                <a:ea typeface="Archivo"/>
              </a:rPr>
              <a:t>Remove duplicates by UDI</a:t>
            </a:r>
            <a:endParaRPr lang="en-US" sz="1800" noProof="1"/>
          </a:p>
        </p:txBody>
      </p:sp>
      <p:sp>
        <p:nvSpPr>
          <p:cNvPr id="7" name="d1-body"/>
          <p:cNvSpPr txBox="1"/>
          <p:nvPr/>
        </p:nvSpPr>
        <p:spPr>
          <a:xfrm>
            <a:off x="711200" y="2336800"/>
            <a:ext cx="10769600" cy="1270000"/>
          </a:xfrm>
          <a:prstGeom prst="rect">
            <a:avLst/>
          </a:prstGeom>
          <a:noFill/>
          <a:ln>
            <a:noFill/>
          </a:ln>
        </p:spPr>
        <p:txBody>
          <a:bodyPr wrap="square" lIns="0" tIns="0" rIns="0" bIns="0" rtlCol="0"/>
          <a:lstStyle/>
          <a:p>
            <a:pPr>
              <a:lnSpc>
                <a:spcPct val="155000"/>
              </a:lnSpc>
            </a:pPr>
            <a:r>
              <a:rPr lang="en-US" sz="1100" b="1" noProof="1">
                <a:solidFill>
                  <a:srgbClr val="14A39B"/>
                </a:solidFill>
                <a:latin typeface="Archivo"/>
                <a:ea typeface="Archivo"/>
              </a:rPr>
              <a:t>ACTION</a:t>
            </a:r>
            <a:r>
              <a:rPr lang="en-US" sz="1300" noProof="1">
                <a:solidFill>
                  <a:srgbClr val="22303C"/>
                </a:solidFill>
                <a:latin typeface="Inter"/>
                <a:ea typeface="Inter"/>
              </a:rPr>
              <a:t>　</a:t>
            </a:r>
            <a:r>
              <a:rPr lang="en-US" sz="1300" noProof="1">
                <a:solidFill>
                  <a:srgbClr val="22303C"/>
                </a:solidFill>
                <a:latin typeface="Inter"/>
                <a:ea typeface="Inter"/>
              </a:rPr>
              <a:t>Sorted the dataset by UDI and the number of missing values (NaNs), then kept the most complete row per UDI (200 rows </a:t>
            </a:r>
            <a:r>
              <a:rPr lang="en-US" sz="1300" noProof="1">
                <a:solidFill>
                  <a:srgbClr val="22303C"/>
                </a:solidFill>
                <a:latin typeface="Inter"/>
                <a:ea typeface="Inter"/>
              </a:rPr>
              <a:t>removed</a:t>
            </a:r>
            <a:r>
              <a:rPr lang="en-US" sz="1300" noProof="1" smtClean="0">
                <a:solidFill>
                  <a:srgbClr val="22303C"/>
                </a:solidFill>
                <a:latin typeface="Inter"/>
                <a:ea typeface="Inter"/>
              </a:rPr>
              <a:t>).</a:t>
            </a:r>
            <a:endParaRPr lang="ar-JO" sz="1300" noProof="1" smtClean="0">
              <a:solidFill>
                <a:srgbClr val="22303C"/>
              </a:solidFill>
              <a:latin typeface="Inter"/>
              <a:ea typeface="Inter"/>
            </a:endParaRPr>
          </a:p>
          <a:p>
            <a:pPr>
              <a:lnSpc>
                <a:spcPct val="155000"/>
              </a:lnSpc>
            </a:pPr>
            <a:r>
              <a:rPr lang="en-US" sz="1100" b="1" noProof="1" smtClean="0">
                <a:solidFill>
                  <a:srgbClr val="14A39B"/>
                </a:solidFill>
                <a:latin typeface="Archivo"/>
                <a:ea typeface="Archivo"/>
              </a:rPr>
              <a:t>REASON</a:t>
            </a:r>
            <a:r>
              <a:rPr lang="en-US" sz="1300" noProof="1" smtClean="0">
                <a:solidFill>
                  <a:srgbClr val="22303C"/>
                </a:solidFill>
                <a:latin typeface="Inter"/>
                <a:ea typeface="Inter"/>
              </a:rPr>
              <a:t>　</a:t>
            </a:r>
            <a:r>
              <a:rPr lang="en-US" sz="1150" noProof="1">
                <a:solidFill>
                  <a:srgbClr val="22303C"/>
                </a:solidFill>
                <a:latin typeface="JetBrains Mono"/>
                <a:ea typeface="JetBrains Mono"/>
              </a:rPr>
              <a:t>The standard duplicated() function misses rows where copies differ slightly due to injected blanks. Removing them by UDI ensures our baseline remains undistorted.</a:t>
            </a:r>
            <a:endParaRPr lang="en-US" sz="1300" noProof="1"/>
          </a:p>
        </p:txBody>
      </p:sp>
      <p:sp>
        <p:nvSpPr>
          <p:cNvPr id="8" name="divider"/>
          <p:cNvSpPr/>
          <p:nvPr/>
        </p:nvSpPr>
        <p:spPr>
          <a:xfrm>
            <a:off x="711200" y="3835400"/>
            <a:ext cx="10769600" cy="12700"/>
          </a:xfrm>
          <a:prstGeom prst="rect">
            <a:avLst/>
          </a:prstGeom>
          <a:solidFill>
            <a:srgbClr val="D9E2E8"/>
          </a:solidFill>
          <a:ln>
            <a:noFill/>
          </a:ln>
        </p:spPr>
      </p:sp>
      <p:sp>
        <p:nvSpPr>
          <p:cNvPr id="9" name="d2-label"/>
          <p:cNvSpPr txBox="1"/>
          <p:nvPr/>
        </p:nvSpPr>
        <p:spPr>
          <a:xfrm>
            <a:off x="711200" y="40894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DECISION 2</a:t>
            </a:r>
            <a:endParaRPr lang="en-US" sz="1100" noProof="1"/>
          </a:p>
        </p:txBody>
      </p:sp>
      <p:sp>
        <p:nvSpPr>
          <p:cNvPr id="10" name="d2-headline"/>
          <p:cNvSpPr txBox="1"/>
          <p:nvPr/>
        </p:nvSpPr>
        <p:spPr>
          <a:xfrm>
            <a:off x="711200" y="4318000"/>
            <a:ext cx="8890000" cy="330200"/>
          </a:xfrm>
          <a:prstGeom prst="rect">
            <a:avLst/>
          </a:prstGeom>
          <a:noFill/>
          <a:ln>
            <a:noFill/>
          </a:ln>
        </p:spPr>
        <p:txBody>
          <a:bodyPr wrap="none" lIns="0" tIns="0" rIns="0" bIns="0" rtlCol="0"/>
          <a:lstStyle/>
          <a:p>
            <a:pPr>
              <a:lnSpc>
                <a:spcPct val="120000"/>
              </a:lnSpc>
            </a:pPr>
            <a:r>
              <a:rPr lang="en-US" b="1" noProof="1">
                <a:solidFill>
                  <a:srgbClr val="0F2B46"/>
                </a:solidFill>
                <a:latin typeface="Archivo"/>
                <a:ea typeface="Archivo"/>
              </a:rPr>
              <a:t>Keep Natural Outliers</a:t>
            </a:r>
            <a:endParaRPr lang="en-US" sz="1800" noProof="1"/>
          </a:p>
        </p:txBody>
      </p:sp>
      <p:sp>
        <p:nvSpPr>
          <p:cNvPr id="11" name="d2-body"/>
          <p:cNvSpPr txBox="1"/>
          <p:nvPr/>
        </p:nvSpPr>
        <p:spPr>
          <a:xfrm>
            <a:off x="711200" y="4749800"/>
            <a:ext cx="10769600" cy="1397000"/>
          </a:xfrm>
          <a:prstGeom prst="rect">
            <a:avLst/>
          </a:prstGeom>
          <a:noFill/>
          <a:ln>
            <a:noFill/>
          </a:ln>
        </p:spPr>
        <p:txBody>
          <a:bodyPr wrap="square" lIns="0" tIns="0" rIns="0" bIns="0" rtlCol="0"/>
          <a:lstStyle/>
          <a:p>
            <a:pPr>
              <a:lnSpc>
                <a:spcPct val="155000"/>
              </a:lnSpc>
            </a:pPr>
            <a:r>
              <a:rPr lang="en-US" sz="1100" b="1" noProof="1">
                <a:solidFill>
                  <a:srgbClr val="14A39B"/>
                </a:solidFill>
                <a:latin typeface="Archivo"/>
                <a:ea typeface="Archivo"/>
              </a:rPr>
              <a:t>ACTION</a:t>
            </a:r>
            <a:r>
              <a:rPr lang="en-US" sz="1300" noProof="1">
                <a:solidFill>
                  <a:srgbClr val="22303C"/>
                </a:solidFill>
                <a:latin typeface="Inter"/>
                <a:ea typeface="Inter"/>
              </a:rPr>
              <a:t>　</a:t>
            </a:r>
            <a:r>
              <a:rPr lang="en-US" sz="1300" noProof="1">
                <a:solidFill>
                  <a:srgbClr val="22303C"/>
                </a:solidFill>
                <a:latin typeface="Inter"/>
                <a:ea typeface="Inter"/>
              </a:rPr>
              <a:t>We analyzed boxplots and deliberately decided NOT to clip or remove any </a:t>
            </a:r>
            <a:r>
              <a:rPr lang="en-US" sz="1300" noProof="1">
                <a:solidFill>
                  <a:srgbClr val="22303C"/>
                </a:solidFill>
                <a:latin typeface="Inter"/>
                <a:ea typeface="Inter"/>
              </a:rPr>
              <a:t>statistical </a:t>
            </a:r>
            <a:r>
              <a:rPr lang="en-US" sz="1300" noProof="1" smtClean="0">
                <a:solidFill>
                  <a:srgbClr val="22303C"/>
                </a:solidFill>
                <a:latin typeface="Inter"/>
                <a:ea typeface="Inter"/>
              </a:rPr>
              <a:t>outliers</a:t>
            </a:r>
            <a:endParaRPr lang="ar-JO" sz="1300" noProof="1" smtClean="0">
              <a:solidFill>
                <a:srgbClr val="22303C"/>
              </a:solidFill>
              <a:latin typeface="Inter"/>
              <a:ea typeface="Inter"/>
            </a:endParaRPr>
          </a:p>
          <a:p>
            <a:pPr>
              <a:lnSpc>
                <a:spcPct val="155000"/>
              </a:lnSpc>
            </a:pPr>
            <a:r>
              <a:rPr lang="en-US" sz="1100" b="1" noProof="1" smtClean="0">
                <a:solidFill>
                  <a:srgbClr val="14A39B"/>
                </a:solidFill>
                <a:latin typeface="Archivo"/>
                <a:ea typeface="Archivo"/>
              </a:rPr>
              <a:t>REASON</a:t>
            </a:r>
            <a:r>
              <a:rPr lang="en-US" sz="1300" noProof="1">
                <a:solidFill>
                  <a:srgbClr val="22303C"/>
                </a:solidFill>
                <a:latin typeface="Inter"/>
                <a:ea typeface="Inter"/>
              </a:rPr>
              <a:t>　</a:t>
            </a:r>
            <a:r>
              <a:rPr lang="en-US" sz="1300" noProof="1">
                <a:solidFill>
                  <a:srgbClr val="22303C"/>
                </a:solidFill>
                <a:latin typeface="Inter"/>
                <a:ea typeface="Inter"/>
              </a:rPr>
              <a:t>Extreme values (like exceptionally high torque) are actual physical symptoms of machine stress leading to failure. Removing them would blind our Machine Learning model to these critical failure patterns.</a:t>
            </a:r>
            <a:endParaRPr lang="en-US" sz="1300" noProof="1"/>
          </a:p>
        </p:txBody>
      </p:sp>
      <p:sp>
        <p:nvSpPr>
          <p:cNvPr id="12"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13"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a:solidFill>
                  <a:srgbClr val="5C6E7E"/>
                </a:solidFill>
                <a:latin typeface="Inter"/>
                <a:ea typeface="Inter"/>
              </a:rPr>
              <a:t>05</a:t>
            </a:r>
            <a:endParaRPr lang="en-US" sz="1000"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06 · CLEANING DECISIONS — PART 2</a:t>
            </a:r>
            <a:endParaRPr lang="en-US" sz="1100" noProof="1"/>
          </a:p>
        </p:txBody>
      </p:sp>
      <p:sp>
        <p:nvSpPr>
          <p:cNvPr id="3" name="title"/>
          <p:cNvSpPr txBox="1"/>
          <p:nvPr/>
        </p:nvSpPr>
        <p:spPr>
          <a:xfrm>
            <a:off x="711200" y="787400"/>
            <a:ext cx="9652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Cleaning Decisions: </a:t>
            </a:r>
            <a:r>
              <a:rPr lang="en-US" sz="2700" b="1" noProof="1" smtClean="0">
                <a:solidFill>
                  <a:srgbClr val="0F2B46"/>
                </a:solidFill>
                <a:latin typeface="Archivo"/>
                <a:ea typeface="Archivo"/>
              </a:rPr>
              <a:t>Imputation</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sp>
        <p:nvSpPr>
          <p:cNvPr id="5" name="d3-label"/>
          <p:cNvSpPr txBox="1"/>
          <p:nvPr/>
        </p:nvSpPr>
        <p:spPr>
          <a:xfrm>
            <a:off x="711200" y="15748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DECISION 3</a:t>
            </a:r>
            <a:endParaRPr lang="en-US" sz="1100" noProof="1"/>
          </a:p>
        </p:txBody>
      </p:sp>
      <p:sp>
        <p:nvSpPr>
          <p:cNvPr id="6" name="d3-headline"/>
          <p:cNvSpPr txBox="1"/>
          <p:nvPr/>
        </p:nvSpPr>
        <p:spPr>
          <a:xfrm>
            <a:off x="711200" y="1778000"/>
            <a:ext cx="8890000" cy="279400"/>
          </a:xfrm>
          <a:prstGeom prst="rect">
            <a:avLst/>
          </a:prstGeom>
          <a:noFill/>
          <a:ln>
            <a:noFill/>
          </a:ln>
        </p:spPr>
        <p:txBody>
          <a:bodyPr wrap="none" lIns="0" tIns="0" rIns="0" bIns="0" rtlCol="0"/>
          <a:lstStyle/>
          <a:p>
            <a:pPr>
              <a:lnSpc>
                <a:spcPct val="120000"/>
              </a:lnSpc>
            </a:pPr>
            <a:r>
              <a:rPr lang="en-US" sz="1600" b="1" noProof="1">
                <a:solidFill>
                  <a:srgbClr val="0F2B46"/>
                </a:solidFill>
                <a:latin typeface="Archivo"/>
                <a:ea typeface="Archivo"/>
              </a:rPr>
              <a:t>Fill Missing Values with the Mean</a:t>
            </a:r>
            <a:endParaRPr lang="en-US" sz="1600" noProof="1"/>
          </a:p>
        </p:txBody>
      </p:sp>
      <p:sp>
        <p:nvSpPr>
          <p:cNvPr id="7" name="d3-body"/>
          <p:cNvSpPr txBox="1"/>
          <p:nvPr/>
        </p:nvSpPr>
        <p:spPr>
          <a:xfrm>
            <a:off x="711200" y="2108200"/>
            <a:ext cx="10769600" cy="660400"/>
          </a:xfrm>
          <a:prstGeom prst="rect">
            <a:avLst/>
          </a:prstGeom>
          <a:noFill/>
          <a:ln>
            <a:noFill/>
          </a:ln>
        </p:spPr>
        <p:txBody>
          <a:bodyPr wrap="square" lIns="0" tIns="0" rIns="0" bIns="0" rtlCol="0"/>
          <a:lstStyle/>
          <a:p>
            <a:pPr>
              <a:lnSpc>
                <a:spcPct val="155000"/>
              </a:lnSpc>
            </a:pPr>
            <a:r>
              <a:rPr lang="en-US" sz="1050" b="1" noProof="1">
                <a:solidFill>
                  <a:srgbClr val="14A39B"/>
                </a:solidFill>
                <a:latin typeface="Archivo"/>
                <a:ea typeface="Archivo"/>
              </a:rPr>
              <a:t>ACTION</a:t>
            </a:r>
            <a:r>
              <a:rPr lang="en-US" sz="1250" noProof="1">
                <a:solidFill>
                  <a:srgbClr val="22303C"/>
                </a:solidFill>
                <a:latin typeface="Inter"/>
                <a:ea typeface="Inter"/>
              </a:rPr>
              <a:t>　</a:t>
            </a:r>
            <a:r>
              <a:rPr lang="en-US" sz="1100" noProof="1">
                <a:solidFill>
                  <a:srgbClr val="22303C"/>
                </a:solidFill>
                <a:latin typeface="JetBrains Mono"/>
                <a:ea typeface="JetBrains Mono"/>
              </a:rPr>
              <a:t>Imputed the missing cells using </a:t>
            </a:r>
            <a:r>
              <a:rPr lang="en-US" sz="1100" noProof="1">
                <a:solidFill>
                  <a:srgbClr val="22303C"/>
                </a:solidFill>
                <a:latin typeface="JetBrains Mono"/>
                <a:ea typeface="JetBrains Mono"/>
              </a:rPr>
              <a:t>fillna(mean</a:t>
            </a:r>
            <a:r>
              <a:rPr lang="en-US" sz="1100" noProof="1" smtClean="0">
                <a:solidFill>
                  <a:srgbClr val="22303C"/>
                </a:solidFill>
                <a:latin typeface="JetBrains Mono"/>
                <a:ea typeface="JetBrains Mono"/>
              </a:rPr>
              <a:t>)</a:t>
            </a:r>
            <a:r>
              <a:rPr lang="en-US" sz="1250" noProof="1" smtClean="0">
                <a:solidFill>
                  <a:srgbClr val="22303C"/>
                </a:solidFill>
                <a:latin typeface="Inter"/>
                <a:ea typeface="Inter"/>
              </a:rPr>
              <a:t>.</a:t>
            </a:r>
            <a:endParaRPr lang="ar-JO" sz="1250" noProof="1" smtClean="0">
              <a:solidFill>
                <a:srgbClr val="22303C"/>
              </a:solidFill>
              <a:latin typeface="Inter"/>
              <a:ea typeface="Inter"/>
            </a:endParaRPr>
          </a:p>
          <a:p>
            <a:pPr>
              <a:lnSpc>
                <a:spcPct val="155000"/>
              </a:lnSpc>
            </a:pPr>
            <a:r>
              <a:rPr lang="en-US" sz="1050" b="1" noProof="1" smtClean="0">
                <a:solidFill>
                  <a:srgbClr val="14A39B"/>
                </a:solidFill>
                <a:latin typeface="Archivo"/>
                <a:ea typeface="Archivo"/>
              </a:rPr>
              <a:t>REASON</a:t>
            </a:r>
            <a:r>
              <a:rPr lang="en-US" sz="1250" noProof="1">
                <a:solidFill>
                  <a:srgbClr val="22303C"/>
                </a:solidFill>
                <a:latin typeface="Inter"/>
                <a:ea typeface="Inter"/>
              </a:rPr>
              <a:t>　</a:t>
            </a:r>
            <a:r>
              <a:rPr lang="en-US" sz="1250" noProof="1">
                <a:solidFill>
                  <a:srgbClr val="22303C"/>
                </a:solidFill>
                <a:latin typeface="Inter"/>
                <a:ea typeface="Inter"/>
              </a:rPr>
              <a:t>Over 50% of our rows had at least one blank, so dropping them would decimate the dataset. We chose the Mean to preserve the overall statistical average of the sensor readings, which represents the typical operational baseline of the machines..</a:t>
            </a:r>
            <a:endParaRPr lang="en-US" sz="1250" noProof="1"/>
          </a:p>
        </p:txBody>
      </p:sp>
      <p:sp>
        <p:nvSpPr>
          <p:cNvPr id="8" name="divider-1"/>
          <p:cNvSpPr/>
          <p:nvPr/>
        </p:nvSpPr>
        <p:spPr>
          <a:xfrm>
            <a:off x="711200" y="3346365"/>
            <a:ext cx="10769600" cy="12700"/>
          </a:xfrm>
          <a:prstGeom prst="rect">
            <a:avLst/>
          </a:prstGeom>
          <a:solidFill>
            <a:srgbClr val="D9E2E8"/>
          </a:solidFill>
          <a:ln>
            <a:noFill/>
          </a:ln>
        </p:spPr>
      </p:sp>
      <p:sp>
        <p:nvSpPr>
          <p:cNvPr id="17"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18"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a:solidFill>
                  <a:srgbClr val="5C6E7E"/>
                </a:solidFill>
                <a:latin typeface="Inter"/>
                <a:ea typeface="Inter"/>
              </a:rPr>
              <a:t>06</a:t>
            </a:r>
            <a:endParaRPr lang="en-US" sz="1000" noProof="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07 · RESULT</a:t>
            </a:r>
            <a:endParaRPr lang="en-US" sz="1100" noProof="1"/>
          </a:p>
        </p:txBody>
      </p:sp>
      <p:sp>
        <p:nvSpPr>
          <p:cNvPr id="3" name="title"/>
          <p:cNvSpPr txBox="1"/>
          <p:nvPr/>
        </p:nvSpPr>
        <p:spPr>
          <a:xfrm>
            <a:off x="711200" y="787400"/>
            <a:ext cx="8890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Before &amp; After Snapshot</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graphicFrame>
        <p:nvGraphicFramePr>
          <p:cNvPr id="5" name="snapshot-table"/>
          <p:cNvGraphicFramePr>
            <a:graphicFrameLocks noGrp="1"/>
          </p:cNvGraphicFramePr>
          <p:nvPr>
            <p:extLst>
              <p:ext uri="{D42A27DB-BD31-4B8C-83A1-F6EECF244321}">
                <p14:modId xmlns:p14="http://schemas.microsoft.com/office/powerpoint/2010/main" val="1191181514"/>
              </p:ext>
            </p:extLst>
          </p:nvPr>
        </p:nvGraphicFramePr>
        <p:xfrm>
          <a:off x="711200" y="1600200"/>
          <a:ext cx="10769600" cy="2777236"/>
        </p:xfrm>
        <a:graphic>
          <a:graphicData uri="http://schemas.openxmlformats.org/drawingml/2006/table">
            <a:tbl>
              <a:tblPr/>
              <a:tblGrid>
                <a:gridCol w="3661664"/>
                <a:gridCol w="3230880"/>
                <a:gridCol w="3877056"/>
              </a:tblGrid>
              <a:tr h="508508">
                <a:tc>
                  <a:txBody>
                    <a:bodyPr/>
                    <a:lstStyle/>
                    <a:p>
                      <a:pPr algn="l"/>
                      <a:r>
                        <a:rPr lang="en-US" sz="1200" b="1" noProof="1">
                          <a:solidFill>
                            <a:srgbClr val="FFFFFF"/>
                          </a:solidFill>
                          <a:latin typeface="Inter"/>
                          <a:ea typeface="Inter"/>
                        </a:rPr>
                        <a:t>Metric</a:t>
                      </a:r>
                    </a:p>
                  </a:txBody>
                  <a:tcPr anchor="ctr">
                    <a:lnL>
                      <a:noFill/>
                    </a:lnL>
                    <a:lnR>
                      <a:noFill/>
                    </a:lnR>
                    <a:lnT>
                      <a:noFill/>
                    </a:lnT>
                    <a:lnB w="12700">
                      <a:solidFill>
                        <a:srgbClr val="D9E2E8"/>
                      </a:solidFill>
                    </a:lnB>
                    <a:solidFill>
                      <a:srgbClr val="0F2B46"/>
                    </a:solidFill>
                  </a:tcPr>
                </a:tc>
                <a:tc>
                  <a:txBody>
                    <a:bodyPr/>
                    <a:lstStyle/>
                    <a:p>
                      <a:pPr algn="l"/>
                      <a:r>
                        <a:rPr lang="en-US" sz="1200" b="1" noProof="1">
                          <a:solidFill>
                            <a:srgbClr val="FFFFFF"/>
                          </a:solidFill>
                          <a:latin typeface="Inter"/>
                          <a:ea typeface="Inter"/>
                        </a:rPr>
                        <a:t>Before</a:t>
                      </a:r>
                    </a:p>
                  </a:txBody>
                  <a:tcPr anchor="ctr">
                    <a:lnL>
                      <a:noFill/>
                    </a:lnL>
                    <a:lnR>
                      <a:noFill/>
                    </a:lnR>
                    <a:lnT>
                      <a:noFill/>
                    </a:lnT>
                    <a:lnB w="12700">
                      <a:solidFill>
                        <a:srgbClr val="D9E2E8"/>
                      </a:solidFill>
                    </a:lnB>
                    <a:solidFill>
                      <a:srgbClr val="D96C2C"/>
                    </a:solidFill>
                  </a:tcPr>
                </a:tc>
                <a:tc>
                  <a:txBody>
                    <a:bodyPr/>
                    <a:lstStyle/>
                    <a:p>
                      <a:pPr algn="l"/>
                      <a:r>
                        <a:rPr lang="en-US" sz="1200" b="1" noProof="1">
                          <a:solidFill>
                            <a:srgbClr val="FFFFFF"/>
                          </a:solidFill>
                          <a:latin typeface="Inter"/>
                          <a:ea typeface="Inter"/>
                        </a:rPr>
                        <a:t>After</a:t>
                      </a:r>
                    </a:p>
                  </a:txBody>
                  <a:tcPr anchor="ctr">
                    <a:lnL>
                      <a:noFill/>
                    </a:lnL>
                    <a:lnR>
                      <a:noFill/>
                    </a:lnR>
                    <a:lnT>
                      <a:noFill/>
                    </a:lnT>
                    <a:lnB w="12700">
                      <a:solidFill>
                        <a:srgbClr val="D9E2E8"/>
                      </a:solidFill>
                    </a:lnB>
                    <a:solidFill>
                      <a:srgbClr val="14A39B"/>
                    </a:solidFill>
                  </a:tcPr>
                </a:tc>
              </a:tr>
              <a:tr h="567182">
                <a:tc>
                  <a:txBody>
                    <a:bodyPr/>
                    <a:lstStyle/>
                    <a:p>
                      <a:pPr algn="l"/>
                      <a:r>
                        <a:rPr lang="en-US" sz="1200" b="1" noProof="1">
                          <a:solidFill>
                            <a:srgbClr val="0F2B46"/>
                          </a:solidFill>
                          <a:latin typeface="Inter"/>
                          <a:ea typeface="Inter"/>
                        </a:rPr>
                        <a:t>Total rows</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200" noProof="1">
                          <a:solidFill>
                            <a:srgbClr val="B4531B"/>
                          </a:solidFill>
                          <a:latin typeface="Inter"/>
                          <a:ea typeface="Inter"/>
                        </a:rPr>
                        <a:t>10,200</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200" b="1" noProof="1">
                          <a:solidFill>
                            <a:srgbClr val="0F2B46"/>
                          </a:solidFill>
                          <a:latin typeface="Inter"/>
                          <a:ea typeface="Inter"/>
                        </a:rPr>
                        <a:t>10,000</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r>
              <a:tr h="567182">
                <a:tc>
                  <a:txBody>
                    <a:bodyPr/>
                    <a:lstStyle/>
                    <a:p>
                      <a:pPr algn="l"/>
                      <a:r>
                        <a:rPr lang="en-US" sz="1200" b="1" noProof="1">
                          <a:solidFill>
                            <a:srgbClr val="0F2B46"/>
                          </a:solidFill>
                          <a:latin typeface="Inter"/>
                          <a:ea typeface="Inter"/>
                        </a:rPr>
                        <a:t>Missing cells</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200" noProof="1">
                          <a:solidFill>
                            <a:srgbClr val="B4531B"/>
                          </a:solidFill>
                          <a:latin typeface="Inter"/>
                          <a:ea typeface="Inter"/>
                        </a:rPr>
                        <a:t>7,864</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200" b="1" noProof="1">
                          <a:solidFill>
                            <a:srgbClr val="0F2B46"/>
                          </a:solidFill>
                          <a:latin typeface="Inter"/>
                          <a:ea typeface="Inter"/>
                        </a:rPr>
                        <a:t>0</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r h="567182">
                <a:tc>
                  <a:txBody>
                    <a:bodyPr/>
                    <a:lstStyle/>
                    <a:p>
                      <a:pPr algn="l"/>
                      <a:r>
                        <a:rPr lang="en-US" sz="1200" b="1" noProof="1">
                          <a:solidFill>
                            <a:srgbClr val="0F2B46"/>
                          </a:solidFill>
                          <a:latin typeface="Inter"/>
                          <a:ea typeface="Inter"/>
                        </a:rPr>
                        <a:t>Rows sharing a UDI</a:t>
                      </a:r>
                      <a:r>
                        <a:rPr lang="en-US" sz="1200" noProof="1">
                          <a:solidFill>
                            <a:srgbClr val="0F2B46"/>
                          </a:solidFill>
                          <a:latin typeface="Inter"/>
                          <a:ea typeface="Inter"/>
                        </a:rPr>
                        <a:t> (includes the 147 exact copies)</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200" noProof="1">
                          <a:solidFill>
                            <a:srgbClr val="B4531B"/>
                          </a:solidFill>
                          <a:latin typeface="Inter"/>
                          <a:ea typeface="Inter"/>
                        </a:rPr>
                        <a:t>200</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c>
                  <a:txBody>
                    <a:bodyPr/>
                    <a:lstStyle/>
                    <a:p>
                      <a:pPr algn="l"/>
                      <a:r>
                        <a:rPr lang="en-US" sz="1200" b="1" noProof="1">
                          <a:solidFill>
                            <a:srgbClr val="0F2B46"/>
                          </a:solidFill>
                          <a:latin typeface="Inter"/>
                          <a:ea typeface="Inter"/>
                        </a:rPr>
                        <a:t>0</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FFFFF"/>
                    </a:solidFill>
                  </a:tcPr>
                </a:tc>
              </a:tr>
              <a:tr h="567182">
                <a:tc>
                  <a:txBody>
                    <a:bodyPr/>
                    <a:lstStyle/>
                    <a:p>
                      <a:pPr algn="l"/>
                      <a:r>
                        <a:rPr lang="en-US" sz="1200" b="1" noProof="1">
                          <a:solidFill>
                            <a:srgbClr val="0F2B46"/>
                          </a:solidFill>
                          <a:latin typeface="Inter"/>
                          <a:ea typeface="Inter"/>
                        </a:rPr>
                        <a:t>Machine failure rate</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200" noProof="1">
                          <a:solidFill>
                            <a:srgbClr val="B4531B"/>
                          </a:solidFill>
                          <a:latin typeface="Inter"/>
                          <a:ea typeface="Inter"/>
                        </a:rPr>
                        <a:t>3.35%</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c>
                  <a:txBody>
                    <a:bodyPr/>
                    <a:lstStyle/>
                    <a:p>
                      <a:pPr algn="l"/>
                      <a:r>
                        <a:rPr lang="en-US" sz="1200" b="1" noProof="1">
                          <a:solidFill>
                            <a:srgbClr val="0F2B46"/>
                          </a:solidFill>
                          <a:latin typeface="Inter"/>
                          <a:ea typeface="Inter"/>
                        </a:rPr>
                        <a:t>3.39%</a:t>
                      </a:r>
                      <a:r>
                        <a:rPr lang="en-US" sz="1200" noProof="1">
                          <a:solidFill>
                            <a:srgbClr val="0F2B46"/>
                          </a:solidFill>
                          <a:latin typeface="Inter"/>
                          <a:ea typeface="Inter"/>
                        </a:rPr>
                        <a:t> (matches the original)</a:t>
                      </a:r>
                    </a:p>
                  </a:txBody>
                  <a:tcPr anchor="ctr">
                    <a:lnL>
                      <a:noFill/>
                    </a:lnL>
                    <a:lnR>
                      <a:noFill/>
                    </a:lnR>
                    <a:lnT w="12700" cap="flat" cmpd="sng" algn="ctr">
                      <a:solidFill>
                        <a:srgbClr val="D9E2E8"/>
                      </a:solidFill>
                      <a:prstDash val="solid"/>
                      <a:round/>
                      <a:headEnd type="none" w="med" len="med"/>
                      <a:tailEnd type="none" w="med" len="med"/>
                    </a:lnT>
                    <a:lnB w="12700">
                      <a:solidFill>
                        <a:srgbClr val="D9E2E8"/>
                      </a:solidFill>
                    </a:lnB>
                    <a:solidFill>
                      <a:srgbClr val="F3F8F7"/>
                    </a:solidFill>
                  </a:tcPr>
                </a:tc>
              </a:tr>
            </a:tbl>
          </a:graphicData>
        </a:graphic>
      </p:graphicFrame>
      <p:sp>
        <p:nvSpPr>
          <p:cNvPr id="6" name="takeaway"/>
          <p:cNvSpPr txBox="1"/>
          <p:nvPr/>
        </p:nvSpPr>
        <p:spPr>
          <a:xfrm>
            <a:off x="711200" y="5740400"/>
            <a:ext cx="10769600" cy="203200"/>
          </a:xfrm>
          <a:prstGeom prst="rect">
            <a:avLst/>
          </a:prstGeom>
          <a:noFill/>
          <a:ln>
            <a:noFill/>
          </a:ln>
        </p:spPr>
        <p:txBody>
          <a:bodyPr wrap="none" lIns="0" tIns="0" rIns="0" bIns="0" rtlCol="0"/>
          <a:lstStyle/>
          <a:p>
            <a:pPr>
              <a:lnSpc>
                <a:spcPct val="145000"/>
              </a:lnSpc>
            </a:pPr>
            <a:r>
              <a:rPr lang="en-US" sz="1150" noProof="1">
                <a:solidFill>
                  <a:srgbClr val="5C6E7E"/>
                </a:solidFill>
                <a:latin typeface="Inter"/>
                <a:ea typeface="Inter"/>
              </a:rPr>
              <a:t>Net effect: 200 duplicate rows removed · 7,864 cells filled — failure rate unchanged</a:t>
            </a:r>
            <a:endParaRPr lang="en-US" sz="1150" noProof="1"/>
          </a:p>
        </p:txBody>
      </p:sp>
      <p:sp>
        <p:nvSpPr>
          <p:cNvPr id="7"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8"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a:solidFill>
                  <a:srgbClr val="5C6E7E"/>
                </a:solidFill>
                <a:latin typeface="Inter"/>
                <a:ea typeface="Inter"/>
              </a:rPr>
              <a:t>07</a:t>
            </a:r>
            <a:endParaRPr lang="en-US" sz="1000" noProof="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kicker"/>
          <p:cNvSpPr txBox="1"/>
          <p:nvPr/>
        </p:nvSpPr>
        <p:spPr>
          <a:xfrm>
            <a:off x="711200" y="533400"/>
            <a:ext cx="7620000" cy="203200"/>
          </a:xfrm>
          <a:prstGeom prst="rect">
            <a:avLst/>
          </a:prstGeom>
          <a:noFill/>
          <a:ln>
            <a:noFill/>
          </a:ln>
        </p:spPr>
        <p:txBody>
          <a:bodyPr wrap="none" lIns="0" tIns="0" rIns="0" bIns="0" rtlCol="0"/>
          <a:lstStyle/>
          <a:p>
            <a:pPr>
              <a:lnSpc>
                <a:spcPct val="120000"/>
              </a:lnSpc>
            </a:pPr>
            <a:r>
              <a:rPr lang="en-US" sz="1100" b="1" kern="0" spc="200" noProof="1" smtClean="0">
                <a:solidFill>
                  <a:srgbClr val="14A39B"/>
                </a:solidFill>
                <a:latin typeface="Archivo"/>
                <a:ea typeface="Archivo"/>
              </a:rPr>
              <a:t>0</a:t>
            </a:r>
            <a:r>
              <a:rPr lang="ar-JO" sz="1100" b="1" kern="0" spc="200" noProof="1" smtClean="0">
                <a:solidFill>
                  <a:srgbClr val="14A39B"/>
                </a:solidFill>
                <a:latin typeface="Archivo"/>
                <a:ea typeface="Archivo"/>
              </a:rPr>
              <a:t>8</a:t>
            </a:r>
            <a:r>
              <a:rPr lang="en-US" sz="1100" b="1" kern="0" spc="200" noProof="1" smtClean="0">
                <a:solidFill>
                  <a:srgbClr val="14A39B"/>
                </a:solidFill>
                <a:latin typeface="Archivo"/>
                <a:ea typeface="Archivo"/>
              </a:rPr>
              <a:t> </a:t>
            </a:r>
            <a:r>
              <a:rPr lang="en-US" sz="1100" b="1" kern="0" spc="200" noProof="1">
                <a:solidFill>
                  <a:srgbClr val="14A39B"/>
                </a:solidFill>
                <a:latin typeface="Archivo"/>
                <a:ea typeface="Archivo"/>
              </a:rPr>
              <a:t>· REMAINING ISSUES</a:t>
            </a:r>
            <a:endParaRPr lang="en-US" sz="1100" noProof="1"/>
          </a:p>
        </p:txBody>
      </p:sp>
      <p:sp>
        <p:nvSpPr>
          <p:cNvPr id="3" name="title"/>
          <p:cNvSpPr txBox="1"/>
          <p:nvPr/>
        </p:nvSpPr>
        <p:spPr>
          <a:xfrm>
            <a:off x="711200" y="787400"/>
            <a:ext cx="8890000" cy="457200"/>
          </a:xfrm>
          <a:prstGeom prst="rect">
            <a:avLst/>
          </a:prstGeom>
          <a:noFill/>
          <a:ln>
            <a:noFill/>
          </a:ln>
        </p:spPr>
        <p:txBody>
          <a:bodyPr wrap="none" lIns="0" tIns="0" rIns="0" bIns="0" rtlCol="0"/>
          <a:lstStyle/>
          <a:p>
            <a:pPr>
              <a:lnSpc>
                <a:spcPct val="120000"/>
              </a:lnSpc>
            </a:pPr>
            <a:r>
              <a:rPr lang="en-US" sz="2700" b="1" noProof="1">
                <a:solidFill>
                  <a:srgbClr val="0F2B46"/>
                </a:solidFill>
                <a:latin typeface="Archivo"/>
                <a:ea typeface="Archivo"/>
              </a:rPr>
              <a:t>Remaining Data Quality Issues</a:t>
            </a:r>
            <a:endParaRPr lang="en-US" sz="2700" noProof="1"/>
          </a:p>
        </p:txBody>
      </p:sp>
      <p:sp>
        <p:nvSpPr>
          <p:cNvPr id="4" name="accent-bar"/>
          <p:cNvSpPr/>
          <p:nvPr/>
        </p:nvSpPr>
        <p:spPr>
          <a:xfrm>
            <a:off x="711200" y="1371600"/>
            <a:ext cx="609600" cy="38100"/>
          </a:xfrm>
          <a:prstGeom prst="rect">
            <a:avLst/>
          </a:prstGeom>
          <a:solidFill>
            <a:srgbClr val="14A39B"/>
          </a:solidFill>
          <a:ln>
            <a:noFill/>
          </a:ln>
        </p:spPr>
      </p:sp>
      <p:sp>
        <p:nvSpPr>
          <p:cNvPr id="5" name="i1-label"/>
          <p:cNvSpPr txBox="1"/>
          <p:nvPr/>
        </p:nvSpPr>
        <p:spPr>
          <a:xfrm>
            <a:off x="711200" y="16002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D96C2C"/>
                </a:solidFill>
                <a:latin typeface="Archivo"/>
                <a:ea typeface="Archivo"/>
              </a:rPr>
              <a:t>ISSUE 1</a:t>
            </a:r>
            <a:endParaRPr lang="en-US" sz="1100" noProof="1"/>
          </a:p>
        </p:txBody>
      </p:sp>
      <p:sp>
        <p:nvSpPr>
          <p:cNvPr id="6" name="i1-headline"/>
          <p:cNvSpPr txBox="1"/>
          <p:nvPr/>
        </p:nvSpPr>
        <p:spPr>
          <a:xfrm>
            <a:off x="711200" y="1803400"/>
            <a:ext cx="9652000" cy="279400"/>
          </a:xfrm>
          <a:prstGeom prst="rect">
            <a:avLst/>
          </a:prstGeom>
          <a:noFill/>
          <a:ln>
            <a:noFill/>
          </a:ln>
        </p:spPr>
        <p:txBody>
          <a:bodyPr wrap="none" lIns="0" tIns="0" rIns="0" bIns="0" rtlCol="0"/>
          <a:lstStyle/>
          <a:p>
            <a:pPr>
              <a:lnSpc>
                <a:spcPct val="120000"/>
              </a:lnSpc>
            </a:pPr>
            <a:r>
              <a:rPr lang="en-US" sz="1600" b="1" noProof="1">
                <a:solidFill>
                  <a:srgbClr val="0F2B46"/>
                </a:solidFill>
                <a:latin typeface="Archivo"/>
                <a:ea typeface="Archivo"/>
              </a:rPr>
              <a:t>Failure flags no longer match some readings</a:t>
            </a:r>
            <a:endParaRPr lang="en-US" sz="1600" noProof="1"/>
          </a:p>
        </p:txBody>
      </p:sp>
      <p:sp>
        <p:nvSpPr>
          <p:cNvPr id="7" name="i1-body"/>
          <p:cNvSpPr txBox="1"/>
          <p:nvPr/>
        </p:nvSpPr>
        <p:spPr>
          <a:xfrm>
            <a:off x="711200" y="2133600"/>
            <a:ext cx="10769600" cy="762000"/>
          </a:xfrm>
          <a:prstGeom prst="rect">
            <a:avLst/>
          </a:prstGeom>
          <a:noFill/>
          <a:ln>
            <a:noFill/>
          </a:ln>
        </p:spPr>
        <p:txBody>
          <a:bodyPr wrap="square" lIns="0" tIns="0" rIns="0" bIns="0" rtlCol="0"/>
          <a:lstStyle/>
          <a:p>
            <a:pPr>
              <a:lnSpc>
                <a:spcPct val="155000"/>
              </a:lnSpc>
            </a:pPr>
            <a:r>
              <a:rPr lang="en-US" sz="1050" b="1" noProof="1">
                <a:solidFill>
                  <a:srgbClr val="D96C2C"/>
                </a:solidFill>
                <a:latin typeface="Archivo"/>
                <a:ea typeface="Archivo"/>
              </a:rPr>
              <a:t>FOUND</a:t>
            </a:r>
            <a:r>
              <a:rPr lang="en-US" sz="1250" noProof="1">
                <a:solidFill>
                  <a:srgbClr val="22303C"/>
                </a:solidFill>
                <a:latin typeface="Inter"/>
                <a:ea typeface="Inter"/>
              </a:rPr>
              <a:t>　</a:t>
            </a:r>
            <a:r>
              <a:rPr lang="en-US" sz="1250" noProof="1">
                <a:solidFill>
                  <a:srgbClr val="22303C"/>
                </a:solidFill>
                <a:latin typeface="Inter"/>
                <a:ea typeface="Inter"/>
              </a:rPr>
              <a:t>In several rows, the imputed sensor values no longer mathematically reproduce the original HDF, PWF, or </a:t>
            </a:r>
            <a:r>
              <a:rPr lang="en-US" sz="1250" noProof="1">
                <a:solidFill>
                  <a:srgbClr val="22303C"/>
                </a:solidFill>
                <a:latin typeface="Inter"/>
                <a:ea typeface="Inter"/>
              </a:rPr>
              <a:t>OSF </a:t>
            </a:r>
            <a:r>
              <a:rPr lang="en-US" sz="1250" noProof="1" smtClean="0">
                <a:solidFill>
                  <a:srgbClr val="22303C"/>
                </a:solidFill>
                <a:latin typeface="Inter"/>
                <a:ea typeface="Inter"/>
              </a:rPr>
              <a:t>flag.</a:t>
            </a:r>
            <a:r>
              <a:rPr lang="en-US" sz="1250" noProof="1">
                <a:solidFill>
                  <a:srgbClr val="22303C"/>
                </a:solidFill>
                <a:latin typeface="Inter"/>
                <a:ea typeface="Inter"/>
              </a:rPr>
              <a:t>　</a:t>
            </a:r>
            <a:endParaRPr lang="ar-JO" sz="1250" noProof="1" smtClean="0">
              <a:solidFill>
                <a:srgbClr val="22303C"/>
              </a:solidFill>
              <a:latin typeface="Inter"/>
              <a:ea typeface="Inter"/>
            </a:endParaRPr>
          </a:p>
          <a:p>
            <a:pPr>
              <a:lnSpc>
                <a:spcPct val="155000"/>
              </a:lnSpc>
            </a:pPr>
            <a:r>
              <a:rPr lang="en-US" sz="1050" b="1" noProof="1" smtClean="0">
                <a:solidFill>
                  <a:srgbClr val="14A39B"/>
                </a:solidFill>
                <a:latin typeface="Archivo"/>
                <a:ea typeface="Archivo"/>
              </a:rPr>
              <a:t>WHY </a:t>
            </a:r>
            <a:r>
              <a:rPr lang="en-US" sz="1050" b="1" noProof="1">
                <a:solidFill>
                  <a:srgbClr val="14A39B"/>
                </a:solidFill>
                <a:latin typeface="Archivo"/>
                <a:ea typeface="Archivo"/>
              </a:rPr>
              <a:t>WE LEFT IT</a:t>
            </a:r>
            <a:r>
              <a:rPr lang="en-US" sz="1250" noProof="1">
                <a:solidFill>
                  <a:srgbClr val="22303C"/>
                </a:solidFill>
                <a:latin typeface="Inter"/>
                <a:ea typeface="Inter"/>
              </a:rPr>
              <a:t>　</a:t>
            </a:r>
            <a:r>
              <a:rPr lang="en-US" sz="1250" noProof="1">
                <a:solidFill>
                  <a:srgbClr val="22303C"/>
                </a:solidFill>
                <a:latin typeface="Inter"/>
                <a:ea typeface="Inter"/>
              </a:rPr>
              <a:t>Mean-filling gives a statistical stand-in, not the true physical reading. Recalculating flags based on imputed means would alter the real historical outcome, so we kept the original ground-truth labels.</a:t>
            </a:r>
            <a:endParaRPr lang="en-US" sz="1250" noProof="1"/>
          </a:p>
        </p:txBody>
      </p:sp>
      <p:sp>
        <p:nvSpPr>
          <p:cNvPr id="8" name="divider-1"/>
          <p:cNvSpPr/>
          <p:nvPr/>
        </p:nvSpPr>
        <p:spPr>
          <a:xfrm>
            <a:off x="711200" y="3048000"/>
            <a:ext cx="10769600" cy="12700"/>
          </a:xfrm>
          <a:prstGeom prst="rect">
            <a:avLst/>
          </a:prstGeom>
          <a:solidFill>
            <a:srgbClr val="D9E2E8"/>
          </a:solidFill>
          <a:ln>
            <a:noFill/>
          </a:ln>
        </p:spPr>
      </p:sp>
      <p:sp>
        <p:nvSpPr>
          <p:cNvPr id="9" name="i2-label"/>
          <p:cNvSpPr txBox="1"/>
          <p:nvPr/>
        </p:nvSpPr>
        <p:spPr>
          <a:xfrm>
            <a:off x="711200" y="32258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D96C2C"/>
                </a:solidFill>
                <a:latin typeface="Archivo"/>
                <a:ea typeface="Archivo"/>
              </a:rPr>
              <a:t>ISSUE 2</a:t>
            </a:r>
            <a:endParaRPr lang="en-US" sz="1100" noProof="1"/>
          </a:p>
        </p:txBody>
      </p:sp>
      <p:sp>
        <p:nvSpPr>
          <p:cNvPr id="10" name="i2-headline"/>
          <p:cNvSpPr txBox="1"/>
          <p:nvPr/>
        </p:nvSpPr>
        <p:spPr>
          <a:xfrm>
            <a:off x="711200" y="3429000"/>
            <a:ext cx="9652000" cy="279400"/>
          </a:xfrm>
          <a:prstGeom prst="rect">
            <a:avLst/>
          </a:prstGeom>
          <a:noFill/>
          <a:ln>
            <a:noFill/>
          </a:ln>
        </p:spPr>
        <p:txBody>
          <a:bodyPr wrap="none" lIns="0" tIns="0" rIns="0" bIns="0" rtlCol="0"/>
          <a:lstStyle/>
          <a:p>
            <a:pPr>
              <a:lnSpc>
                <a:spcPct val="120000"/>
              </a:lnSpc>
            </a:pPr>
            <a:r>
              <a:rPr lang="en-US" sz="1600" b="1" noProof="1">
                <a:solidFill>
                  <a:srgbClr val="0F2B46"/>
                </a:solidFill>
                <a:latin typeface="Archivo"/>
                <a:ea typeface="Archivo"/>
              </a:rPr>
              <a:t>Known quirk of the public dataset</a:t>
            </a:r>
            <a:endParaRPr lang="en-US" sz="1600" noProof="1"/>
          </a:p>
        </p:txBody>
      </p:sp>
      <p:sp>
        <p:nvSpPr>
          <p:cNvPr id="11" name="i2-body"/>
          <p:cNvSpPr txBox="1"/>
          <p:nvPr/>
        </p:nvSpPr>
        <p:spPr>
          <a:xfrm>
            <a:off x="711200" y="3759200"/>
            <a:ext cx="10769600" cy="762000"/>
          </a:xfrm>
          <a:prstGeom prst="rect">
            <a:avLst/>
          </a:prstGeom>
          <a:noFill/>
          <a:ln>
            <a:noFill/>
          </a:ln>
        </p:spPr>
        <p:txBody>
          <a:bodyPr wrap="square" lIns="0" tIns="0" rIns="0" bIns="0" rtlCol="0"/>
          <a:lstStyle/>
          <a:p>
            <a:pPr>
              <a:lnSpc>
                <a:spcPct val="155000"/>
              </a:lnSpc>
            </a:pPr>
            <a:r>
              <a:rPr lang="en-US" sz="1050" b="1" noProof="1">
                <a:solidFill>
                  <a:srgbClr val="D96C2C"/>
                </a:solidFill>
                <a:latin typeface="Archivo"/>
                <a:ea typeface="Archivo"/>
              </a:rPr>
              <a:t>FOUND</a:t>
            </a:r>
            <a:r>
              <a:rPr lang="en-US" sz="1250" noProof="1">
                <a:solidFill>
                  <a:srgbClr val="22303C"/>
                </a:solidFill>
                <a:latin typeface="Inter"/>
                <a:ea typeface="Inter"/>
              </a:rPr>
              <a:t>　</a:t>
            </a:r>
            <a:r>
              <a:rPr lang="en-US" sz="1250" b="1" noProof="1">
                <a:solidFill>
                  <a:srgbClr val="22303C"/>
                </a:solidFill>
                <a:latin typeface="Inter"/>
                <a:ea typeface="Inter"/>
              </a:rPr>
              <a:t>27 rows</a:t>
            </a:r>
            <a:r>
              <a:rPr lang="en-US" sz="1250" noProof="1">
                <a:solidFill>
                  <a:srgbClr val="22303C"/>
                </a:solidFill>
                <a:latin typeface="Inter"/>
                <a:ea typeface="Inter"/>
              </a:rPr>
              <a:t> where Machine failure does not match the five failure flags.　</a:t>
            </a:r>
            <a:r>
              <a:rPr lang="en-US" sz="1050" b="1" noProof="1">
                <a:solidFill>
                  <a:srgbClr val="14A39B"/>
                </a:solidFill>
                <a:latin typeface="Archivo"/>
                <a:ea typeface="Archivo"/>
              </a:rPr>
              <a:t>WHY WE LEFT IT</a:t>
            </a:r>
            <a:r>
              <a:rPr lang="en-US" sz="1250" noProof="1">
                <a:solidFill>
                  <a:srgbClr val="22303C"/>
                </a:solidFill>
                <a:latin typeface="Inter"/>
                <a:ea typeface="Inter"/>
              </a:rPr>
              <a:t>　it exists in the original UCI file, so we document it without altering the ground truth.</a:t>
            </a:r>
            <a:endParaRPr lang="en-US" sz="1250" noProof="1"/>
          </a:p>
        </p:txBody>
      </p:sp>
      <p:sp>
        <p:nvSpPr>
          <p:cNvPr id="12" name="divider-2"/>
          <p:cNvSpPr/>
          <p:nvPr/>
        </p:nvSpPr>
        <p:spPr>
          <a:xfrm>
            <a:off x="711200" y="4673600"/>
            <a:ext cx="10769600" cy="12700"/>
          </a:xfrm>
          <a:prstGeom prst="rect">
            <a:avLst/>
          </a:prstGeom>
          <a:solidFill>
            <a:srgbClr val="D9E2E8"/>
          </a:solidFill>
          <a:ln>
            <a:noFill/>
          </a:ln>
        </p:spPr>
      </p:sp>
      <p:sp>
        <p:nvSpPr>
          <p:cNvPr id="13" name="i3-label"/>
          <p:cNvSpPr txBox="1"/>
          <p:nvPr/>
        </p:nvSpPr>
        <p:spPr>
          <a:xfrm>
            <a:off x="711200" y="48514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ISSUE 3</a:t>
            </a:r>
            <a:endParaRPr lang="en-US" sz="1100" noProof="1"/>
          </a:p>
        </p:txBody>
      </p:sp>
      <p:sp>
        <p:nvSpPr>
          <p:cNvPr id="14" name="i3-headline"/>
          <p:cNvSpPr txBox="1"/>
          <p:nvPr/>
        </p:nvSpPr>
        <p:spPr>
          <a:xfrm>
            <a:off x="711200" y="5054600"/>
            <a:ext cx="9652000" cy="279400"/>
          </a:xfrm>
          <a:prstGeom prst="rect">
            <a:avLst/>
          </a:prstGeom>
          <a:noFill/>
          <a:ln>
            <a:noFill/>
          </a:ln>
        </p:spPr>
        <p:txBody>
          <a:bodyPr wrap="none" lIns="0" tIns="0" rIns="0" bIns="0" rtlCol="0"/>
          <a:lstStyle/>
          <a:p>
            <a:pPr>
              <a:lnSpc>
                <a:spcPct val="120000"/>
              </a:lnSpc>
            </a:pPr>
            <a:r>
              <a:rPr lang="en-US" sz="1600" b="1" noProof="1">
                <a:solidFill>
                  <a:srgbClr val="0F2B46"/>
                </a:solidFill>
                <a:latin typeface="Archivo"/>
                <a:ea typeface="Archivo"/>
              </a:rPr>
              <a:t>Class imbalance — 3.39% failures</a:t>
            </a:r>
            <a:endParaRPr lang="en-US" sz="1600" noProof="1"/>
          </a:p>
        </p:txBody>
      </p:sp>
      <p:sp>
        <p:nvSpPr>
          <p:cNvPr id="15" name="i3-body"/>
          <p:cNvSpPr txBox="1"/>
          <p:nvPr/>
        </p:nvSpPr>
        <p:spPr>
          <a:xfrm>
            <a:off x="711200" y="5384800"/>
            <a:ext cx="10769600" cy="508000"/>
          </a:xfrm>
          <a:prstGeom prst="rect">
            <a:avLst/>
          </a:prstGeom>
          <a:noFill/>
          <a:ln>
            <a:noFill/>
          </a:ln>
        </p:spPr>
        <p:txBody>
          <a:bodyPr wrap="square" lIns="0" tIns="0" rIns="0" bIns="0" rtlCol="0"/>
          <a:lstStyle/>
          <a:p>
            <a:pPr>
              <a:lnSpc>
                <a:spcPct val="155000"/>
              </a:lnSpc>
            </a:pPr>
            <a:r>
              <a:rPr lang="en-US" sz="1250" noProof="1">
                <a:solidFill>
                  <a:srgbClr val="22303C"/>
                </a:solidFill>
                <a:latin typeface="Inter"/>
                <a:ea typeface="Inter"/>
              </a:rPr>
              <a:t>A property of the problem, </a:t>
            </a:r>
            <a:r>
              <a:rPr lang="en-US" sz="1250" b="1" noProof="1">
                <a:solidFill>
                  <a:srgbClr val="22303C"/>
                </a:solidFill>
                <a:latin typeface="Inter"/>
                <a:ea typeface="Inter"/>
              </a:rPr>
              <a:t>not a data error</a:t>
            </a:r>
            <a:r>
              <a:rPr lang="en-US" sz="1250" noProof="1">
                <a:solidFill>
                  <a:srgbClr val="22303C"/>
                </a:solidFill>
                <a:latin typeface="Inter"/>
                <a:ea typeface="Inter"/>
              </a:rPr>
              <a:t>. It will be handled at the modeling stage.</a:t>
            </a:r>
            <a:endParaRPr lang="en-US" sz="1250" noProof="1"/>
          </a:p>
        </p:txBody>
      </p:sp>
      <p:sp>
        <p:nvSpPr>
          <p:cNvPr id="16" name="footer-left"/>
          <p:cNvSpPr txBox="1"/>
          <p:nvPr/>
        </p:nvSpPr>
        <p:spPr>
          <a:xfrm>
            <a:off x="711200" y="6502400"/>
            <a:ext cx="6350000" cy="177800"/>
          </a:xfrm>
          <a:prstGeom prst="rect">
            <a:avLst/>
          </a:prstGeom>
          <a:noFill/>
          <a:ln>
            <a:noFill/>
          </a:ln>
        </p:spPr>
        <p:txBody>
          <a:bodyPr wrap="none" lIns="0" tIns="0" rIns="0" bIns="0" rtlCol="0"/>
          <a:lstStyle/>
          <a:p>
            <a:pPr>
              <a:lnSpc>
                <a:spcPct val="120000"/>
              </a:lnSpc>
            </a:pPr>
            <a:r>
              <a:rPr lang="en-US" sz="1000" noProof="1">
                <a:solidFill>
                  <a:srgbClr val="5C6E7E"/>
                </a:solidFill>
                <a:latin typeface="Inter"/>
                <a:ea typeface="Inter"/>
              </a:rPr>
              <a:t>Data Understanding &amp; Cleaning · Milestone 2</a:t>
            </a:r>
            <a:endParaRPr lang="en-US" sz="1000" noProof="1"/>
          </a:p>
        </p:txBody>
      </p:sp>
      <p:sp>
        <p:nvSpPr>
          <p:cNvPr id="17"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ar-JO" sz="1000" noProof="1" smtClean="0">
                <a:solidFill>
                  <a:srgbClr val="5C6E7E"/>
                </a:solidFill>
                <a:latin typeface="Inter"/>
                <a:ea typeface="Inter"/>
              </a:rPr>
              <a:t>08</a:t>
            </a:r>
            <a:endParaRPr lang="en-US" sz="1000" noProof="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B46"/>
        </a:solidFill>
        <a:effectLst/>
      </p:bgPr>
    </p:bg>
    <p:spTree>
      <p:nvGrpSpPr>
        <p:cNvPr id="1" name=""/>
        <p:cNvGrpSpPr/>
        <p:nvPr/>
      </p:nvGrpSpPr>
      <p:grpSpPr>
        <a:xfrm>
          <a:off x="0" y="0"/>
          <a:ext cx="0" cy="0"/>
          <a:chOff x="0" y="0"/>
          <a:chExt cx="0" cy="0"/>
        </a:xfrm>
      </p:grpSpPr>
      <p:sp>
        <p:nvSpPr>
          <p:cNvPr id="2" name="kicker"/>
          <p:cNvSpPr txBox="1"/>
          <p:nvPr/>
        </p:nvSpPr>
        <p:spPr>
          <a:xfrm>
            <a:off x="711200" y="812800"/>
            <a:ext cx="7620000" cy="203200"/>
          </a:xfrm>
          <a:prstGeom prst="rect">
            <a:avLst/>
          </a:prstGeom>
          <a:noFill/>
          <a:ln>
            <a:noFill/>
          </a:ln>
        </p:spPr>
        <p:txBody>
          <a:bodyPr wrap="none" lIns="0" tIns="0" rIns="0" bIns="0" rtlCol="0"/>
          <a:lstStyle/>
          <a:p>
            <a:pPr>
              <a:lnSpc>
                <a:spcPct val="120000"/>
              </a:lnSpc>
            </a:pPr>
            <a:r>
              <a:rPr lang="en-US" sz="1100" b="1" kern="0" spc="200" noProof="1" smtClean="0">
                <a:solidFill>
                  <a:srgbClr val="14A39B"/>
                </a:solidFill>
                <a:latin typeface="Archivo"/>
                <a:ea typeface="Archivo"/>
              </a:rPr>
              <a:t>09 </a:t>
            </a:r>
            <a:r>
              <a:rPr lang="en-US" sz="1100" b="1" kern="0" spc="200" noProof="1">
                <a:solidFill>
                  <a:srgbClr val="14A39B"/>
                </a:solidFill>
                <a:latin typeface="Archivo"/>
                <a:ea typeface="Archivo"/>
              </a:rPr>
              <a:t>· CONCLUSION &amp; DISCUSSION</a:t>
            </a:r>
            <a:endParaRPr lang="en-US" sz="1100" noProof="1"/>
          </a:p>
        </p:txBody>
      </p:sp>
      <p:sp>
        <p:nvSpPr>
          <p:cNvPr id="3" name="accent-bar"/>
          <p:cNvSpPr/>
          <p:nvPr/>
        </p:nvSpPr>
        <p:spPr>
          <a:xfrm>
            <a:off x="711200" y="1168400"/>
            <a:ext cx="711200" cy="50800"/>
          </a:xfrm>
          <a:prstGeom prst="rect">
            <a:avLst/>
          </a:prstGeom>
          <a:solidFill>
            <a:srgbClr val="14A39B"/>
          </a:solidFill>
          <a:ln>
            <a:noFill/>
          </a:ln>
        </p:spPr>
      </p:sp>
      <p:sp>
        <p:nvSpPr>
          <p:cNvPr id="4" name="title"/>
          <p:cNvSpPr txBox="1"/>
          <p:nvPr/>
        </p:nvSpPr>
        <p:spPr>
          <a:xfrm>
            <a:off x="711200" y="1422400"/>
            <a:ext cx="8890000" cy="533400"/>
          </a:xfrm>
          <a:prstGeom prst="rect">
            <a:avLst/>
          </a:prstGeom>
          <a:noFill/>
          <a:ln>
            <a:noFill/>
          </a:ln>
        </p:spPr>
        <p:txBody>
          <a:bodyPr wrap="none" lIns="0" tIns="0" rIns="0" bIns="0" rtlCol="0"/>
          <a:lstStyle/>
          <a:p>
            <a:pPr>
              <a:lnSpc>
                <a:spcPct val="120000"/>
              </a:lnSpc>
            </a:pPr>
            <a:r>
              <a:rPr lang="en-US" sz="3200" b="1" noProof="1" smtClean="0">
                <a:solidFill>
                  <a:srgbClr val="FFFFFF"/>
                </a:solidFill>
                <a:latin typeface="Archivo"/>
                <a:ea typeface="Archivo"/>
              </a:rPr>
              <a:t>Ready for Next</a:t>
            </a:r>
          </a:p>
        </p:txBody>
      </p:sp>
      <p:sp>
        <p:nvSpPr>
          <p:cNvPr id="5" name="subline"/>
          <p:cNvSpPr txBox="1"/>
          <p:nvPr/>
        </p:nvSpPr>
        <p:spPr>
          <a:xfrm>
            <a:off x="711200" y="2057400"/>
            <a:ext cx="9652000" cy="279400"/>
          </a:xfrm>
          <a:prstGeom prst="rect">
            <a:avLst/>
          </a:prstGeom>
          <a:noFill/>
          <a:ln>
            <a:noFill/>
          </a:ln>
        </p:spPr>
        <p:txBody>
          <a:bodyPr wrap="none" lIns="0" tIns="0" rIns="0" bIns="0" rtlCol="0"/>
          <a:lstStyle/>
          <a:p>
            <a:pPr>
              <a:lnSpc>
                <a:spcPct val="120000"/>
              </a:lnSpc>
            </a:pPr>
            <a:r>
              <a:rPr lang="en-US" sz="1500" noProof="1">
                <a:solidFill>
                  <a:srgbClr val="BFD3DE"/>
                </a:solidFill>
                <a:latin typeface="Inter"/>
                <a:ea typeface="Inter"/>
              </a:rPr>
              <a:t>The dataset is clean, </a:t>
            </a:r>
            <a:r>
              <a:rPr lang="en-US" sz="1500" noProof="1" smtClean="0">
                <a:solidFill>
                  <a:srgbClr val="BFD3DE"/>
                </a:solidFill>
                <a:latin typeface="Inter"/>
                <a:ea typeface="Inter"/>
              </a:rPr>
              <a:t>and </a:t>
            </a:r>
            <a:r>
              <a:rPr lang="en-US" sz="1500" noProof="1">
                <a:solidFill>
                  <a:srgbClr val="BFD3DE"/>
                </a:solidFill>
                <a:latin typeface="Inter"/>
                <a:ea typeface="Inter"/>
              </a:rPr>
              <a:t>trustworthy.</a:t>
            </a:r>
            <a:endParaRPr lang="en-US" sz="1500" noProof="1"/>
          </a:p>
        </p:txBody>
      </p:sp>
      <p:sp>
        <p:nvSpPr>
          <p:cNvPr id="6" name="deliv-label"/>
          <p:cNvSpPr txBox="1"/>
          <p:nvPr/>
        </p:nvSpPr>
        <p:spPr>
          <a:xfrm>
            <a:off x="711200" y="2794000"/>
            <a:ext cx="381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DELIVERABLES</a:t>
            </a:r>
            <a:endParaRPr lang="en-US" sz="1100" noProof="1"/>
          </a:p>
        </p:txBody>
      </p:sp>
      <p:sp>
        <p:nvSpPr>
          <p:cNvPr id="7" name="deliv-1-num"/>
          <p:cNvSpPr txBox="1"/>
          <p:nvPr/>
        </p:nvSpPr>
        <p:spPr>
          <a:xfrm>
            <a:off x="711200" y="3149600"/>
            <a:ext cx="508000" cy="279400"/>
          </a:xfrm>
          <a:prstGeom prst="rect">
            <a:avLst/>
          </a:prstGeom>
          <a:noFill/>
          <a:ln>
            <a:noFill/>
          </a:ln>
        </p:spPr>
        <p:txBody>
          <a:bodyPr wrap="none" lIns="0" tIns="0" rIns="0" bIns="0" rtlCol="0"/>
          <a:lstStyle/>
          <a:p>
            <a:pPr>
              <a:lnSpc>
                <a:spcPct val="120000"/>
              </a:lnSpc>
            </a:pPr>
            <a:r>
              <a:rPr lang="en-US" sz="1600" b="1" noProof="1">
                <a:solidFill>
                  <a:srgbClr val="14A39B"/>
                </a:solidFill>
                <a:latin typeface="Archivo"/>
                <a:ea typeface="Archivo"/>
              </a:rPr>
              <a:t>01</a:t>
            </a:r>
            <a:endParaRPr lang="en-US" sz="1600" noProof="1"/>
          </a:p>
        </p:txBody>
      </p:sp>
      <p:sp>
        <p:nvSpPr>
          <p:cNvPr id="8" name="deliv-1-text"/>
          <p:cNvSpPr txBox="1"/>
          <p:nvPr/>
        </p:nvSpPr>
        <p:spPr>
          <a:xfrm>
            <a:off x="1320800" y="3175000"/>
            <a:ext cx="9144000" cy="254000"/>
          </a:xfrm>
          <a:prstGeom prst="rect">
            <a:avLst/>
          </a:prstGeom>
          <a:noFill/>
          <a:ln>
            <a:noFill/>
          </a:ln>
        </p:spPr>
        <p:txBody>
          <a:bodyPr wrap="none" lIns="0" tIns="0" rIns="0" bIns="0" rtlCol="0"/>
          <a:lstStyle/>
          <a:p>
            <a:pPr>
              <a:lnSpc>
                <a:spcPct val="120000"/>
              </a:lnSpc>
            </a:pPr>
            <a:r>
              <a:rPr lang="en-US" sz="1200" noProof="1" smtClean="0">
                <a:solidFill>
                  <a:srgbClr val="FFFFFF"/>
                </a:solidFill>
                <a:latin typeface="JetBrains Mono"/>
                <a:ea typeface="JetBrains Mono"/>
              </a:rPr>
              <a:t>cleaned_data.csv</a:t>
            </a:r>
            <a:r>
              <a:rPr lang="en-US" sz="1350" noProof="1" smtClean="0">
                <a:solidFill>
                  <a:srgbClr val="FFFFFF"/>
                </a:solidFill>
                <a:latin typeface="Inter"/>
                <a:ea typeface="Inter"/>
              </a:rPr>
              <a:t> </a:t>
            </a:r>
            <a:r>
              <a:rPr lang="en-US" sz="1350" noProof="1">
                <a:solidFill>
                  <a:srgbClr val="FFFFFF"/>
                </a:solidFill>
                <a:latin typeface="Inter"/>
                <a:ea typeface="Inter"/>
              </a:rPr>
              <a:t>pushed to GitHub</a:t>
            </a:r>
            <a:endParaRPr lang="en-US" sz="1350" noProof="1"/>
          </a:p>
        </p:txBody>
      </p:sp>
      <p:sp>
        <p:nvSpPr>
          <p:cNvPr id="9" name="deliv-2-num"/>
          <p:cNvSpPr txBox="1"/>
          <p:nvPr/>
        </p:nvSpPr>
        <p:spPr>
          <a:xfrm>
            <a:off x="711200" y="3581400"/>
            <a:ext cx="508000" cy="279400"/>
          </a:xfrm>
          <a:prstGeom prst="rect">
            <a:avLst/>
          </a:prstGeom>
          <a:noFill/>
          <a:ln>
            <a:noFill/>
          </a:ln>
        </p:spPr>
        <p:txBody>
          <a:bodyPr wrap="none" lIns="0" tIns="0" rIns="0" bIns="0" rtlCol="0"/>
          <a:lstStyle/>
          <a:p>
            <a:pPr>
              <a:lnSpc>
                <a:spcPct val="120000"/>
              </a:lnSpc>
            </a:pPr>
            <a:r>
              <a:rPr lang="en-US" sz="1600" b="1" noProof="1">
                <a:solidFill>
                  <a:srgbClr val="14A39B"/>
                </a:solidFill>
                <a:latin typeface="Archivo"/>
                <a:ea typeface="Archivo"/>
              </a:rPr>
              <a:t>02</a:t>
            </a:r>
            <a:endParaRPr lang="en-US" sz="1600" noProof="1"/>
          </a:p>
        </p:txBody>
      </p:sp>
      <p:sp>
        <p:nvSpPr>
          <p:cNvPr id="10" name="deliv-2-text"/>
          <p:cNvSpPr txBox="1"/>
          <p:nvPr/>
        </p:nvSpPr>
        <p:spPr>
          <a:xfrm>
            <a:off x="1320800" y="3606800"/>
            <a:ext cx="9144000" cy="254000"/>
          </a:xfrm>
          <a:prstGeom prst="rect">
            <a:avLst/>
          </a:prstGeom>
          <a:noFill/>
          <a:ln>
            <a:noFill/>
          </a:ln>
        </p:spPr>
        <p:txBody>
          <a:bodyPr wrap="none" lIns="0" tIns="0" rIns="0" bIns="0" rtlCol="0"/>
          <a:lstStyle/>
          <a:p>
            <a:pPr>
              <a:lnSpc>
                <a:spcPct val="120000"/>
              </a:lnSpc>
            </a:pPr>
            <a:r>
              <a:rPr lang="en-US" sz="1350" noProof="1">
                <a:solidFill>
                  <a:srgbClr val="FFFFFF"/>
                </a:solidFill>
                <a:latin typeface="Inter"/>
                <a:ea typeface="Inter"/>
              </a:rPr>
              <a:t>Cleaning notebook </a:t>
            </a:r>
            <a:r>
              <a:rPr lang="en-US" sz="1350" noProof="1" smtClean="0">
                <a:solidFill>
                  <a:srgbClr val="FFFFFF"/>
                </a:solidFill>
                <a:latin typeface="Inter"/>
                <a:ea typeface="Inter"/>
              </a:rPr>
              <a:t>showing every step</a:t>
            </a:r>
            <a:endParaRPr lang="en-US" sz="1350" noProof="1"/>
          </a:p>
        </p:txBody>
      </p:sp>
      <p:sp>
        <p:nvSpPr>
          <p:cNvPr id="11" name="deliv-3-num"/>
          <p:cNvSpPr txBox="1"/>
          <p:nvPr/>
        </p:nvSpPr>
        <p:spPr>
          <a:xfrm>
            <a:off x="711200" y="4013200"/>
            <a:ext cx="508000" cy="279400"/>
          </a:xfrm>
          <a:prstGeom prst="rect">
            <a:avLst/>
          </a:prstGeom>
          <a:noFill/>
          <a:ln>
            <a:noFill/>
          </a:ln>
        </p:spPr>
        <p:txBody>
          <a:bodyPr wrap="none" lIns="0" tIns="0" rIns="0" bIns="0" rtlCol="0"/>
          <a:lstStyle/>
          <a:p>
            <a:pPr>
              <a:lnSpc>
                <a:spcPct val="120000"/>
              </a:lnSpc>
            </a:pPr>
            <a:r>
              <a:rPr lang="en-US" sz="1600" b="1" noProof="1">
                <a:solidFill>
                  <a:srgbClr val="14A39B"/>
                </a:solidFill>
                <a:latin typeface="Archivo"/>
                <a:ea typeface="Archivo"/>
              </a:rPr>
              <a:t>03</a:t>
            </a:r>
            <a:endParaRPr lang="en-US" sz="1600" noProof="1"/>
          </a:p>
        </p:txBody>
      </p:sp>
      <p:sp>
        <p:nvSpPr>
          <p:cNvPr id="12" name="deliv-3-text"/>
          <p:cNvSpPr txBox="1"/>
          <p:nvPr/>
        </p:nvSpPr>
        <p:spPr>
          <a:xfrm>
            <a:off x="1320800" y="4038600"/>
            <a:ext cx="9144000" cy="254000"/>
          </a:xfrm>
          <a:prstGeom prst="rect">
            <a:avLst/>
          </a:prstGeom>
          <a:noFill/>
          <a:ln>
            <a:noFill/>
          </a:ln>
        </p:spPr>
        <p:txBody>
          <a:bodyPr wrap="none" lIns="0" tIns="0" rIns="0" bIns="0" rtlCol="0"/>
          <a:lstStyle/>
          <a:p>
            <a:pPr>
              <a:lnSpc>
                <a:spcPct val="120000"/>
              </a:lnSpc>
            </a:pPr>
            <a:r>
              <a:rPr lang="en-US" sz="1350" noProof="1">
                <a:solidFill>
                  <a:srgbClr val="FFFFFF"/>
                </a:solidFill>
                <a:latin typeface="Inter"/>
                <a:ea typeface="Inter"/>
              </a:rPr>
              <a:t>Presentation and documentation</a:t>
            </a:r>
            <a:endParaRPr lang="en-US" sz="1350" noProof="1"/>
          </a:p>
        </p:txBody>
      </p:sp>
      <p:sp>
        <p:nvSpPr>
          <p:cNvPr id="13" name="discussion-panel"/>
          <p:cNvSpPr/>
          <p:nvPr/>
        </p:nvSpPr>
        <p:spPr>
          <a:xfrm>
            <a:off x="711200" y="4902200"/>
            <a:ext cx="10769600" cy="1434206"/>
          </a:xfrm>
          <a:prstGeom prst="rect">
            <a:avLst/>
          </a:prstGeom>
          <a:solidFill>
            <a:srgbClr val="14344F"/>
          </a:solidFill>
          <a:ln w="12700">
            <a:solidFill>
              <a:srgbClr val="14A39B"/>
            </a:solidFill>
          </a:ln>
        </p:spPr>
      </p:sp>
      <p:sp>
        <p:nvSpPr>
          <p:cNvPr id="14" name="discussion-label"/>
          <p:cNvSpPr txBox="1"/>
          <p:nvPr/>
        </p:nvSpPr>
        <p:spPr>
          <a:xfrm>
            <a:off x="965200" y="5080000"/>
            <a:ext cx="2540000" cy="177800"/>
          </a:xfrm>
          <a:prstGeom prst="rect">
            <a:avLst/>
          </a:prstGeom>
          <a:noFill/>
          <a:ln>
            <a:noFill/>
          </a:ln>
        </p:spPr>
        <p:txBody>
          <a:bodyPr wrap="none" lIns="0" tIns="0" rIns="0" bIns="0" rtlCol="0"/>
          <a:lstStyle/>
          <a:p>
            <a:pPr>
              <a:lnSpc>
                <a:spcPct val="120000"/>
              </a:lnSpc>
            </a:pPr>
            <a:r>
              <a:rPr lang="en-US" sz="1100" b="1" kern="0" spc="200" noProof="1">
                <a:solidFill>
                  <a:srgbClr val="14A39B"/>
                </a:solidFill>
                <a:latin typeface="Archivo"/>
                <a:ea typeface="Archivo"/>
              </a:rPr>
              <a:t>DISCUSSION QUESTION</a:t>
            </a:r>
            <a:endParaRPr lang="en-US" sz="1100" noProof="1"/>
          </a:p>
        </p:txBody>
      </p:sp>
      <p:sp>
        <p:nvSpPr>
          <p:cNvPr id="15" name="discussion-quote"/>
          <p:cNvSpPr txBox="1"/>
          <p:nvPr/>
        </p:nvSpPr>
        <p:spPr>
          <a:xfrm>
            <a:off x="965200" y="5334000"/>
            <a:ext cx="10261600" cy="736600"/>
          </a:xfrm>
          <a:prstGeom prst="rect">
            <a:avLst/>
          </a:prstGeom>
          <a:noFill/>
          <a:ln>
            <a:noFill/>
          </a:ln>
        </p:spPr>
        <p:txBody>
          <a:bodyPr wrap="square" lIns="0" tIns="0" rIns="0" bIns="0" rtlCol="0"/>
          <a:lstStyle/>
          <a:p>
            <a:pPr>
              <a:lnSpc>
                <a:spcPct val="150000"/>
              </a:lnSpc>
            </a:pPr>
            <a:r>
              <a:rPr lang="en-US" sz="1350" i="1" noProof="1">
                <a:solidFill>
                  <a:srgbClr val="FFFFFF"/>
                </a:solidFill>
                <a:latin typeface="Inter"/>
                <a:ea typeface="Inter"/>
              </a:rPr>
              <a:t>"We deliberately chose to keep extreme natural outliers because they represent critical symptoms of machine failure. Does keeping these extreme values risk hurting the model's ability to generalize on normal data, or is it an absolute necessity for detecting rare </a:t>
            </a:r>
            <a:r>
              <a:rPr lang="en-US" sz="1350" i="1" noProof="1">
                <a:solidFill>
                  <a:srgbClr val="FFFFFF"/>
                </a:solidFill>
                <a:latin typeface="Inter"/>
                <a:ea typeface="Inter"/>
              </a:rPr>
              <a:t>breakdown </a:t>
            </a:r>
            <a:r>
              <a:rPr lang="en-US" sz="1350" i="1" noProof="1" smtClean="0">
                <a:solidFill>
                  <a:srgbClr val="FFFFFF"/>
                </a:solidFill>
                <a:latin typeface="Inter"/>
                <a:ea typeface="Inter"/>
              </a:rPr>
              <a:t>events?"</a:t>
            </a:r>
            <a:endParaRPr lang="en-US" sz="1350" noProof="1"/>
          </a:p>
        </p:txBody>
      </p:sp>
      <p:sp>
        <p:nvSpPr>
          <p:cNvPr id="16" name="footer-page"/>
          <p:cNvSpPr txBox="1"/>
          <p:nvPr/>
        </p:nvSpPr>
        <p:spPr>
          <a:xfrm>
            <a:off x="11176000" y="6502400"/>
            <a:ext cx="304800" cy="177800"/>
          </a:xfrm>
          <a:prstGeom prst="rect">
            <a:avLst/>
          </a:prstGeom>
          <a:noFill/>
          <a:ln>
            <a:noFill/>
          </a:ln>
        </p:spPr>
        <p:txBody>
          <a:bodyPr wrap="none" lIns="0" tIns="0" rIns="0" bIns="0" rtlCol="0" anchor="t"/>
          <a:lstStyle/>
          <a:p>
            <a:pPr algn="r">
              <a:lnSpc>
                <a:spcPct val="120000"/>
              </a:lnSpc>
            </a:pPr>
            <a:r>
              <a:rPr lang="en-US" sz="1000" noProof="1" smtClean="0">
                <a:solidFill>
                  <a:srgbClr val="8FA9BB"/>
                </a:solidFill>
                <a:latin typeface="Inter"/>
                <a:ea typeface="Inter"/>
              </a:rPr>
              <a:t>09</a:t>
            </a:r>
          </a:p>
          <a:p>
            <a:pPr algn="r">
              <a:lnSpc>
                <a:spcPct val="120000"/>
              </a:lnSpc>
            </a:pPr>
            <a:endParaRPr lang="en-US" sz="1000" noProof="1"/>
          </a:p>
        </p:txBody>
      </p:sp>
    </p:spTree>
  </p:cSld>
  <p:clrMapOvr>
    <a:masterClrMapping/>
  </p:clrMapOvr>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TotalTime>
  <Words>636</Words>
  <Application>Microsoft Office PowerPoint</Application>
  <PresentationFormat>مخصص</PresentationFormat>
  <Paragraphs>137</Paragraphs>
  <Slides>9</Slides>
  <Notes>0</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9</vt:i4>
      </vt:variant>
    </vt:vector>
  </HeadingPairs>
  <TitlesOfParts>
    <vt:vector size="15" baseType="lpstr">
      <vt:lpstr>Arial</vt:lpstr>
      <vt:lpstr>MiSans</vt:lpstr>
      <vt:lpstr>JetBrains Mono</vt:lpstr>
      <vt:lpstr>Archivo</vt:lpstr>
      <vt:lpstr>Inter</vt:lpstr>
      <vt:lpstr>PPTD</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Understanding &amp; Cleaning — Milestone 2</dc:title>
  <cp:lastModifiedBy>user</cp:lastModifiedBy>
  <cp:revision>22</cp:revision>
  <dcterms:modified xsi:type="dcterms:W3CDTF">2026-10-09T16:26:19Z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
  </property>
</Properties>
</file>